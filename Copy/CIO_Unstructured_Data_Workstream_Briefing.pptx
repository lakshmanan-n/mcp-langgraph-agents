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workstream is not trying to own every AI use case. The deliverable is a reusable capability model and first service patterns that use cases can align to. Be explicit on scope: reference architecture, shared unstructured services, VectorDBaaS pattern, roadmap and onboarding. Not in scope: every UI, prompt pattern, group model platform, or replacing Fabric/IAM/security.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Be transparent. The risks are mostly dependency and operating-model risks. The CIO should understand that this needs platform capacity, Group AI embedding path, governance engagement, and disciplined scope control. Raise resourcing and prioritisation asks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Make the control plane versus data plane distinction clear. Control plane is registry, contract, model governance, lifecycle, lineage, FinOps and quality framework. Data plane holds the vector engine, collections and retrieval path. It should not be one DB per use case by default. The model is platform-aligned data planes with collection-level logical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Be clear and direct. The asks are not technical niceties; they are what makes the workstream executable. The most important asks are reference platform selection, model dependency ownership, minimum resourcing, and mandate for use cases to engage through the standard discovery and architecture alignment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7365D"/>
          </a:solidFill>
          <a:ln w="12700">
            <a:solidFill>
              <a:srgbClr val="17365D"/>
            </a:solidFill>
            <a:prstDash val="solid"/>
          </a:ln>
        </p:spPr>
      </p:sp>
      <p:sp>
        <p:nvSpPr>
          <p:cNvPr id="3" name="Text 1"/>
          <p:cNvSpPr/>
          <p:nvPr/>
        </p:nvSpPr>
        <p:spPr>
          <a:xfrm>
            <a:off x="320040" y="109728"/>
            <a:ext cx="8458200" cy="347472"/>
          </a:xfrm>
          <a:prstGeom prst="rect">
            <a:avLst/>
          </a:prstGeom>
          <a:noFill/>
          <a:ln/>
        </p:spPr>
        <p:txBody>
          <a:bodyPr wrap="square" lIns="0" tIns="0" rIns="0" bIns="0" rtlCol="0" anchor="ctr"/>
          <a:lstStyle/>
          <a:p>
            <a:pPr indent="0" marL="0">
              <a:buNone/>
            </a:pPr>
            <a:r>
              <a:rPr lang="en-US" sz="2000" b="1" dirty="0">
                <a:solidFill>
                  <a:srgbClr val="FFFFFF"/>
                </a:solidFill>
                <a:latin typeface="Aptos Display" pitchFamily="34" charset="0"/>
                <a:ea typeface="Aptos Display" pitchFamily="34" charset="-122"/>
                <a:cs typeface="Aptos Display" pitchFamily="34" charset="-120"/>
              </a:rPr>
              <a:t>1 | What we must deliver — and what we will not cover</a:t>
            </a:r>
            <a:endParaRPr lang="en-US" sz="2000" dirty="0"/>
          </a:p>
        </p:txBody>
      </p:sp>
      <p:sp>
        <p:nvSpPr>
          <p:cNvPr id="4" name="Text 2"/>
          <p:cNvSpPr/>
          <p:nvPr/>
        </p:nvSpPr>
        <p:spPr>
          <a:xfrm>
            <a:off x="9235440" y="182880"/>
            <a:ext cx="2651760" cy="228600"/>
          </a:xfrm>
          <a:prstGeom prst="rect">
            <a:avLst/>
          </a:prstGeom>
          <a:noFill/>
          <a:ln/>
        </p:spPr>
        <p:txBody>
          <a:bodyPr wrap="square" lIns="0" tIns="0" rIns="0" bIns="0" rtlCol="0" anchor="ctr"/>
          <a:lstStyle/>
          <a:p>
            <a:pPr algn="r" indent="0" marL="0">
              <a:buNone/>
            </a:pPr>
            <a:r>
              <a:rPr lang="en-US" sz="900" dirty="0">
                <a:solidFill>
                  <a:srgbClr val="C9D6EA"/>
                </a:solidFill>
              </a:rPr>
              <a:t>CIO briefing</a:t>
            </a:r>
            <a:endParaRPr lang="en-US" sz="900" dirty="0"/>
          </a:p>
        </p:txBody>
      </p:sp>
      <p:sp>
        <p:nvSpPr>
          <p:cNvPr id="5" name="Text 3"/>
          <p:cNvSpPr/>
          <p:nvPr/>
        </p:nvSpPr>
        <p:spPr>
          <a:xfrm>
            <a:off x="411480" y="713232"/>
            <a:ext cx="11155680" cy="310896"/>
          </a:xfrm>
          <a:prstGeom prst="rect">
            <a:avLst/>
          </a:prstGeom>
          <a:noFill/>
          <a:ln/>
        </p:spPr>
        <p:txBody>
          <a:bodyPr wrap="square" lIns="0" tIns="0" rIns="0" bIns="0" rtlCol="0" anchor="ctr"/>
          <a:lstStyle/>
          <a:p>
            <a:pPr indent="0" marL="0">
              <a:buNone/>
            </a:pPr>
            <a:r>
              <a:rPr lang="en-US" sz="1300" dirty="0">
                <a:solidFill>
                  <a:srgbClr val="404040"/>
                </a:solidFill>
              </a:rPr>
              <a:t>The workstream should deliver a reusable unstructured-data capability layer for AI — not a bespoke platform per use case.</a:t>
            </a:r>
            <a:endParaRPr lang="en-US" sz="1300" dirty="0"/>
          </a:p>
        </p:txBody>
      </p:sp>
      <p:sp>
        <p:nvSpPr>
          <p:cNvPr id="6" name="Shape 4"/>
          <p:cNvSpPr/>
          <p:nvPr/>
        </p:nvSpPr>
        <p:spPr>
          <a:xfrm>
            <a:off x="411480" y="1143000"/>
            <a:ext cx="3246120" cy="2148840"/>
          </a:xfrm>
          <a:prstGeom prst="roundRect">
            <a:avLst>
              <a:gd name="adj" fmla="val 3404"/>
            </a:avLst>
          </a:prstGeom>
          <a:solidFill>
            <a:srgbClr val="FFFFFF"/>
          </a:solidFill>
          <a:ln w="12700">
            <a:solidFill>
              <a:srgbClr val="B7C9E2"/>
            </a:solidFill>
            <a:prstDash val="solid"/>
          </a:ln>
        </p:spPr>
      </p:sp>
      <p:sp>
        <p:nvSpPr>
          <p:cNvPr id="7" name="Shape 5"/>
          <p:cNvSpPr/>
          <p:nvPr/>
        </p:nvSpPr>
        <p:spPr>
          <a:xfrm>
            <a:off x="411480" y="1143000"/>
            <a:ext cx="73152" cy="2148840"/>
          </a:xfrm>
          <a:prstGeom prst="rect">
            <a:avLst/>
          </a:prstGeom>
          <a:solidFill>
            <a:srgbClr val="2F75B5"/>
          </a:solidFill>
          <a:ln w="12700">
            <a:solidFill>
              <a:srgbClr val="2F75B5"/>
            </a:solidFill>
            <a:prstDash val="solid"/>
          </a:ln>
        </p:spPr>
      </p:sp>
      <p:sp>
        <p:nvSpPr>
          <p:cNvPr id="8" name="Text 6"/>
          <p:cNvSpPr/>
          <p:nvPr/>
        </p:nvSpPr>
        <p:spPr>
          <a:xfrm>
            <a:off x="576072" y="1252728"/>
            <a:ext cx="2916936" cy="256032"/>
          </a:xfrm>
          <a:prstGeom prst="rect">
            <a:avLst/>
          </a:prstGeom>
          <a:noFill/>
          <a:ln/>
        </p:spPr>
        <p:txBody>
          <a:bodyPr wrap="square" lIns="254" tIns="254" rIns="254" bIns="254" rtlCol="0" anchor="ctr">
            <a:normAutofit/>
          </a:bodyPr>
          <a:lstStyle/>
          <a:p>
            <a:pPr indent="0" marL="0">
              <a:buNone/>
            </a:pPr>
            <a:r>
              <a:rPr lang="en-US" sz="1200" b="1" dirty="0">
                <a:solidFill>
                  <a:srgbClr val="17365D"/>
                </a:solidFill>
              </a:rPr>
              <a:t>Must deliver</a:t>
            </a:r>
            <a:endParaRPr lang="en-US" sz="1200" dirty="0"/>
          </a:p>
        </p:txBody>
      </p:sp>
      <p:sp>
        <p:nvSpPr>
          <p:cNvPr id="9" name="Text 7"/>
          <p:cNvSpPr/>
          <p:nvPr/>
        </p:nvSpPr>
        <p:spPr>
          <a:xfrm>
            <a:off x="576072" y="1581912"/>
            <a:ext cx="2916936" cy="1618488"/>
          </a:xfrm>
          <a:prstGeom prst="rect">
            <a:avLst/>
          </a:prstGeom>
          <a:noFill/>
          <a:ln/>
        </p:spPr>
        <p:txBody>
          <a:bodyPr wrap="square" lIns="254" tIns="254" rIns="254" bIns="254" rtlCol="0" anchor="t">
            <a:normAutofit/>
          </a:bodyPr>
          <a:lstStyle/>
          <a:p>
            <a:pPr indent="0" marL="0">
              <a:buNone/>
            </a:pPr>
            <a:r>
              <a:rPr lang="en-US" sz="930" dirty="0">
                <a:solidFill>
                  <a:srgbClr val="404040"/>
                </a:solidFill>
              </a:rPr>
              <a:t>• Reference architecture and adoption guardrails</a:t>
            </a:r>
            <a:endParaRPr lang="en-US" sz="930" dirty="0"/>
          </a:p>
          <a:p>
            <a:pPr indent="0" marL="0">
              <a:buNone/>
            </a:pPr>
            <a:r>
              <a:rPr lang="en-US" sz="930" dirty="0">
                <a:solidFill>
                  <a:srgbClr val="404040"/>
                </a:solidFill>
              </a:rPr>
              <a:t>• Standard use-case discovery and prioritisation</a:t>
            </a:r>
            <a:endParaRPr lang="en-US" sz="930" dirty="0"/>
          </a:p>
          <a:p>
            <a:pPr indent="0" marL="0">
              <a:buNone/>
            </a:pPr>
            <a:r>
              <a:rPr lang="en-US" sz="930" dirty="0">
                <a:solidFill>
                  <a:srgbClr val="404040"/>
                </a:solidFill>
              </a:rPr>
              <a:t>• Shared building blocks for ingestion, extraction, metadata, redaction, chunking and retrieval</a:t>
            </a:r>
            <a:endParaRPr lang="en-US" sz="930" dirty="0"/>
          </a:p>
          <a:p>
            <a:pPr indent="0" marL="0">
              <a:buNone/>
            </a:pPr>
            <a:r>
              <a:rPr lang="en-US" sz="930" dirty="0">
                <a:solidFill>
                  <a:srgbClr val="404040"/>
                </a:solidFill>
              </a:rPr>
              <a:t>• VectorDBaaS first-draft service design and roadmap</a:t>
            </a:r>
            <a:endParaRPr lang="en-US" sz="930" dirty="0"/>
          </a:p>
          <a:p>
            <a:pPr indent="0" marL="0">
              <a:buNone/>
            </a:pPr>
            <a:r>
              <a:rPr lang="en-US" sz="930" dirty="0">
                <a:solidFill>
                  <a:srgbClr val="404040"/>
                </a:solidFill>
              </a:rPr>
              <a:t>• Clear onboarding path for priority use cases</a:t>
            </a:r>
            <a:endParaRPr lang="en-US" sz="930" dirty="0"/>
          </a:p>
        </p:txBody>
      </p:sp>
      <p:sp>
        <p:nvSpPr>
          <p:cNvPr id="10" name="Shape 8"/>
          <p:cNvSpPr/>
          <p:nvPr/>
        </p:nvSpPr>
        <p:spPr>
          <a:xfrm>
            <a:off x="411480" y="3493008"/>
            <a:ext cx="3246120" cy="1874520"/>
          </a:xfrm>
          <a:prstGeom prst="roundRect">
            <a:avLst>
              <a:gd name="adj" fmla="val 3902"/>
            </a:avLst>
          </a:prstGeom>
          <a:solidFill>
            <a:srgbClr val="FFFFFF"/>
          </a:solidFill>
          <a:ln w="12700">
            <a:solidFill>
              <a:srgbClr val="E3B6B6"/>
            </a:solidFill>
            <a:prstDash val="solid"/>
          </a:ln>
        </p:spPr>
      </p:sp>
      <p:sp>
        <p:nvSpPr>
          <p:cNvPr id="11" name="Shape 9"/>
          <p:cNvSpPr/>
          <p:nvPr/>
        </p:nvSpPr>
        <p:spPr>
          <a:xfrm>
            <a:off x="411480" y="3493008"/>
            <a:ext cx="73152" cy="1874520"/>
          </a:xfrm>
          <a:prstGeom prst="rect">
            <a:avLst/>
          </a:prstGeom>
          <a:solidFill>
            <a:srgbClr val="B00020"/>
          </a:solidFill>
          <a:ln w="12700">
            <a:solidFill>
              <a:srgbClr val="B00020"/>
            </a:solidFill>
            <a:prstDash val="solid"/>
          </a:ln>
        </p:spPr>
      </p:sp>
      <p:sp>
        <p:nvSpPr>
          <p:cNvPr id="12" name="Text 10"/>
          <p:cNvSpPr/>
          <p:nvPr/>
        </p:nvSpPr>
        <p:spPr>
          <a:xfrm>
            <a:off x="576072" y="3602736"/>
            <a:ext cx="2916936" cy="256032"/>
          </a:xfrm>
          <a:prstGeom prst="rect">
            <a:avLst/>
          </a:prstGeom>
          <a:noFill/>
          <a:ln/>
        </p:spPr>
        <p:txBody>
          <a:bodyPr wrap="square" lIns="254" tIns="254" rIns="254" bIns="254" rtlCol="0" anchor="ctr">
            <a:normAutofit/>
          </a:bodyPr>
          <a:lstStyle/>
          <a:p>
            <a:pPr indent="0" marL="0">
              <a:buNone/>
            </a:pPr>
            <a:r>
              <a:rPr lang="en-US" sz="1200" b="1" dirty="0">
                <a:solidFill>
                  <a:srgbClr val="17365D"/>
                </a:solidFill>
              </a:rPr>
              <a:t>Not covered / not owned by this workstream</a:t>
            </a:r>
            <a:endParaRPr lang="en-US" sz="1200" dirty="0"/>
          </a:p>
        </p:txBody>
      </p:sp>
      <p:sp>
        <p:nvSpPr>
          <p:cNvPr id="13" name="Text 11"/>
          <p:cNvSpPr/>
          <p:nvPr/>
        </p:nvSpPr>
        <p:spPr>
          <a:xfrm>
            <a:off x="576072" y="3931920"/>
            <a:ext cx="2916936" cy="1344168"/>
          </a:xfrm>
          <a:prstGeom prst="rect">
            <a:avLst/>
          </a:prstGeom>
          <a:noFill/>
          <a:ln/>
        </p:spPr>
        <p:txBody>
          <a:bodyPr wrap="square" lIns="254" tIns="254" rIns="254" bIns="254" rtlCol="0" anchor="t">
            <a:normAutofit/>
          </a:bodyPr>
          <a:lstStyle/>
          <a:p>
            <a:pPr indent="0" marL="0">
              <a:buNone/>
            </a:pPr>
            <a:r>
              <a:rPr lang="en-US" sz="930" dirty="0">
                <a:solidFill>
                  <a:srgbClr val="404040"/>
                </a:solidFill>
              </a:rPr>
              <a:t>• Building every use-case solution end to end</a:t>
            </a:r>
            <a:endParaRPr lang="en-US" sz="930" dirty="0"/>
          </a:p>
          <a:p>
            <a:pPr indent="0" marL="0">
              <a:buNone/>
            </a:pPr>
            <a:r>
              <a:rPr lang="en-US" sz="930" dirty="0">
                <a:solidFill>
                  <a:srgbClr val="404040"/>
                </a:solidFill>
              </a:rPr>
              <a:t>• Prompt engineering or bespoke assistant UX</a:t>
            </a:r>
            <a:endParaRPr lang="en-US" sz="930" dirty="0"/>
          </a:p>
          <a:p>
            <a:pPr indent="0" marL="0">
              <a:buNone/>
            </a:pPr>
            <a:r>
              <a:rPr lang="en-US" sz="930" dirty="0">
                <a:solidFill>
                  <a:srgbClr val="404040"/>
                </a:solidFill>
              </a:rPr>
              <a:t>• Owning all Group AI model services</a:t>
            </a:r>
            <a:endParaRPr lang="en-US" sz="930" dirty="0"/>
          </a:p>
          <a:p>
            <a:pPr indent="0" marL="0">
              <a:buNone/>
            </a:pPr>
            <a:r>
              <a:rPr lang="en-US" sz="930" dirty="0">
                <a:solidFill>
                  <a:srgbClr val="404040"/>
                </a:solidFill>
              </a:rPr>
              <a:t>• Replacing Fabric, catalogue, IAM or security platforms</a:t>
            </a:r>
            <a:endParaRPr lang="en-US" sz="930" dirty="0"/>
          </a:p>
          <a:p>
            <a:pPr indent="0" marL="0">
              <a:buNone/>
            </a:pPr>
            <a:r>
              <a:rPr lang="en-US" sz="930" dirty="0">
                <a:solidFill>
                  <a:srgbClr val="404040"/>
                </a:solidFill>
              </a:rPr>
              <a:t>• Standing up one vector database per use case</a:t>
            </a:r>
            <a:endParaRPr lang="en-US" sz="930" dirty="0"/>
          </a:p>
        </p:txBody>
      </p:sp>
      <p:sp>
        <p:nvSpPr>
          <p:cNvPr id="14" name="Text 12"/>
          <p:cNvSpPr/>
          <p:nvPr/>
        </p:nvSpPr>
        <p:spPr>
          <a:xfrm>
            <a:off x="3977640" y="1143000"/>
            <a:ext cx="7680960" cy="256032"/>
          </a:xfrm>
          <a:prstGeom prst="rect">
            <a:avLst/>
          </a:prstGeom>
          <a:noFill/>
          <a:ln/>
        </p:spPr>
        <p:txBody>
          <a:bodyPr wrap="square" lIns="0" tIns="0" rIns="0" bIns="0" rtlCol="0" anchor="ctr"/>
          <a:lstStyle/>
          <a:p>
            <a:pPr indent="0" marL="0">
              <a:buNone/>
            </a:pPr>
            <a:r>
              <a:rPr lang="en-US" sz="1200" b="1" dirty="0">
                <a:solidFill>
                  <a:srgbClr val="17365D"/>
                </a:solidFill>
              </a:rPr>
              <a:t>End-state capability view</a:t>
            </a:r>
            <a:endParaRPr lang="en-US" sz="1200" dirty="0"/>
          </a:p>
        </p:txBody>
      </p:sp>
      <p:sp>
        <p:nvSpPr>
          <p:cNvPr id="15" name="Shape 13"/>
          <p:cNvSpPr/>
          <p:nvPr/>
        </p:nvSpPr>
        <p:spPr>
          <a:xfrm>
            <a:off x="3977640" y="1600200"/>
            <a:ext cx="1600200" cy="1417320"/>
          </a:xfrm>
          <a:prstGeom prst="roundRect">
            <a:avLst>
              <a:gd name="adj" fmla="val 5161"/>
            </a:avLst>
          </a:prstGeom>
          <a:solidFill>
            <a:srgbClr val="D9EAF7"/>
          </a:solidFill>
          <a:ln w="12700">
            <a:solidFill>
              <a:srgbClr val="2F75B5"/>
            </a:solidFill>
            <a:prstDash val="solid"/>
          </a:ln>
        </p:spPr>
      </p:sp>
      <p:sp>
        <p:nvSpPr>
          <p:cNvPr id="16" name="Text 14"/>
          <p:cNvSpPr/>
          <p:nvPr/>
        </p:nvSpPr>
        <p:spPr>
          <a:xfrm>
            <a:off x="4142232" y="1709928"/>
            <a:ext cx="1271016" cy="256032"/>
          </a:xfrm>
          <a:prstGeom prst="rect">
            <a:avLst/>
          </a:prstGeom>
          <a:noFill/>
          <a:ln/>
        </p:spPr>
        <p:txBody>
          <a:bodyPr wrap="square" lIns="254" tIns="254" rIns="254" bIns="254" rtlCol="0" anchor="ctr">
            <a:normAutofit/>
          </a:bodyPr>
          <a:lstStyle/>
          <a:p>
            <a:pPr indent="0" marL="0">
              <a:buNone/>
            </a:pPr>
            <a:r>
              <a:rPr lang="en-US" sz="1200" b="1" dirty="0">
                <a:solidFill>
                  <a:srgbClr val="17365D"/>
                </a:solidFill>
              </a:rPr>
              <a:t>Sources</a:t>
            </a:r>
            <a:endParaRPr lang="en-US" sz="1200" dirty="0"/>
          </a:p>
        </p:txBody>
      </p:sp>
      <p:sp>
        <p:nvSpPr>
          <p:cNvPr id="17" name="Text 15"/>
          <p:cNvSpPr/>
          <p:nvPr/>
        </p:nvSpPr>
        <p:spPr>
          <a:xfrm>
            <a:off x="4142232" y="2039112"/>
            <a:ext cx="1271016" cy="886968"/>
          </a:xfrm>
          <a:prstGeom prst="rect">
            <a:avLst/>
          </a:prstGeom>
          <a:noFill/>
          <a:ln/>
        </p:spPr>
        <p:txBody>
          <a:bodyPr wrap="square" lIns="254" tIns="254" rIns="254" bIns="254" rtlCol="0" anchor="t">
            <a:normAutofit/>
          </a:bodyPr>
          <a:lstStyle/>
          <a:p>
            <a:pPr indent="0" marL="0">
              <a:buNone/>
            </a:pPr>
            <a:r>
              <a:rPr lang="en-US" sz="930" dirty="0">
                <a:solidFill>
                  <a:srgbClr val="404040"/>
                </a:solidFill>
              </a:rPr>
              <a:t>Confluence, SharePoint, email, chat, docs, audio, images, external content</a:t>
            </a:r>
            <a:endParaRPr lang="en-US" sz="930" dirty="0"/>
          </a:p>
        </p:txBody>
      </p:sp>
      <p:sp>
        <p:nvSpPr>
          <p:cNvPr id="18" name="Shape 16"/>
          <p:cNvSpPr/>
          <p:nvPr/>
        </p:nvSpPr>
        <p:spPr>
          <a:xfrm>
            <a:off x="5577840" y="2286000"/>
            <a:ext cx="228600" cy="0"/>
          </a:xfrm>
          <a:prstGeom prst="line">
            <a:avLst/>
          </a:prstGeom>
          <a:noFill/>
          <a:ln w="17780">
            <a:solidFill>
              <a:srgbClr val="64748B"/>
            </a:solidFill>
            <a:prstDash val="solid"/>
            <a:headEnd type="none"/>
            <a:tailEnd type="triangle"/>
          </a:ln>
        </p:spPr>
      </p:sp>
      <p:sp>
        <p:nvSpPr>
          <p:cNvPr id="19" name="Shape 17"/>
          <p:cNvSpPr/>
          <p:nvPr/>
        </p:nvSpPr>
        <p:spPr>
          <a:xfrm>
            <a:off x="5806440" y="1600200"/>
            <a:ext cx="1600200" cy="1417320"/>
          </a:xfrm>
          <a:prstGeom prst="roundRect">
            <a:avLst>
              <a:gd name="adj" fmla="val 5161"/>
            </a:avLst>
          </a:prstGeom>
          <a:solidFill>
            <a:srgbClr val="E6F4F1"/>
          </a:solidFill>
          <a:ln w="12700">
            <a:solidFill>
              <a:srgbClr val="008A8A"/>
            </a:solidFill>
            <a:prstDash val="solid"/>
          </a:ln>
        </p:spPr>
      </p:sp>
      <p:sp>
        <p:nvSpPr>
          <p:cNvPr id="20" name="Text 18"/>
          <p:cNvSpPr/>
          <p:nvPr/>
        </p:nvSpPr>
        <p:spPr>
          <a:xfrm>
            <a:off x="5971032" y="1709928"/>
            <a:ext cx="1271016" cy="256032"/>
          </a:xfrm>
          <a:prstGeom prst="rect">
            <a:avLst/>
          </a:prstGeom>
          <a:noFill/>
          <a:ln/>
        </p:spPr>
        <p:txBody>
          <a:bodyPr wrap="square" lIns="254" tIns="254" rIns="254" bIns="254" rtlCol="0" anchor="ctr">
            <a:normAutofit/>
          </a:bodyPr>
          <a:lstStyle/>
          <a:p>
            <a:pPr indent="0" marL="0">
              <a:buNone/>
            </a:pPr>
            <a:r>
              <a:rPr lang="en-US" sz="1200" b="1" dirty="0">
                <a:solidFill>
                  <a:srgbClr val="17365D"/>
                </a:solidFill>
              </a:rPr>
              <a:t>Shared unstructured services</a:t>
            </a:r>
            <a:endParaRPr lang="en-US" sz="1200" dirty="0"/>
          </a:p>
        </p:txBody>
      </p:sp>
      <p:sp>
        <p:nvSpPr>
          <p:cNvPr id="21" name="Text 19"/>
          <p:cNvSpPr/>
          <p:nvPr/>
        </p:nvSpPr>
        <p:spPr>
          <a:xfrm>
            <a:off x="5971032" y="2039112"/>
            <a:ext cx="1271016" cy="886968"/>
          </a:xfrm>
          <a:prstGeom prst="rect">
            <a:avLst/>
          </a:prstGeom>
          <a:noFill/>
          <a:ln/>
        </p:spPr>
        <p:txBody>
          <a:bodyPr wrap="square" lIns="254" tIns="254" rIns="254" bIns="254" rtlCol="0" anchor="t">
            <a:normAutofit/>
          </a:bodyPr>
          <a:lstStyle/>
          <a:p>
            <a:pPr indent="0" marL="0">
              <a:buNone/>
            </a:pPr>
            <a:r>
              <a:rPr lang="en-US" sz="930" dirty="0">
                <a:solidFill>
                  <a:srgbClr val="404040"/>
                </a:solidFill>
              </a:rPr>
              <a:t>ingest, extract, normalise, classify, redact, metadata, lineage</a:t>
            </a:r>
            <a:endParaRPr lang="en-US" sz="930" dirty="0"/>
          </a:p>
        </p:txBody>
      </p:sp>
      <p:sp>
        <p:nvSpPr>
          <p:cNvPr id="22" name="Shape 20"/>
          <p:cNvSpPr/>
          <p:nvPr/>
        </p:nvSpPr>
        <p:spPr>
          <a:xfrm>
            <a:off x="7406640" y="2286000"/>
            <a:ext cx="228600" cy="0"/>
          </a:xfrm>
          <a:prstGeom prst="line">
            <a:avLst/>
          </a:prstGeom>
          <a:noFill/>
          <a:ln w="17780">
            <a:solidFill>
              <a:srgbClr val="64748B"/>
            </a:solidFill>
            <a:prstDash val="solid"/>
            <a:headEnd type="none"/>
            <a:tailEnd type="triangle"/>
          </a:ln>
        </p:spPr>
      </p:sp>
      <p:sp>
        <p:nvSpPr>
          <p:cNvPr id="23" name="Shape 21"/>
          <p:cNvSpPr/>
          <p:nvPr/>
        </p:nvSpPr>
        <p:spPr>
          <a:xfrm>
            <a:off x="7635240" y="1600200"/>
            <a:ext cx="1600200" cy="1417320"/>
          </a:xfrm>
          <a:prstGeom prst="roundRect">
            <a:avLst>
              <a:gd name="adj" fmla="val 5161"/>
            </a:avLst>
          </a:prstGeom>
          <a:solidFill>
            <a:srgbClr val="FCE4D6"/>
          </a:solidFill>
          <a:ln w="12700">
            <a:solidFill>
              <a:srgbClr val="C55A11"/>
            </a:solidFill>
            <a:prstDash val="solid"/>
          </a:ln>
        </p:spPr>
      </p:sp>
      <p:sp>
        <p:nvSpPr>
          <p:cNvPr id="24" name="Text 22"/>
          <p:cNvSpPr/>
          <p:nvPr/>
        </p:nvSpPr>
        <p:spPr>
          <a:xfrm>
            <a:off x="7799832" y="1709928"/>
            <a:ext cx="1271016" cy="256032"/>
          </a:xfrm>
          <a:prstGeom prst="rect">
            <a:avLst/>
          </a:prstGeom>
          <a:noFill/>
          <a:ln/>
        </p:spPr>
        <p:txBody>
          <a:bodyPr wrap="square" lIns="254" tIns="254" rIns="254" bIns="254" rtlCol="0" anchor="ctr">
            <a:normAutofit/>
          </a:bodyPr>
          <a:lstStyle/>
          <a:p>
            <a:pPr indent="0" marL="0">
              <a:buNone/>
            </a:pPr>
            <a:r>
              <a:rPr lang="en-US" sz="1200" b="1" dirty="0">
                <a:solidFill>
                  <a:srgbClr val="17365D"/>
                </a:solidFill>
              </a:rPr>
              <a:t>Semantic persistence</a:t>
            </a:r>
            <a:endParaRPr lang="en-US" sz="1200" dirty="0"/>
          </a:p>
        </p:txBody>
      </p:sp>
      <p:sp>
        <p:nvSpPr>
          <p:cNvPr id="25" name="Text 23"/>
          <p:cNvSpPr/>
          <p:nvPr/>
        </p:nvSpPr>
        <p:spPr>
          <a:xfrm>
            <a:off x="7799832" y="2039112"/>
            <a:ext cx="1271016" cy="886968"/>
          </a:xfrm>
          <a:prstGeom prst="rect">
            <a:avLst/>
          </a:prstGeom>
          <a:noFill/>
          <a:ln/>
        </p:spPr>
        <p:txBody>
          <a:bodyPr wrap="square" lIns="254" tIns="254" rIns="254" bIns="254" rtlCol="0" anchor="t">
            <a:normAutofit/>
          </a:bodyPr>
          <a:lstStyle/>
          <a:p>
            <a:pPr indent="0" marL="0">
              <a:buNone/>
            </a:pPr>
            <a:r>
              <a:rPr lang="en-US" sz="930" dirty="0">
                <a:solidFill>
                  <a:srgbClr val="404040"/>
                </a:solidFill>
              </a:rPr>
              <a:t>raw/processed, metadata, vector, graph, cache, analytical products</a:t>
            </a:r>
            <a:endParaRPr lang="en-US" sz="930" dirty="0"/>
          </a:p>
        </p:txBody>
      </p:sp>
      <p:sp>
        <p:nvSpPr>
          <p:cNvPr id="26" name="Shape 24"/>
          <p:cNvSpPr/>
          <p:nvPr/>
        </p:nvSpPr>
        <p:spPr>
          <a:xfrm>
            <a:off x="9235440" y="2286000"/>
            <a:ext cx="228600" cy="0"/>
          </a:xfrm>
          <a:prstGeom prst="line">
            <a:avLst/>
          </a:prstGeom>
          <a:noFill/>
          <a:ln w="17780">
            <a:solidFill>
              <a:srgbClr val="64748B"/>
            </a:solidFill>
            <a:prstDash val="solid"/>
            <a:headEnd type="none"/>
            <a:tailEnd type="triangle"/>
          </a:ln>
        </p:spPr>
      </p:sp>
      <p:sp>
        <p:nvSpPr>
          <p:cNvPr id="27" name="Shape 25"/>
          <p:cNvSpPr/>
          <p:nvPr/>
        </p:nvSpPr>
        <p:spPr>
          <a:xfrm>
            <a:off x="9464040" y="1600200"/>
            <a:ext cx="1600200" cy="1417320"/>
          </a:xfrm>
          <a:prstGeom prst="roundRect">
            <a:avLst>
              <a:gd name="adj" fmla="val 5161"/>
            </a:avLst>
          </a:prstGeom>
          <a:solidFill>
            <a:srgbClr val="EEE6F8"/>
          </a:solidFill>
          <a:ln w="12700">
            <a:solidFill>
              <a:srgbClr val="7030A0"/>
            </a:solidFill>
            <a:prstDash val="solid"/>
          </a:ln>
        </p:spPr>
      </p:sp>
      <p:sp>
        <p:nvSpPr>
          <p:cNvPr id="28" name="Text 26"/>
          <p:cNvSpPr/>
          <p:nvPr/>
        </p:nvSpPr>
        <p:spPr>
          <a:xfrm>
            <a:off x="9628632" y="1709928"/>
            <a:ext cx="1271016" cy="256032"/>
          </a:xfrm>
          <a:prstGeom prst="rect">
            <a:avLst/>
          </a:prstGeom>
          <a:noFill/>
          <a:ln/>
        </p:spPr>
        <p:txBody>
          <a:bodyPr wrap="square" lIns="254" tIns="254" rIns="254" bIns="254" rtlCol="0" anchor="ctr">
            <a:normAutofit/>
          </a:bodyPr>
          <a:lstStyle/>
          <a:p>
            <a:pPr indent="0" marL="0">
              <a:buNone/>
            </a:pPr>
            <a:r>
              <a:rPr lang="en-US" sz="1200" b="1" dirty="0">
                <a:solidFill>
                  <a:srgbClr val="17365D"/>
                </a:solidFill>
              </a:rPr>
              <a:t>Consumption</a:t>
            </a:r>
            <a:endParaRPr lang="en-US" sz="1200" dirty="0"/>
          </a:p>
        </p:txBody>
      </p:sp>
      <p:sp>
        <p:nvSpPr>
          <p:cNvPr id="29" name="Text 27"/>
          <p:cNvSpPr/>
          <p:nvPr/>
        </p:nvSpPr>
        <p:spPr>
          <a:xfrm>
            <a:off x="9628632" y="2039112"/>
            <a:ext cx="1271016" cy="886968"/>
          </a:xfrm>
          <a:prstGeom prst="rect">
            <a:avLst/>
          </a:prstGeom>
          <a:noFill/>
          <a:ln/>
        </p:spPr>
        <p:txBody>
          <a:bodyPr wrap="square" lIns="254" tIns="254" rIns="254" bIns="254" rtlCol="0" anchor="t">
            <a:normAutofit/>
          </a:bodyPr>
          <a:lstStyle/>
          <a:p>
            <a:pPr indent="0" marL="0">
              <a:buNone/>
            </a:pPr>
            <a:r>
              <a:rPr lang="en-US" sz="930" dirty="0">
                <a:solidFill>
                  <a:srgbClr val="404040"/>
                </a:solidFill>
              </a:rPr>
              <a:t>RAG, agents, search, Fabric products, BI, downstream apps</a:t>
            </a:r>
            <a:endParaRPr lang="en-US" sz="930" dirty="0"/>
          </a:p>
        </p:txBody>
      </p:sp>
      <p:sp>
        <p:nvSpPr>
          <p:cNvPr id="30" name="Shape 28"/>
          <p:cNvSpPr/>
          <p:nvPr/>
        </p:nvSpPr>
        <p:spPr>
          <a:xfrm>
            <a:off x="3977640" y="3401568"/>
            <a:ext cx="7315200" cy="1508760"/>
          </a:xfrm>
          <a:prstGeom prst="roundRect">
            <a:avLst>
              <a:gd name="adj" fmla="val 4848"/>
            </a:avLst>
          </a:prstGeom>
          <a:solidFill>
            <a:srgbClr val="EEF2F7"/>
          </a:solidFill>
          <a:ln w="12700">
            <a:solidFill>
              <a:srgbClr val="C7D2E1"/>
            </a:solidFill>
            <a:prstDash val="solid"/>
          </a:ln>
        </p:spPr>
      </p:sp>
      <p:sp>
        <p:nvSpPr>
          <p:cNvPr id="31" name="Text 29"/>
          <p:cNvSpPr/>
          <p:nvPr/>
        </p:nvSpPr>
        <p:spPr>
          <a:xfrm>
            <a:off x="4160520" y="3584448"/>
            <a:ext cx="2194560" cy="228600"/>
          </a:xfrm>
          <a:prstGeom prst="rect">
            <a:avLst/>
          </a:prstGeom>
          <a:noFill/>
          <a:ln/>
        </p:spPr>
        <p:txBody>
          <a:bodyPr wrap="square" lIns="0" tIns="0" rIns="0" bIns="0" rtlCol="0" anchor="ctr"/>
          <a:lstStyle/>
          <a:p>
            <a:pPr indent="0" marL="0">
              <a:buNone/>
            </a:pPr>
            <a:r>
              <a:rPr lang="en-US" sz="1050" b="1" dirty="0">
                <a:solidFill>
                  <a:srgbClr val="17365D"/>
                </a:solidFill>
              </a:rPr>
              <a:t>Cross-cutting controls apply to every block</a:t>
            </a:r>
            <a:endParaRPr lang="en-US" sz="1050" dirty="0"/>
          </a:p>
        </p:txBody>
      </p:sp>
      <p:sp>
        <p:nvSpPr>
          <p:cNvPr id="32" name="Text 30"/>
          <p:cNvSpPr/>
          <p:nvPr/>
        </p:nvSpPr>
        <p:spPr>
          <a:xfrm>
            <a:off x="4160520" y="3986784"/>
            <a:ext cx="1234440" cy="320040"/>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Identity &amp; access</a:t>
            </a:r>
            <a:endParaRPr lang="en-US" sz="920" dirty="0"/>
          </a:p>
        </p:txBody>
      </p:sp>
      <p:sp>
        <p:nvSpPr>
          <p:cNvPr id="33" name="Text 31"/>
          <p:cNvSpPr/>
          <p:nvPr/>
        </p:nvSpPr>
        <p:spPr>
          <a:xfrm>
            <a:off x="5577840" y="3986784"/>
            <a:ext cx="1051560" cy="320040"/>
          </a:xfrm>
          <a:prstGeom prst="rect">
            <a:avLst/>
          </a:prstGeom>
          <a:solidFill>
            <a:srgbClr val="E2F0D9"/>
          </a:solidFill>
          <a:ln w="12700">
            <a:solidFill>
              <a:srgbClr val="1E7D45"/>
            </a:solidFill>
          </a:ln>
        </p:spPr>
        <p:txBody>
          <a:bodyPr wrap="square" lIns="254" tIns="254" rIns="254" bIns="254" rtlCol="0" anchor="ctr">
            <a:normAutofit/>
          </a:bodyPr>
          <a:lstStyle/>
          <a:p>
            <a:pPr algn="ctr" indent="0" marL="0">
              <a:buNone/>
            </a:pPr>
            <a:r>
              <a:rPr lang="en-US" sz="920" b="1" dirty="0">
                <a:solidFill>
                  <a:srgbClr val="17365D"/>
                </a:solidFill>
              </a:rPr>
              <a:t>Policy / DLP</a:t>
            </a:r>
            <a:endParaRPr lang="en-US" sz="920" dirty="0"/>
          </a:p>
        </p:txBody>
      </p:sp>
      <p:sp>
        <p:nvSpPr>
          <p:cNvPr id="34" name="Text 32"/>
          <p:cNvSpPr/>
          <p:nvPr/>
        </p:nvSpPr>
        <p:spPr>
          <a:xfrm>
            <a:off x="6812280" y="3986784"/>
            <a:ext cx="822960" cy="320040"/>
          </a:xfrm>
          <a:prstGeom prst="rect">
            <a:avLst/>
          </a:prstGeom>
          <a:solidFill>
            <a:srgbClr val="FCE4D6"/>
          </a:solidFill>
          <a:ln w="12700">
            <a:solidFill>
              <a:srgbClr val="C55A11"/>
            </a:solidFill>
          </a:ln>
        </p:spPr>
        <p:txBody>
          <a:bodyPr wrap="square" lIns="254" tIns="254" rIns="254" bIns="254" rtlCol="0" anchor="ctr">
            <a:normAutofit/>
          </a:bodyPr>
          <a:lstStyle/>
          <a:p>
            <a:pPr algn="ctr" indent="0" marL="0">
              <a:buNone/>
            </a:pPr>
            <a:r>
              <a:rPr lang="en-US" sz="920" b="1" dirty="0">
                <a:solidFill>
                  <a:srgbClr val="17365D"/>
                </a:solidFill>
              </a:rPr>
              <a:t>Lineage</a:t>
            </a:r>
            <a:endParaRPr lang="en-US" sz="920" dirty="0"/>
          </a:p>
        </p:txBody>
      </p:sp>
      <p:sp>
        <p:nvSpPr>
          <p:cNvPr id="35" name="Text 33"/>
          <p:cNvSpPr/>
          <p:nvPr/>
        </p:nvSpPr>
        <p:spPr>
          <a:xfrm>
            <a:off x="7818120" y="3986784"/>
            <a:ext cx="685800" cy="320040"/>
          </a:xfrm>
          <a:prstGeom prst="rect">
            <a:avLst/>
          </a:prstGeom>
          <a:solidFill>
            <a:srgbClr val="F3F4F6"/>
          </a:solidFill>
          <a:ln w="12700">
            <a:solidFill>
              <a:srgbClr val="64748B"/>
            </a:solidFill>
          </a:ln>
        </p:spPr>
        <p:txBody>
          <a:bodyPr wrap="square" lIns="254" tIns="254" rIns="254" bIns="254" rtlCol="0" anchor="ctr">
            <a:normAutofit/>
          </a:bodyPr>
          <a:lstStyle/>
          <a:p>
            <a:pPr algn="ctr" indent="0" marL="0">
              <a:buNone/>
            </a:pPr>
            <a:r>
              <a:rPr lang="en-US" sz="920" b="1" dirty="0">
                <a:solidFill>
                  <a:srgbClr val="17365D"/>
                </a:solidFill>
              </a:rPr>
              <a:t>Audit</a:t>
            </a:r>
            <a:endParaRPr lang="en-US" sz="920" dirty="0"/>
          </a:p>
        </p:txBody>
      </p:sp>
      <p:sp>
        <p:nvSpPr>
          <p:cNvPr id="36" name="Text 34"/>
          <p:cNvSpPr/>
          <p:nvPr/>
        </p:nvSpPr>
        <p:spPr>
          <a:xfrm>
            <a:off x="8686800" y="3986784"/>
            <a:ext cx="960120" cy="320040"/>
          </a:xfrm>
          <a:prstGeom prst="rect">
            <a:avLst/>
          </a:prstGeom>
          <a:solidFill>
            <a:srgbClr val="F8D7DA"/>
          </a:solidFill>
          <a:ln w="12700">
            <a:solidFill>
              <a:srgbClr val="B00020"/>
            </a:solidFill>
          </a:ln>
        </p:spPr>
        <p:txBody>
          <a:bodyPr wrap="square" lIns="254" tIns="254" rIns="254" bIns="254" rtlCol="0" anchor="ctr">
            <a:normAutofit/>
          </a:bodyPr>
          <a:lstStyle/>
          <a:p>
            <a:pPr algn="ctr" indent="0" marL="0">
              <a:buNone/>
            </a:pPr>
            <a:r>
              <a:rPr lang="en-US" sz="920" b="1" dirty="0">
                <a:solidFill>
                  <a:srgbClr val="17365D"/>
                </a:solidFill>
              </a:rPr>
              <a:t>Residency</a:t>
            </a:r>
            <a:endParaRPr lang="en-US" sz="920" dirty="0"/>
          </a:p>
        </p:txBody>
      </p:sp>
      <p:sp>
        <p:nvSpPr>
          <p:cNvPr id="37" name="Text 35"/>
          <p:cNvSpPr/>
          <p:nvPr/>
        </p:nvSpPr>
        <p:spPr>
          <a:xfrm>
            <a:off x="9829800" y="3986784"/>
            <a:ext cx="777240" cy="320040"/>
          </a:xfrm>
          <a:prstGeom prst="rect">
            <a:avLst/>
          </a:prstGeom>
          <a:solidFill>
            <a:srgbClr val="EEE6F8"/>
          </a:solidFill>
          <a:ln w="12700">
            <a:solidFill>
              <a:srgbClr val="7030A0"/>
            </a:solidFill>
          </a:ln>
        </p:spPr>
        <p:txBody>
          <a:bodyPr wrap="square" lIns="254" tIns="254" rIns="254" bIns="254" rtlCol="0" anchor="ctr">
            <a:normAutofit/>
          </a:bodyPr>
          <a:lstStyle/>
          <a:p>
            <a:pPr algn="ctr" indent="0" marL="0">
              <a:buNone/>
            </a:pPr>
            <a:r>
              <a:rPr lang="en-US" sz="920" b="1" dirty="0">
                <a:solidFill>
                  <a:srgbClr val="17365D"/>
                </a:solidFill>
              </a:rPr>
              <a:t>FinOps</a:t>
            </a:r>
            <a:endParaRPr lang="en-US" sz="920" dirty="0"/>
          </a:p>
        </p:txBody>
      </p:sp>
      <p:sp>
        <p:nvSpPr>
          <p:cNvPr id="38" name="Text 36"/>
          <p:cNvSpPr/>
          <p:nvPr/>
        </p:nvSpPr>
        <p:spPr>
          <a:xfrm>
            <a:off x="4069080" y="5166360"/>
            <a:ext cx="7498080" cy="411480"/>
          </a:xfrm>
          <a:prstGeom prst="rect">
            <a:avLst/>
          </a:prstGeom>
          <a:noFill/>
          <a:ln/>
        </p:spPr>
        <p:txBody>
          <a:bodyPr wrap="square" lIns="0" tIns="0" rIns="0" bIns="0" rtlCol="0" anchor="ctr"/>
          <a:lstStyle/>
          <a:p>
            <a:pPr indent="0" marL="0">
              <a:buNone/>
            </a:pPr>
            <a:r>
              <a:rPr lang="en-US" sz="1150" b="1" dirty="0">
                <a:solidFill>
                  <a:srgbClr val="C55A11"/>
                </a:solidFill>
              </a:rPr>
              <a:t>Initial delivery stance: prove the pattern with a small number of priority use cases before scaling enterprise-wide.</a:t>
            </a:r>
            <a:endParaRPr lang="en-US" sz="1150" dirty="0"/>
          </a:p>
        </p:txBody>
      </p:sp>
      <p:sp>
        <p:nvSpPr>
          <p:cNvPr id="39" name="Shape 37"/>
          <p:cNvSpPr/>
          <p:nvPr/>
        </p:nvSpPr>
        <p:spPr>
          <a:xfrm>
            <a:off x="320040" y="6537960"/>
            <a:ext cx="11521440" cy="0"/>
          </a:xfrm>
          <a:prstGeom prst="line">
            <a:avLst/>
          </a:prstGeom>
          <a:noFill/>
          <a:ln w="10160">
            <a:solidFill>
              <a:srgbClr val="CBD5E1"/>
            </a:solidFill>
            <a:prstDash val="solid"/>
          </a:ln>
        </p:spPr>
      </p:sp>
      <p:sp>
        <p:nvSpPr>
          <p:cNvPr id="40" name="Text 38"/>
          <p:cNvSpPr/>
          <p:nvPr/>
        </p:nvSpPr>
        <p:spPr>
          <a:xfrm>
            <a:off x="320040" y="6601968"/>
            <a:ext cx="4754880" cy="137160"/>
          </a:xfrm>
          <a:prstGeom prst="rect">
            <a:avLst/>
          </a:prstGeom>
          <a:noFill/>
          <a:ln/>
        </p:spPr>
        <p:txBody>
          <a:bodyPr wrap="square" lIns="0" tIns="0" rIns="0" bIns="0" rtlCol="0" anchor="ctr"/>
          <a:lstStyle/>
          <a:p>
            <a:pPr indent="0" marL="0">
              <a:buNone/>
            </a:pPr>
            <a:r>
              <a:rPr lang="en-US" sz="750" dirty="0">
                <a:solidFill>
                  <a:srgbClr val="64748B"/>
                </a:solidFill>
              </a:rPr>
              <a:t>CIO preparation — working draft</a:t>
            </a:r>
            <a:endParaRPr lang="en-US" sz="750" dirty="0"/>
          </a:p>
        </p:txBody>
      </p:sp>
      <p:sp>
        <p:nvSpPr>
          <p:cNvPr id="41" name="Text 39"/>
          <p:cNvSpPr/>
          <p:nvPr/>
        </p:nvSpPr>
        <p:spPr>
          <a:xfrm>
            <a:off x="11155680" y="6601968"/>
            <a:ext cx="731520" cy="137160"/>
          </a:xfrm>
          <a:prstGeom prst="rect">
            <a:avLst/>
          </a:prstGeom>
          <a:noFill/>
          <a:ln/>
        </p:spPr>
        <p:txBody>
          <a:bodyPr wrap="square" lIns="0" tIns="0" rIns="0" bIns="0" rtlCol="0" anchor="ctr"/>
          <a:lstStyle/>
          <a:p>
            <a:pPr algn="r" indent="0" marL="0">
              <a:buNone/>
            </a:pPr>
            <a:r>
              <a:rPr lang="en-US" sz="750" dirty="0">
                <a:solidFill>
                  <a:srgbClr val="64748B"/>
                </a:solidFill>
              </a:rPr>
              <a:t>1/4</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7365D"/>
          </a:solidFill>
          <a:ln w="12700">
            <a:solidFill>
              <a:srgbClr val="17365D"/>
            </a:solidFill>
            <a:prstDash val="solid"/>
          </a:ln>
        </p:spPr>
      </p:sp>
      <p:sp>
        <p:nvSpPr>
          <p:cNvPr id="3" name="Text 1"/>
          <p:cNvSpPr/>
          <p:nvPr/>
        </p:nvSpPr>
        <p:spPr>
          <a:xfrm>
            <a:off x="320040" y="109728"/>
            <a:ext cx="8458200" cy="347472"/>
          </a:xfrm>
          <a:prstGeom prst="rect">
            <a:avLst/>
          </a:prstGeom>
          <a:noFill/>
          <a:ln/>
        </p:spPr>
        <p:txBody>
          <a:bodyPr wrap="square" lIns="0" tIns="0" rIns="0" bIns="0" rtlCol="0" anchor="ctr"/>
          <a:lstStyle/>
          <a:p>
            <a:pPr indent="0" marL="0">
              <a:buNone/>
            </a:pPr>
            <a:r>
              <a:rPr lang="en-US" sz="2000" b="1" dirty="0">
                <a:solidFill>
                  <a:srgbClr val="FFFFFF"/>
                </a:solidFill>
                <a:latin typeface="Aptos Display" pitchFamily="34" charset="0"/>
                <a:ea typeface="Aptos Display" pitchFamily="34" charset="-122"/>
                <a:cs typeface="Aptos Display" pitchFamily="34" charset="-120"/>
              </a:rPr>
              <a:t>2 | Key risks and dependencies — transparent view</a:t>
            </a:r>
            <a:endParaRPr lang="en-US" sz="2000" dirty="0"/>
          </a:p>
        </p:txBody>
      </p:sp>
      <p:sp>
        <p:nvSpPr>
          <p:cNvPr id="4" name="Text 2"/>
          <p:cNvSpPr/>
          <p:nvPr/>
        </p:nvSpPr>
        <p:spPr>
          <a:xfrm>
            <a:off x="9235440" y="182880"/>
            <a:ext cx="2651760" cy="228600"/>
          </a:xfrm>
          <a:prstGeom prst="rect">
            <a:avLst/>
          </a:prstGeom>
          <a:noFill/>
          <a:ln/>
        </p:spPr>
        <p:txBody>
          <a:bodyPr wrap="square" lIns="0" tIns="0" rIns="0" bIns="0" rtlCol="0" anchor="ctr"/>
          <a:lstStyle/>
          <a:p>
            <a:pPr algn="r" indent="0" marL="0">
              <a:buNone/>
            </a:pPr>
            <a:r>
              <a:rPr lang="en-US" sz="900" dirty="0">
                <a:solidFill>
                  <a:srgbClr val="C9D6EA"/>
                </a:solidFill>
              </a:rPr>
              <a:t>CIO briefing</a:t>
            </a:r>
            <a:endParaRPr lang="en-US" sz="900" dirty="0"/>
          </a:p>
        </p:txBody>
      </p:sp>
      <p:sp>
        <p:nvSpPr>
          <p:cNvPr id="5" name="Text 3"/>
          <p:cNvSpPr/>
          <p:nvPr/>
        </p:nvSpPr>
        <p:spPr>
          <a:xfrm>
            <a:off x="411480" y="713232"/>
            <a:ext cx="11155680" cy="310896"/>
          </a:xfrm>
          <a:prstGeom prst="rect">
            <a:avLst/>
          </a:prstGeom>
          <a:noFill/>
          <a:ln/>
        </p:spPr>
        <p:txBody>
          <a:bodyPr wrap="square" lIns="0" tIns="0" rIns="0" bIns="0" rtlCol="0" anchor="ctr"/>
          <a:lstStyle/>
          <a:p>
            <a:pPr indent="0" marL="0">
              <a:buNone/>
            </a:pPr>
            <a:r>
              <a:rPr lang="en-US" sz="1300" dirty="0">
                <a:solidFill>
                  <a:srgbClr val="404040"/>
                </a:solidFill>
              </a:rPr>
              <a:t>The main risk is not the reference architecture; it is execution across platform capacity, governance, model dependency and use-case readiness.</a:t>
            </a:r>
            <a:endParaRPr lang="en-US" sz="1300" dirty="0"/>
          </a:p>
        </p:txBody>
      </p:sp>
      <p:sp>
        <p:nvSpPr>
          <p:cNvPr id="6" name="Shape 4"/>
          <p:cNvSpPr/>
          <p:nvPr/>
        </p:nvSpPr>
        <p:spPr>
          <a:xfrm>
            <a:off x="411480" y="1143000"/>
            <a:ext cx="2331720" cy="384048"/>
          </a:xfrm>
          <a:prstGeom prst="rect">
            <a:avLst/>
          </a:prstGeom>
          <a:solidFill>
            <a:srgbClr val="17365D"/>
          </a:solidFill>
          <a:ln w="6350">
            <a:solidFill>
              <a:srgbClr val="FFFFFF"/>
            </a:solidFill>
            <a:prstDash val="solid"/>
          </a:ln>
        </p:spPr>
      </p:sp>
      <p:sp>
        <p:nvSpPr>
          <p:cNvPr id="7" name="Text 5"/>
          <p:cNvSpPr/>
          <p:nvPr/>
        </p:nvSpPr>
        <p:spPr>
          <a:xfrm>
            <a:off x="457200" y="1216152"/>
            <a:ext cx="2240280" cy="292608"/>
          </a:xfrm>
          <a:prstGeom prst="rect">
            <a:avLst/>
          </a:prstGeom>
          <a:noFill/>
          <a:ln/>
        </p:spPr>
        <p:txBody>
          <a:bodyPr wrap="square" lIns="127" tIns="127" rIns="127" bIns="127" rtlCol="0" anchor="ctr">
            <a:normAutofit/>
          </a:bodyPr>
          <a:lstStyle/>
          <a:p>
            <a:pPr indent="0" marL="0">
              <a:buNone/>
            </a:pPr>
            <a:r>
              <a:rPr lang="en-US" sz="850" b="1" dirty="0">
                <a:solidFill>
                  <a:srgbClr val="FFFFFF"/>
                </a:solidFill>
              </a:rPr>
              <a:t>Risk / dependency</a:t>
            </a:r>
            <a:endParaRPr lang="en-US" sz="850" dirty="0"/>
          </a:p>
        </p:txBody>
      </p:sp>
      <p:sp>
        <p:nvSpPr>
          <p:cNvPr id="8" name="Shape 6"/>
          <p:cNvSpPr/>
          <p:nvPr/>
        </p:nvSpPr>
        <p:spPr>
          <a:xfrm>
            <a:off x="2743200" y="1143000"/>
            <a:ext cx="2331720" cy="384048"/>
          </a:xfrm>
          <a:prstGeom prst="rect">
            <a:avLst/>
          </a:prstGeom>
          <a:solidFill>
            <a:srgbClr val="17365D"/>
          </a:solidFill>
          <a:ln w="6350">
            <a:solidFill>
              <a:srgbClr val="FFFFFF"/>
            </a:solidFill>
            <a:prstDash val="solid"/>
          </a:ln>
        </p:spPr>
      </p:sp>
      <p:sp>
        <p:nvSpPr>
          <p:cNvPr id="9" name="Text 7"/>
          <p:cNvSpPr/>
          <p:nvPr/>
        </p:nvSpPr>
        <p:spPr>
          <a:xfrm>
            <a:off x="2788920" y="1216152"/>
            <a:ext cx="2240280" cy="292608"/>
          </a:xfrm>
          <a:prstGeom prst="rect">
            <a:avLst/>
          </a:prstGeom>
          <a:noFill/>
          <a:ln/>
        </p:spPr>
        <p:txBody>
          <a:bodyPr wrap="square" lIns="127" tIns="127" rIns="127" bIns="127" rtlCol="0" anchor="ctr">
            <a:normAutofit/>
          </a:bodyPr>
          <a:lstStyle/>
          <a:p>
            <a:pPr indent="0" marL="0">
              <a:buNone/>
            </a:pPr>
            <a:r>
              <a:rPr lang="en-US" sz="850" b="1" dirty="0">
                <a:solidFill>
                  <a:srgbClr val="FFFFFF"/>
                </a:solidFill>
              </a:rPr>
              <a:t>Why it matters</a:t>
            </a:r>
            <a:endParaRPr lang="en-US" sz="850" dirty="0"/>
          </a:p>
        </p:txBody>
      </p:sp>
      <p:sp>
        <p:nvSpPr>
          <p:cNvPr id="10" name="Shape 8"/>
          <p:cNvSpPr/>
          <p:nvPr/>
        </p:nvSpPr>
        <p:spPr>
          <a:xfrm>
            <a:off x="5074920" y="1143000"/>
            <a:ext cx="2606040" cy="384048"/>
          </a:xfrm>
          <a:prstGeom prst="rect">
            <a:avLst/>
          </a:prstGeom>
          <a:solidFill>
            <a:srgbClr val="17365D"/>
          </a:solidFill>
          <a:ln w="6350">
            <a:solidFill>
              <a:srgbClr val="FFFFFF"/>
            </a:solidFill>
            <a:prstDash val="solid"/>
          </a:ln>
        </p:spPr>
      </p:sp>
      <p:sp>
        <p:nvSpPr>
          <p:cNvPr id="11" name="Text 9"/>
          <p:cNvSpPr/>
          <p:nvPr/>
        </p:nvSpPr>
        <p:spPr>
          <a:xfrm>
            <a:off x="5120640" y="1216152"/>
            <a:ext cx="2514600" cy="292608"/>
          </a:xfrm>
          <a:prstGeom prst="rect">
            <a:avLst/>
          </a:prstGeom>
          <a:noFill/>
          <a:ln/>
        </p:spPr>
        <p:txBody>
          <a:bodyPr wrap="square" lIns="127" tIns="127" rIns="127" bIns="127" rtlCol="0" anchor="ctr">
            <a:normAutofit/>
          </a:bodyPr>
          <a:lstStyle/>
          <a:p>
            <a:pPr indent="0" marL="0">
              <a:buNone/>
            </a:pPr>
            <a:r>
              <a:rPr lang="en-US" sz="850" b="1" dirty="0">
                <a:solidFill>
                  <a:srgbClr val="FFFFFF"/>
                </a:solidFill>
              </a:rPr>
              <a:t>Suggested mitigation</a:t>
            </a:r>
            <a:endParaRPr lang="en-US" sz="850" dirty="0"/>
          </a:p>
        </p:txBody>
      </p:sp>
      <p:sp>
        <p:nvSpPr>
          <p:cNvPr id="12" name="Shape 10"/>
          <p:cNvSpPr/>
          <p:nvPr/>
        </p:nvSpPr>
        <p:spPr>
          <a:xfrm>
            <a:off x="7680960" y="1143000"/>
            <a:ext cx="4069080" cy="384048"/>
          </a:xfrm>
          <a:prstGeom prst="rect">
            <a:avLst/>
          </a:prstGeom>
          <a:solidFill>
            <a:srgbClr val="17365D"/>
          </a:solidFill>
          <a:ln w="6350">
            <a:solidFill>
              <a:srgbClr val="FFFFFF"/>
            </a:solidFill>
            <a:prstDash val="solid"/>
          </a:ln>
        </p:spPr>
      </p:sp>
      <p:sp>
        <p:nvSpPr>
          <p:cNvPr id="13" name="Text 11"/>
          <p:cNvSpPr/>
          <p:nvPr/>
        </p:nvSpPr>
        <p:spPr>
          <a:xfrm>
            <a:off x="7726680" y="1216152"/>
            <a:ext cx="3977640" cy="292608"/>
          </a:xfrm>
          <a:prstGeom prst="rect">
            <a:avLst/>
          </a:prstGeom>
          <a:noFill/>
          <a:ln/>
        </p:spPr>
        <p:txBody>
          <a:bodyPr wrap="square" lIns="127" tIns="127" rIns="127" bIns="127" rtlCol="0" anchor="ctr">
            <a:normAutofit/>
          </a:bodyPr>
          <a:lstStyle/>
          <a:p>
            <a:pPr indent="0" marL="0">
              <a:buNone/>
            </a:pPr>
            <a:r>
              <a:rPr lang="en-US" sz="850" b="1" dirty="0">
                <a:solidFill>
                  <a:srgbClr val="FFFFFF"/>
                </a:solidFill>
              </a:rPr>
              <a:t>Decision / support needed</a:t>
            </a:r>
            <a:endParaRPr lang="en-US" sz="850" dirty="0"/>
          </a:p>
        </p:txBody>
      </p:sp>
      <p:sp>
        <p:nvSpPr>
          <p:cNvPr id="14" name="Shape 12"/>
          <p:cNvSpPr/>
          <p:nvPr/>
        </p:nvSpPr>
        <p:spPr>
          <a:xfrm>
            <a:off x="411480" y="1527048"/>
            <a:ext cx="2331720" cy="749808"/>
          </a:xfrm>
          <a:prstGeom prst="rect">
            <a:avLst/>
          </a:prstGeom>
          <a:solidFill>
            <a:srgbClr val="FFFFFF"/>
          </a:solidFill>
          <a:ln w="6350">
            <a:solidFill>
              <a:srgbClr val="E2E8F0"/>
            </a:solidFill>
            <a:prstDash val="solid"/>
          </a:ln>
        </p:spPr>
      </p:sp>
      <p:sp>
        <p:nvSpPr>
          <p:cNvPr id="15" name="Text 13"/>
          <p:cNvSpPr/>
          <p:nvPr/>
        </p:nvSpPr>
        <p:spPr>
          <a:xfrm>
            <a:off x="466344" y="1591056"/>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Platform capacity for MVP</a:t>
            </a:r>
            <a:endParaRPr lang="en-US" sz="760" dirty="0"/>
          </a:p>
        </p:txBody>
      </p:sp>
      <p:sp>
        <p:nvSpPr>
          <p:cNvPr id="16" name="Shape 14"/>
          <p:cNvSpPr/>
          <p:nvPr/>
        </p:nvSpPr>
        <p:spPr>
          <a:xfrm>
            <a:off x="2743200" y="1527048"/>
            <a:ext cx="2331720" cy="749808"/>
          </a:xfrm>
          <a:prstGeom prst="rect">
            <a:avLst/>
          </a:prstGeom>
          <a:solidFill>
            <a:srgbClr val="FFFFFF"/>
          </a:solidFill>
          <a:ln w="6350">
            <a:solidFill>
              <a:srgbClr val="E2E8F0"/>
            </a:solidFill>
            <a:prstDash val="solid"/>
          </a:ln>
        </p:spPr>
      </p:sp>
      <p:sp>
        <p:nvSpPr>
          <p:cNvPr id="17" name="Text 15"/>
          <p:cNvSpPr/>
          <p:nvPr/>
        </p:nvSpPr>
        <p:spPr>
          <a:xfrm>
            <a:off x="2798064" y="1591056"/>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VectorDBaaS needs a real first data plane; without named platform engineering it stays theoretical.</a:t>
            </a:r>
            <a:endParaRPr lang="en-US" sz="760" dirty="0"/>
          </a:p>
        </p:txBody>
      </p:sp>
      <p:sp>
        <p:nvSpPr>
          <p:cNvPr id="18" name="Shape 16"/>
          <p:cNvSpPr/>
          <p:nvPr/>
        </p:nvSpPr>
        <p:spPr>
          <a:xfrm>
            <a:off x="5074920" y="1527048"/>
            <a:ext cx="2606040" cy="749808"/>
          </a:xfrm>
          <a:prstGeom prst="rect">
            <a:avLst/>
          </a:prstGeom>
          <a:solidFill>
            <a:srgbClr val="F8FBFF"/>
          </a:solidFill>
          <a:ln w="6350">
            <a:solidFill>
              <a:srgbClr val="E2E8F0"/>
            </a:solidFill>
            <a:prstDash val="solid"/>
          </a:ln>
        </p:spPr>
      </p:sp>
      <p:sp>
        <p:nvSpPr>
          <p:cNvPr id="19" name="Text 17"/>
          <p:cNvSpPr/>
          <p:nvPr/>
        </p:nvSpPr>
        <p:spPr>
          <a:xfrm>
            <a:off x="5129784" y="1591056"/>
            <a:ext cx="249631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Select one reference platform and secure named engineering capacity before build starts.</a:t>
            </a:r>
            <a:endParaRPr lang="en-US" sz="760" dirty="0"/>
          </a:p>
        </p:txBody>
      </p:sp>
      <p:sp>
        <p:nvSpPr>
          <p:cNvPr id="20" name="Shape 18"/>
          <p:cNvSpPr/>
          <p:nvPr/>
        </p:nvSpPr>
        <p:spPr>
          <a:xfrm>
            <a:off x="7680960" y="1527048"/>
            <a:ext cx="4069080" cy="749808"/>
          </a:xfrm>
          <a:prstGeom prst="rect">
            <a:avLst/>
          </a:prstGeom>
          <a:solidFill>
            <a:srgbClr val="FFF7ED"/>
          </a:solidFill>
          <a:ln w="6350">
            <a:solidFill>
              <a:srgbClr val="E2E8F0"/>
            </a:solidFill>
            <a:prstDash val="solid"/>
          </a:ln>
        </p:spPr>
      </p:sp>
      <p:sp>
        <p:nvSpPr>
          <p:cNvPr id="21" name="Text 19"/>
          <p:cNvSpPr/>
          <p:nvPr/>
        </p:nvSpPr>
        <p:spPr>
          <a:xfrm>
            <a:off x="7735824" y="1591056"/>
            <a:ext cx="395935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Confirm first platform sponsor and accountable engineering lead.</a:t>
            </a:r>
            <a:endParaRPr lang="en-US" sz="760" dirty="0"/>
          </a:p>
        </p:txBody>
      </p:sp>
      <p:sp>
        <p:nvSpPr>
          <p:cNvPr id="22" name="Shape 20"/>
          <p:cNvSpPr/>
          <p:nvPr/>
        </p:nvSpPr>
        <p:spPr>
          <a:xfrm>
            <a:off x="411480" y="2276856"/>
            <a:ext cx="2331720" cy="749808"/>
          </a:xfrm>
          <a:prstGeom prst="rect">
            <a:avLst/>
          </a:prstGeom>
          <a:solidFill>
            <a:srgbClr val="FFFFFF"/>
          </a:solidFill>
          <a:ln w="6350">
            <a:solidFill>
              <a:srgbClr val="E2E8F0"/>
            </a:solidFill>
            <a:prstDash val="solid"/>
          </a:ln>
        </p:spPr>
      </p:sp>
      <p:sp>
        <p:nvSpPr>
          <p:cNvPr id="23" name="Text 21"/>
          <p:cNvSpPr/>
          <p:nvPr/>
        </p:nvSpPr>
        <p:spPr>
          <a:xfrm>
            <a:off x="466344" y="2340864"/>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Group AI / embedding path</a:t>
            </a:r>
            <a:endParaRPr lang="en-US" sz="760" dirty="0"/>
          </a:p>
        </p:txBody>
      </p:sp>
      <p:sp>
        <p:nvSpPr>
          <p:cNvPr id="24" name="Shape 22"/>
          <p:cNvSpPr/>
          <p:nvPr/>
        </p:nvSpPr>
        <p:spPr>
          <a:xfrm>
            <a:off x="2743200" y="2276856"/>
            <a:ext cx="2331720" cy="749808"/>
          </a:xfrm>
          <a:prstGeom prst="rect">
            <a:avLst/>
          </a:prstGeom>
          <a:solidFill>
            <a:srgbClr val="FFFFFF"/>
          </a:solidFill>
          <a:ln w="6350">
            <a:solidFill>
              <a:srgbClr val="E2E8F0"/>
            </a:solidFill>
            <a:prstDash val="solid"/>
          </a:ln>
        </p:spPr>
      </p:sp>
      <p:sp>
        <p:nvSpPr>
          <p:cNvPr id="25" name="Text 23"/>
          <p:cNvSpPr/>
          <p:nvPr/>
        </p:nvSpPr>
        <p:spPr>
          <a:xfrm>
            <a:off x="2798064" y="2340864"/>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Embedding model governance is a hard dependency; unapproved local models create drift and control risk.</a:t>
            </a:r>
            <a:endParaRPr lang="en-US" sz="760" dirty="0"/>
          </a:p>
        </p:txBody>
      </p:sp>
      <p:sp>
        <p:nvSpPr>
          <p:cNvPr id="26" name="Shape 24"/>
          <p:cNvSpPr/>
          <p:nvPr/>
        </p:nvSpPr>
        <p:spPr>
          <a:xfrm>
            <a:off x="5074920" y="2276856"/>
            <a:ext cx="2606040" cy="749808"/>
          </a:xfrm>
          <a:prstGeom prst="rect">
            <a:avLst/>
          </a:prstGeom>
          <a:solidFill>
            <a:srgbClr val="FFFFFF"/>
          </a:solidFill>
          <a:ln w="6350">
            <a:solidFill>
              <a:srgbClr val="E2E8F0"/>
            </a:solidFill>
            <a:prstDash val="solid"/>
          </a:ln>
        </p:spPr>
      </p:sp>
      <p:sp>
        <p:nvSpPr>
          <p:cNvPr id="27" name="Text 25"/>
          <p:cNvSpPr/>
          <p:nvPr/>
        </p:nvSpPr>
        <p:spPr>
          <a:xfrm>
            <a:off x="5129784" y="2340864"/>
            <a:ext cx="249631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Agree approved model path, model lifecycle ownership and MCP integration early.</a:t>
            </a:r>
            <a:endParaRPr lang="en-US" sz="760" dirty="0"/>
          </a:p>
        </p:txBody>
      </p:sp>
      <p:sp>
        <p:nvSpPr>
          <p:cNvPr id="28" name="Shape 26"/>
          <p:cNvSpPr/>
          <p:nvPr/>
        </p:nvSpPr>
        <p:spPr>
          <a:xfrm>
            <a:off x="7680960" y="2276856"/>
            <a:ext cx="4069080" cy="749808"/>
          </a:xfrm>
          <a:prstGeom prst="rect">
            <a:avLst/>
          </a:prstGeom>
          <a:solidFill>
            <a:srgbClr val="FFFFFF"/>
          </a:solidFill>
          <a:ln w="6350">
            <a:solidFill>
              <a:srgbClr val="E2E8F0"/>
            </a:solidFill>
            <a:prstDash val="solid"/>
          </a:ln>
        </p:spPr>
      </p:sp>
      <p:sp>
        <p:nvSpPr>
          <p:cNvPr id="29" name="Text 27"/>
          <p:cNvSpPr/>
          <p:nvPr/>
        </p:nvSpPr>
        <p:spPr>
          <a:xfrm>
            <a:off x="7735824" y="2340864"/>
            <a:ext cx="395935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CTO / Chief Architect support to lock Group AI commitment.</a:t>
            </a:r>
            <a:endParaRPr lang="en-US" sz="760" dirty="0"/>
          </a:p>
        </p:txBody>
      </p:sp>
      <p:sp>
        <p:nvSpPr>
          <p:cNvPr id="30" name="Shape 28"/>
          <p:cNvSpPr/>
          <p:nvPr/>
        </p:nvSpPr>
        <p:spPr>
          <a:xfrm>
            <a:off x="411480" y="3026664"/>
            <a:ext cx="2331720" cy="749808"/>
          </a:xfrm>
          <a:prstGeom prst="rect">
            <a:avLst/>
          </a:prstGeom>
          <a:solidFill>
            <a:srgbClr val="FFFFFF"/>
          </a:solidFill>
          <a:ln w="6350">
            <a:solidFill>
              <a:srgbClr val="E2E8F0"/>
            </a:solidFill>
            <a:prstDash val="solid"/>
          </a:ln>
        </p:spPr>
      </p:sp>
      <p:sp>
        <p:nvSpPr>
          <p:cNvPr id="31" name="Text 29"/>
          <p:cNvSpPr/>
          <p:nvPr/>
        </p:nvSpPr>
        <p:spPr>
          <a:xfrm>
            <a:off x="466344" y="3090672"/>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Use-case readiness and data classification</a:t>
            </a:r>
            <a:endParaRPr lang="en-US" sz="760" dirty="0"/>
          </a:p>
        </p:txBody>
      </p:sp>
      <p:sp>
        <p:nvSpPr>
          <p:cNvPr id="32" name="Shape 30"/>
          <p:cNvSpPr/>
          <p:nvPr/>
        </p:nvSpPr>
        <p:spPr>
          <a:xfrm>
            <a:off x="2743200" y="3026664"/>
            <a:ext cx="2331720" cy="749808"/>
          </a:xfrm>
          <a:prstGeom prst="rect">
            <a:avLst/>
          </a:prstGeom>
          <a:solidFill>
            <a:srgbClr val="FFFFFF"/>
          </a:solidFill>
          <a:ln w="6350">
            <a:solidFill>
              <a:srgbClr val="E2E8F0"/>
            </a:solidFill>
            <a:prstDash val="solid"/>
          </a:ln>
        </p:spPr>
      </p:sp>
      <p:sp>
        <p:nvSpPr>
          <p:cNvPr id="33" name="Text 31"/>
          <p:cNvSpPr/>
          <p:nvPr/>
        </p:nvSpPr>
        <p:spPr>
          <a:xfrm>
            <a:off x="2798064" y="3090672"/>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MVP will stall if first tenant data is not classified, accessible and representative.</a:t>
            </a:r>
            <a:endParaRPr lang="en-US" sz="760" dirty="0"/>
          </a:p>
        </p:txBody>
      </p:sp>
      <p:sp>
        <p:nvSpPr>
          <p:cNvPr id="34" name="Shape 32"/>
          <p:cNvSpPr/>
          <p:nvPr/>
        </p:nvSpPr>
        <p:spPr>
          <a:xfrm>
            <a:off x="5074920" y="3026664"/>
            <a:ext cx="2606040" cy="749808"/>
          </a:xfrm>
          <a:prstGeom prst="rect">
            <a:avLst/>
          </a:prstGeom>
          <a:solidFill>
            <a:srgbClr val="F8FBFF"/>
          </a:solidFill>
          <a:ln w="6350">
            <a:solidFill>
              <a:srgbClr val="E2E8F0"/>
            </a:solidFill>
            <a:prstDash val="solid"/>
          </a:ln>
        </p:spPr>
      </p:sp>
      <p:sp>
        <p:nvSpPr>
          <p:cNvPr id="35" name="Text 33"/>
          <p:cNvSpPr/>
          <p:nvPr/>
        </p:nvSpPr>
        <p:spPr>
          <a:xfrm>
            <a:off x="5129784" y="3090672"/>
            <a:ext cx="249631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Use BA-led intake to choose a use case with source readiness and clear business owner.</a:t>
            </a:r>
            <a:endParaRPr lang="en-US" sz="760" dirty="0"/>
          </a:p>
        </p:txBody>
      </p:sp>
      <p:sp>
        <p:nvSpPr>
          <p:cNvPr id="36" name="Shape 34"/>
          <p:cNvSpPr/>
          <p:nvPr/>
        </p:nvSpPr>
        <p:spPr>
          <a:xfrm>
            <a:off x="7680960" y="3026664"/>
            <a:ext cx="4069080" cy="749808"/>
          </a:xfrm>
          <a:prstGeom prst="rect">
            <a:avLst/>
          </a:prstGeom>
          <a:solidFill>
            <a:srgbClr val="FFF7ED"/>
          </a:solidFill>
          <a:ln w="6350">
            <a:solidFill>
              <a:srgbClr val="E2E8F0"/>
            </a:solidFill>
            <a:prstDash val="solid"/>
          </a:ln>
        </p:spPr>
      </p:sp>
      <p:sp>
        <p:nvSpPr>
          <p:cNvPr id="37" name="Text 35"/>
          <p:cNvSpPr/>
          <p:nvPr/>
        </p:nvSpPr>
        <p:spPr>
          <a:xfrm>
            <a:off x="7735824" y="3090672"/>
            <a:ext cx="395935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Prioritisation decision for first tenant / use case.</a:t>
            </a:r>
            <a:endParaRPr lang="en-US" sz="760" dirty="0"/>
          </a:p>
        </p:txBody>
      </p:sp>
      <p:sp>
        <p:nvSpPr>
          <p:cNvPr id="38" name="Shape 36"/>
          <p:cNvSpPr/>
          <p:nvPr/>
        </p:nvSpPr>
        <p:spPr>
          <a:xfrm>
            <a:off x="411480" y="3776472"/>
            <a:ext cx="2331720" cy="749808"/>
          </a:xfrm>
          <a:prstGeom prst="rect">
            <a:avLst/>
          </a:prstGeom>
          <a:solidFill>
            <a:srgbClr val="FFFFFF"/>
          </a:solidFill>
          <a:ln w="6350">
            <a:solidFill>
              <a:srgbClr val="E2E8F0"/>
            </a:solidFill>
            <a:prstDash val="solid"/>
          </a:ln>
        </p:spPr>
      </p:sp>
      <p:sp>
        <p:nvSpPr>
          <p:cNvPr id="39" name="Text 37"/>
          <p:cNvSpPr/>
          <p:nvPr/>
        </p:nvSpPr>
        <p:spPr>
          <a:xfrm>
            <a:off x="466344" y="3840480"/>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Scope creep into use-case-specific logic</a:t>
            </a:r>
            <a:endParaRPr lang="en-US" sz="760" dirty="0"/>
          </a:p>
        </p:txBody>
      </p:sp>
      <p:sp>
        <p:nvSpPr>
          <p:cNvPr id="40" name="Shape 38"/>
          <p:cNvSpPr/>
          <p:nvPr/>
        </p:nvSpPr>
        <p:spPr>
          <a:xfrm>
            <a:off x="2743200" y="3776472"/>
            <a:ext cx="2331720" cy="749808"/>
          </a:xfrm>
          <a:prstGeom prst="rect">
            <a:avLst/>
          </a:prstGeom>
          <a:solidFill>
            <a:srgbClr val="FFFFFF"/>
          </a:solidFill>
          <a:ln w="6350">
            <a:solidFill>
              <a:srgbClr val="E2E8F0"/>
            </a:solidFill>
            <a:prstDash val="solid"/>
          </a:ln>
        </p:spPr>
      </p:sp>
      <p:sp>
        <p:nvSpPr>
          <p:cNvPr id="41" name="Text 39"/>
          <p:cNvSpPr/>
          <p:nvPr/>
        </p:nvSpPr>
        <p:spPr>
          <a:xfrm>
            <a:off x="2798064" y="3840480"/>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Service will fail if it absorbs every prompt, ranking and workflow requirement.</a:t>
            </a:r>
            <a:endParaRPr lang="en-US" sz="760" dirty="0"/>
          </a:p>
        </p:txBody>
      </p:sp>
      <p:sp>
        <p:nvSpPr>
          <p:cNvPr id="42" name="Shape 40"/>
          <p:cNvSpPr/>
          <p:nvPr/>
        </p:nvSpPr>
        <p:spPr>
          <a:xfrm>
            <a:off x="5074920" y="3776472"/>
            <a:ext cx="2606040" cy="749808"/>
          </a:xfrm>
          <a:prstGeom prst="rect">
            <a:avLst/>
          </a:prstGeom>
          <a:solidFill>
            <a:srgbClr val="FFFFFF"/>
          </a:solidFill>
          <a:ln w="6350">
            <a:solidFill>
              <a:srgbClr val="E2E8F0"/>
            </a:solidFill>
            <a:prstDash val="solid"/>
          </a:ln>
        </p:spPr>
      </p:sp>
      <p:sp>
        <p:nvSpPr>
          <p:cNvPr id="43" name="Text 41"/>
          <p:cNvSpPr/>
          <p:nvPr/>
        </p:nvSpPr>
        <p:spPr>
          <a:xfrm>
            <a:off x="5129784" y="3840480"/>
            <a:ext cx="249631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Protect service boundary: vector capability, contracts, governance and lifecycle only.</a:t>
            </a:r>
            <a:endParaRPr lang="en-US" sz="760" dirty="0"/>
          </a:p>
        </p:txBody>
      </p:sp>
      <p:sp>
        <p:nvSpPr>
          <p:cNvPr id="44" name="Shape 42"/>
          <p:cNvSpPr/>
          <p:nvPr/>
        </p:nvSpPr>
        <p:spPr>
          <a:xfrm>
            <a:off x="7680960" y="3776472"/>
            <a:ext cx="4069080" cy="749808"/>
          </a:xfrm>
          <a:prstGeom prst="rect">
            <a:avLst/>
          </a:prstGeom>
          <a:solidFill>
            <a:srgbClr val="FFFFFF"/>
          </a:solidFill>
          <a:ln w="6350">
            <a:solidFill>
              <a:srgbClr val="E2E8F0"/>
            </a:solidFill>
            <a:prstDash val="solid"/>
          </a:ln>
        </p:spPr>
      </p:sp>
      <p:sp>
        <p:nvSpPr>
          <p:cNvPr id="45" name="Text 43"/>
          <p:cNvSpPr/>
          <p:nvPr/>
        </p:nvSpPr>
        <p:spPr>
          <a:xfrm>
            <a:off x="7735824" y="3840480"/>
            <a:ext cx="395935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Endorse explicit non-scope and boundary.</a:t>
            </a:r>
            <a:endParaRPr lang="en-US" sz="760" dirty="0"/>
          </a:p>
        </p:txBody>
      </p:sp>
      <p:sp>
        <p:nvSpPr>
          <p:cNvPr id="46" name="Shape 44"/>
          <p:cNvSpPr/>
          <p:nvPr/>
        </p:nvSpPr>
        <p:spPr>
          <a:xfrm>
            <a:off x="411480" y="4526280"/>
            <a:ext cx="2331720" cy="749808"/>
          </a:xfrm>
          <a:prstGeom prst="rect">
            <a:avLst/>
          </a:prstGeom>
          <a:solidFill>
            <a:srgbClr val="FFFFFF"/>
          </a:solidFill>
          <a:ln w="6350">
            <a:solidFill>
              <a:srgbClr val="E2E8F0"/>
            </a:solidFill>
            <a:prstDash val="solid"/>
          </a:ln>
        </p:spPr>
      </p:sp>
      <p:sp>
        <p:nvSpPr>
          <p:cNvPr id="47" name="Text 45"/>
          <p:cNvSpPr/>
          <p:nvPr/>
        </p:nvSpPr>
        <p:spPr>
          <a:xfrm>
            <a:off x="466344" y="4590288"/>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Governance and audit evidence</a:t>
            </a:r>
            <a:endParaRPr lang="en-US" sz="760" dirty="0"/>
          </a:p>
        </p:txBody>
      </p:sp>
      <p:sp>
        <p:nvSpPr>
          <p:cNvPr id="48" name="Shape 46"/>
          <p:cNvSpPr/>
          <p:nvPr/>
        </p:nvSpPr>
        <p:spPr>
          <a:xfrm>
            <a:off x="2743200" y="4526280"/>
            <a:ext cx="2331720" cy="749808"/>
          </a:xfrm>
          <a:prstGeom prst="rect">
            <a:avLst/>
          </a:prstGeom>
          <a:solidFill>
            <a:srgbClr val="FFFFFF"/>
          </a:solidFill>
          <a:ln w="6350">
            <a:solidFill>
              <a:srgbClr val="E2E8F0"/>
            </a:solidFill>
            <a:prstDash val="solid"/>
          </a:ln>
        </p:spPr>
      </p:sp>
      <p:sp>
        <p:nvSpPr>
          <p:cNvPr id="49" name="Text 47"/>
          <p:cNvSpPr/>
          <p:nvPr/>
        </p:nvSpPr>
        <p:spPr>
          <a:xfrm>
            <a:off x="2798064" y="4590288"/>
            <a:ext cx="222199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Bank-grade service needs privacy, security, lineage, audit, MRM and resilience evidence from the start.</a:t>
            </a:r>
            <a:endParaRPr lang="en-US" sz="760" dirty="0"/>
          </a:p>
        </p:txBody>
      </p:sp>
      <p:sp>
        <p:nvSpPr>
          <p:cNvPr id="50" name="Shape 48"/>
          <p:cNvSpPr/>
          <p:nvPr/>
        </p:nvSpPr>
        <p:spPr>
          <a:xfrm>
            <a:off x="5074920" y="4526280"/>
            <a:ext cx="2606040" cy="749808"/>
          </a:xfrm>
          <a:prstGeom prst="rect">
            <a:avLst/>
          </a:prstGeom>
          <a:solidFill>
            <a:srgbClr val="F8FBFF"/>
          </a:solidFill>
          <a:ln w="6350">
            <a:solidFill>
              <a:srgbClr val="E2E8F0"/>
            </a:solidFill>
            <a:prstDash val="solid"/>
          </a:ln>
        </p:spPr>
      </p:sp>
      <p:sp>
        <p:nvSpPr>
          <p:cNvPr id="51" name="Text 49"/>
          <p:cNvSpPr/>
          <p:nvPr/>
        </p:nvSpPr>
        <p:spPr>
          <a:xfrm>
            <a:off x="5129784" y="4590288"/>
            <a:ext cx="249631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Run governance mobilisation in parallel; create evidence packs per stage.</a:t>
            </a:r>
            <a:endParaRPr lang="en-US" sz="760" dirty="0"/>
          </a:p>
        </p:txBody>
      </p:sp>
      <p:sp>
        <p:nvSpPr>
          <p:cNvPr id="52" name="Shape 50"/>
          <p:cNvSpPr/>
          <p:nvPr/>
        </p:nvSpPr>
        <p:spPr>
          <a:xfrm>
            <a:off x="7680960" y="4526280"/>
            <a:ext cx="4069080" cy="749808"/>
          </a:xfrm>
          <a:prstGeom prst="rect">
            <a:avLst/>
          </a:prstGeom>
          <a:solidFill>
            <a:srgbClr val="FFF7ED"/>
          </a:solidFill>
          <a:ln w="6350">
            <a:solidFill>
              <a:srgbClr val="E2E8F0"/>
            </a:solidFill>
            <a:prstDash val="solid"/>
          </a:ln>
        </p:spPr>
      </p:sp>
      <p:sp>
        <p:nvSpPr>
          <p:cNvPr id="53" name="Text 51"/>
          <p:cNvSpPr/>
          <p:nvPr/>
        </p:nvSpPr>
        <p:spPr>
          <a:xfrm>
            <a:off x="7735824" y="4590288"/>
            <a:ext cx="3959352" cy="649224"/>
          </a:xfrm>
          <a:prstGeom prst="rect">
            <a:avLst/>
          </a:prstGeom>
          <a:noFill/>
          <a:ln/>
        </p:spPr>
        <p:txBody>
          <a:bodyPr wrap="square" lIns="127" tIns="127" rIns="127" bIns="127" rtlCol="0" anchor="t">
            <a:normAutofit/>
          </a:bodyPr>
          <a:lstStyle/>
          <a:p>
            <a:pPr indent="0" marL="0">
              <a:buNone/>
            </a:pPr>
            <a:r>
              <a:rPr lang="en-US" sz="760" dirty="0">
                <a:solidFill>
                  <a:srgbClr val="404040"/>
                </a:solidFill>
              </a:rPr>
              <a:t>Agree proportional governance path and accountable reviewers.</a:t>
            </a:r>
            <a:endParaRPr lang="en-US" sz="760" dirty="0"/>
          </a:p>
        </p:txBody>
      </p:sp>
      <p:sp>
        <p:nvSpPr>
          <p:cNvPr id="54" name="Shape 52"/>
          <p:cNvSpPr/>
          <p:nvPr/>
        </p:nvSpPr>
        <p:spPr>
          <a:xfrm>
            <a:off x="411480" y="5532120"/>
            <a:ext cx="11338560" cy="658368"/>
          </a:xfrm>
          <a:prstGeom prst="roundRect">
            <a:avLst>
              <a:gd name="adj" fmla="val 9722"/>
            </a:avLst>
          </a:prstGeom>
          <a:solidFill>
            <a:srgbClr val="FCE4D6"/>
          </a:solidFill>
          <a:ln w="12700">
            <a:solidFill>
              <a:srgbClr val="C55A11"/>
            </a:solidFill>
            <a:prstDash val="solid"/>
          </a:ln>
        </p:spPr>
      </p:sp>
      <p:sp>
        <p:nvSpPr>
          <p:cNvPr id="55" name="Text 53"/>
          <p:cNvSpPr/>
          <p:nvPr/>
        </p:nvSpPr>
        <p:spPr>
          <a:xfrm>
            <a:off x="594360" y="5715000"/>
            <a:ext cx="10972800" cy="256032"/>
          </a:xfrm>
          <a:prstGeom prst="rect">
            <a:avLst/>
          </a:prstGeom>
          <a:noFill/>
          <a:ln/>
        </p:spPr>
        <p:txBody>
          <a:bodyPr wrap="square" lIns="0" tIns="0" rIns="0" bIns="0" rtlCol="0" anchor="ctr"/>
          <a:lstStyle/>
          <a:p>
            <a:pPr algn="ctr" indent="0" marL="0">
              <a:buNone/>
            </a:pPr>
            <a:r>
              <a:rPr lang="en-US" sz="1200" b="1" dirty="0">
                <a:solidFill>
                  <a:srgbClr val="C55A11"/>
                </a:solidFill>
              </a:rPr>
              <a:t>Honest ask: without a committed reference platform, Group AI model path and MVP resourcing, the roadmap remains an architecture paper rather than an executable service build.</a:t>
            </a:r>
            <a:endParaRPr lang="en-US" sz="1200" dirty="0"/>
          </a:p>
        </p:txBody>
      </p:sp>
      <p:sp>
        <p:nvSpPr>
          <p:cNvPr id="56" name="Shape 54"/>
          <p:cNvSpPr/>
          <p:nvPr/>
        </p:nvSpPr>
        <p:spPr>
          <a:xfrm>
            <a:off x="320040" y="6537960"/>
            <a:ext cx="11521440" cy="0"/>
          </a:xfrm>
          <a:prstGeom prst="line">
            <a:avLst/>
          </a:prstGeom>
          <a:noFill/>
          <a:ln w="10160">
            <a:solidFill>
              <a:srgbClr val="CBD5E1"/>
            </a:solidFill>
            <a:prstDash val="solid"/>
          </a:ln>
        </p:spPr>
      </p:sp>
      <p:sp>
        <p:nvSpPr>
          <p:cNvPr id="57" name="Text 55"/>
          <p:cNvSpPr/>
          <p:nvPr/>
        </p:nvSpPr>
        <p:spPr>
          <a:xfrm>
            <a:off x="320040" y="6601968"/>
            <a:ext cx="4754880" cy="137160"/>
          </a:xfrm>
          <a:prstGeom prst="rect">
            <a:avLst/>
          </a:prstGeom>
          <a:noFill/>
          <a:ln/>
        </p:spPr>
        <p:txBody>
          <a:bodyPr wrap="square" lIns="0" tIns="0" rIns="0" bIns="0" rtlCol="0" anchor="ctr"/>
          <a:lstStyle/>
          <a:p>
            <a:pPr indent="0" marL="0">
              <a:buNone/>
            </a:pPr>
            <a:r>
              <a:rPr lang="en-US" sz="750" dirty="0">
                <a:solidFill>
                  <a:srgbClr val="64748B"/>
                </a:solidFill>
              </a:rPr>
              <a:t>CIO preparation — working draft</a:t>
            </a:r>
            <a:endParaRPr lang="en-US" sz="750" dirty="0"/>
          </a:p>
        </p:txBody>
      </p:sp>
      <p:sp>
        <p:nvSpPr>
          <p:cNvPr id="58" name="Text 56"/>
          <p:cNvSpPr/>
          <p:nvPr/>
        </p:nvSpPr>
        <p:spPr>
          <a:xfrm>
            <a:off x="11155680" y="6601968"/>
            <a:ext cx="731520" cy="137160"/>
          </a:xfrm>
          <a:prstGeom prst="rect">
            <a:avLst/>
          </a:prstGeom>
          <a:noFill/>
          <a:ln/>
        </p:spPr>
        <p:txBody>
          <a:bodyPr wrap="square" lIns="0" tIns="0" rIns="0" bIns="0" rtlCol="0" anchor="ctr"/>
          <a:lstStyle/>
          <a:p>
            <a:pPr algn="r" indent="0" marL="0">
              <a:buNone/>
            </a:pPr>
            <a:r>
              <a:rPr lang="en-US" sz="750" dirty="0">
                <a:solidFill>
                  <a:srgbClr val="64748B"/>
                </a:solidFill>
              </a:rPr>
              <a:t>2/4</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7365D"/>
          </a:solidFill>
          <a:ln w="12700">
            <a:solidFill>
              <a:srgbClr val="17365D"/>
            </a:solidFill>
            <a:prstDash val="solid"/>
          </a:ln>
        </p:spPr>
      </p:sp>
      <p:sp>
        <p:nvSpPr>
          <p:cNvPr id="3" name="Text 1"/>
          <p:cNvSpPr/>
          <p:nvPr/>
        </p:nvSpPr>
        <p:spPr>
          <a:xfrm>
            <a:off x="320040" y="109728"/>
            <a:ext cx="8458200" cy="347472"/>
          </a:xfrm>
          <a:prstGeom prst="rect">
            <a:avLst/>
          </a:prstGeom>
          <a:noFill/>
          <a:ln/>
        </p:spPr>
        <p:txBody>
          <a:bodyPr wrap="square" lIns="0" tIns="0" rIns="0" bIns="0" rtlCol="0" anchor="ctr"/>
          <a:lstStyle/>
          <a:p>
            <a:pPr indent="0" marL="0">
              <a:buNone/>
            </a:pPr>
            <a:r>
              <a:rPr lang="en-US" sz="2000" b="1" dirty="0">
                <a:solidFill>
                  <a:srgbClr val="FFFFFF"/>
                </a:solidFill>
                <a:latin typeface="Aptos Display" pitchFamily="34" charset="0"/>
                <a:ea typeface="Aptos Display" pitchFamily="34" charset="-122"/>
                <a:cs typeface="Aptos Display" pitchFamily="34" charset="-120"/>
              </a:rPr>
              <a:t>3 | Technical deep dive — how the service works</a:t>
            </a:r>
            <a:endParaRPr lang="en-US" sz="2000" dirty="0"/>
          </a:p>
        </p:txBody>
      </p:sp>
      <p:sp>
        <p:nvSpPr>
          <p:cNvPr id="4" name="Text 2"/>
          <p:cNvSpPr/>
          <p:nvPr/>
        </p:nvSpPr>
        <p:spPr>
          <a:xfrm>
            <a:off x="9235440" y="182880"/>
            <a:ext cx="2651760" cy="228600"/>
          </a:xfrm>
          <a:prstGeom prst="rect">
            <a:avLst/>
          </a:prstGeom>
          <a:noFill/>
          <a:ln/>
        </p:spPr>
        <p:txBody>
          <a:bodyPr wrap="square" lIns="0" tIns="0" rIns="0" bIns="0" rtlCol="0" anchor="ctr"/>
          <a:lstStyle/>
          <a:p>
            <a:pPr algn="r" indent="0" marL="0">
              <a:buNone/>
            </a:pPr>
            <a:r>
              <a:rPr lang="en-US" sz="900" dirty="0">
                <a:solidFill>
                  <a:srgbClr val="C9D6EA"/>
                </a:solidFill>
              </a:rPr>
              <a:t>CIO briefing</a:t>
            </a:r>
            <a:endParaRPr lang="en-US" sz="900" dirty="0"/>
          </a:p>
        </p:txBody>
      </p:sp>
      <p:sp>
        <p:nvSpPr>
          <p:cNvPr id="5" name="Text 3"/>
          <p:cNvSpPr/>
          <p:nvPr/>
        </p:nvSpPr>
        <p:spPr>
          <a:xfrm>
            <a:off x="411480" y="713232"/>
            <a:ext cx="11155680" cy="310896"/>
          </a:xfrm>
          <a:prstGeom prst="rect">
            <a:avLst/>
          </a:prstGeom>
          <a:noFill/>
          <a:ln/>
        </p:spPr>
        <p:txBody>
          <a:bodyPr wrap="square" lIns="0" tIns="0" rIns="0" bIns="0" rtlCol="0" anchor="ctr"/>
          <a:lstStyle/>
          <a:p>
            <a:pPr indent="0" marL="0">
              <a:buNone/>
            </a:pPr>
            <a:r>
              <a:rPr lang="en-US" sz="1300" dirty="0">
                <a:solidFill>
                  <a:srgbClr val="404040"/>
                </a:solidFill>
              </a:rPr>
              <a:t>VectorDBaaS should be a centrally governed service model with platform-local data planes — not one central vector store and not one stack per use case.</a:t>
            </a:r>
            <a:endParaRPr lang="en-US" sz="1300" dirty="0"/>
          </a:p>
        </p:txBody>
      </p:sp>
      <p:sp>
        <p:nvSpPr>
          <p:cNvPr id="6" name="Shape 4"/>
          <p:cNvSpPr/>
          <p:nvPr/>
        </p:nvSpPr>
        <p:spPr>
          <a:xfrm>
            <a:off x="502920" y="1143000"/>
            <a:ext cx="11155680" cy="1371600"/>
          </a:xfrm>
          <a:prstGeom prst="roundRect">
            <a:avLst>
              <a:gd name="adj" fmla="val 5333"/>
            </a:avLst>
          </a:prstGeom>
          <a:solidFill>
            <a:srgbClr val="E2F0D9"/>
          </a:solidFill>
          <a:ln w="15240">
            <a:solidFill>
              <a:srgbClr val="1E7D45"/>
            </a:solidFill>
            <a:prstDash val="solid"/>
          </a:ln>
        </p:spPr>
      </p:sp>
      <p:sp>
        <p:nvSpPr>
          <p:cNvPr id="7" name="Text 5"/>
          <p:cNvSpPr/>
          <p:nvPr/>
        </p:nvSpPr>
        <p:spPr>
          <a:xfrm>
            <a:off x="731520" y="1298448"/>
            <a:ext cx="6858000" cy="228600"/>
          </a:xfrm>
          <a:prstGeom prst="rect">
            <a:avLst/>
          </a:prstGeom>
          <a:noFill/>
          <a:ln/>
        </p:spPr>
        <p:txBody>
          <a:bodyPr wrap="square" lIns="0" tIns="0" rIns="0" bIns="0" rtlCol="0" anchor="ctr"/>
          <a:lstStyle/>
          <a:p>
            <a:pPr indent="0" marL="0">
              <a:buNone/>
            </a:pPr>
            <a:r>
              <a:rPr lang="en-US" sz="1220" b="1" dirty="0">
                <a:solidFill>
                  <a:srgbClr val="1E7D45"/>
                </a:solidFill>
              </a:rPr>
              <a:t>Central control plane — service management and governance</a:t>
            </a:r>
            <a:endParaRPr lang="en-US" sz="1220" dirty="0"/>
          </a:p>
        </p:txBody>
      </p:sp>
      <p:sp>
        <p:nvSpPr>
          <p:cNvPr id="8" name="Text 6"/>
          <p:cNvSpPr/>
          <p:nvPr/>
        </p:nvSpPr>
        <p:spPr>
          <a:xfrm>
            <a:off x="777240" y="1719072"/>
            <a:ext cx="1325880" cy="384048"/>
          </a:xfrm>
          <a:prstGeom prst="rect">
            <a:avLst/>
          </a:prstGeom>
          <a:solidFill>
            <a:srgbClr val="FFFFFF"/>
          </a:solidFill>
          <a:ln w="12700">
            <a:solidFill>
              <a:srgbClr val="1E7D45"/>
            </a:solidFill>
          </a:ln>
        </p:spPr>
        <p:txBody>
          <a:bodyPr wrap="square" lIns="254" tIns="254" rIns="254" bIns="254" rtlCol="0" anchor="ctr">
            <a:normAutofit/>
          </a:bodyPr>
          <a:lstStyle/>
          <a:p>
            <a:pPr algn="ctr" indent="0" marL="0">
              <a:buNone/>
            </a:pPr>
            <a:r>
              <a:rPr lang="en-US" sz="920" b="1" dirty="0">
                <a:solidFill>
                  <a:srgbClr val="1E7D45"/>
                </a:solidFill>
              </a:rPr>
              <a:t>Service registry</a:t>
            </a:r>
            <a:endParaRPr lang="en-US" sz="920" dirty="0"/>
          </a:p>
        </p:txBody>
      </p:sp>
      <p:sp>
        <p:nvSpPr>
          <p:cNvPr id="9" name="Text 7"/>
          <p:cNvSpPr/>
          <p:nvPr/>
        </p:nvSpPr>
        <p:spPr>
          <a:xfrm>
            <a:off x="2359152" y="1719072"/>
            <a:ext cx="1325880" cy="384048"/>
          </a:xfrm>
          <a:prstGeom prst="rect">
            <a:avLst/>
          </a:prstGeom>
          <a:solidFill>
            <a:srgbClr val="FFFFFF"/>
          </a:solidFill>
          <a:ln w="12700">
            <a:solidFill>
              <a:srgbClr val="1E7D45"/>
            </a:solidFill>
          </a:ln>
        </p:spPr>
        <p:txBody>
          <a:bodyPr wrap="square" lIns="254" tIns="254" rIns="254" bIns="254" rtlCol="0" anchor="ctr">
            <a:normAutofit/>
          </a:bodyPr>
          <a:lstStyle/>
          <a:p>
            <a:pPr algn="ctr" indent="0" marL="0">
              <a:buNone/>
            </a:pPr>
            <a:r>
              <a:rPr lang="en-US" sz="920" b="1" dirty="0">
                <a:solidFill>
                  <a:srgbClr val="1E7D45"/>
                </a:solidFill>
              </a:rPr>
              <a:t>Collection contracts</a:t>
            </a:r>
            <a:endParaRPr lang="en-US" sz="920" dirty="0"/>
          </a:p>
        </p:txBody>
      </p:sp>
      <p:sp>
        <p:nvSpPr>
          <p:cNvPr id="10" name="Text 8"/>
          <p:cNvSpPr/>
          <p:nvPr/>
        </p:nvSpPr>
        <p:spPr>
          <a:xfrm>
            <a:off x="4069080" y="1719072"/>
            <a:ext cx="1325880" cy="384048"/>
          </a:xfrm>
          <a:prstGeom prst="rect">
            <a:avLst/>
          </a:prstGeom>
          <a:solidFill>
            <a:srgbClr val="FFFFFF"/>
          </a:solidFill>
          <a:ln w="12700">
            <a:solidFill>
              <a:srgbClr val="1E7D45"/>
            </a:solidFill>
          </a:ln>
        </p:spPr>
        <p:txBody>
          <a:bodyPr wrap="square" lIns="254" tIns="254" rIns="254" bIns="254" rtlCol="0" anchor="ctr">
            <a:normAutofit/>
          </a:bodyPr>
          <a:lstStyle/>
          <a:p>
            <a:pPr algn="ctr" indent="0" marL="0">
              <a:buNone/>
            </a:pPr>
            <a:r>
              <a:rPr lang="en-US" sz="920" b="1" dirty="0">
                <a:solidFill>
                  <a:srgbClr val="1E7D45"/>
                </a:solidFill>
              </a:rPr>
              <a:t>Embedding registry</a:t>
            </a:r>
            <a:endParaRPr lang="en-US" sz="920" dirty="0"/>
          </a:p>
        </p:txBody>
      </p:sp>
      <p:sp>
        <p:nvSpPr>
          <p:cNvPr id="11" name="Text 9"/>
          <p:cNvSpPr/>
          <p:nvPr/>
        </p:nvSpPr>
        <p:spPr>
          <a:xfrm>
            <a:off x="5715000" y="1719072"/>
            <a:ext cx="1325880" cy="384048"/>
          </a:xfrm>
          <a:prstGeom prst="rect">
            <a:avLst/>
          </a:prstGeom>
          <a:solidFill>
            <a:srgbClr val="FFFFFF"/>
          </a:solidFill>
          <a:ln w="12700">
            <a:solidFill>
              <a:srgbClr val="1E7D45"/>
            </a:solidFill>
          </a:ln>
        </p:spPr>
        <p:txBody>
          <a:bodyPr wrap="square" lIns="254" tIns="254" rIns="254" bIns="254" rtlCol="0" anchor="ctr">
            <a:normAutofit/>
          </a:bodyPr>
          <a:lstStyle/>
          <a:p>
            <a:pPr algn="ctr" indent="0" marL="0">
              <a:buNone/>
            </a:pPr>
            <a:r>
              <a:rPr lang="en-US" sz="920" b="1" dirty="0">
                <a:solidFill>
                  <a:srgbClr val="1E7D45"/>
                </a:solidFill>
              </a:rPr>
              <a:t>Lifecycle orchestration</a:t>
            </a:r>
            <a:endParaRPr lang="en-US" sz="920" dirty="0"/>
          </a:p>
        </p:txBody>
      </p:sp>
      <p:sp>
        <p:nvSpPr>
          <p:cNvPr id="12" name="Text 10"/>
          <p:cNvSpPr/>
          <p:nvPr/>
        </p:nvSpPr>
        <p:spPr>
          <a:xfrm>
            <a:off x="7635240" y="1719072"/>
            <a:ext cx="1325880" cy="384048"/>
          </a:xfrm>
          <a:prstGeom prst="rect">
            <a:avLst/>
          </a:prstGeom>
          <a:solidFill>
            <a:srgbClr val="FFFFFF"/>
          </a:solidFill>
          <a:ln w="12700">
            <a:solidFill>
              <a:srgbClr val="1E7D45"/>
            </a:solidFill>
          </a:ln>
        </p:spPr>
        <p:txBody>
          <a:bodyPr wrap="square" lIns="254" tIns="254" rIns="254" bIns="254" rtlCol="0" anchor="ctr">
            <a:normAutofit/>
          </a:bodyPr>
          <a:lstStyle/>
          <a:p>
            <a:pPr algn="ctr" indent="0" marL="0">
              <a:buNone/>
            </a:pPr>
            <a:r>
              <a:rPr lang="en-US" sz="920" b="1" dirty="0">
                <a:solidFill>
                  <a:srgbClr val="1E7D45"/>
                </a:solidFill>
              </a:rPr>
              <a:t>Lineage / catalogue</a:t>
            </a:r>
            <a:endParaRPr lang="en-US" sz="920" dirty="0"/>
          </a:p>
        </p:txBody>
      </p:sp>
      <p:sp>
        <p:nvSpPr>
          <p:cNvPr id="13" name="Text 11"/>
          <p:cNvSpPr/>
          <p:nvPr/>
        </p:nvSpPr>
        <p:spPr>
          <a:xfrm>
            <a:off x="9372600" y="1719072"/>
            <a:ext cx="1325880" cy="384048"/>
          </a:xfrm>
          <a:prstGeom prst="rect">
            <a:avLst/>
          </a:prstGeom>
          <a:solidFill>
            <a:srgbClr val="FFFFFF"/>
          </a:solidFill>
          <a:ln w="12700">
            <a:solidFill>
              <a:srgbClr val="1E7D45"/>
            </a:solidFill>
          </a:ln>
        </p:spPr>
        <p:txBody>
          <a:bodyPr wrap="square" lIns="254" tIns="254" rIns="254" bIns="254" rtlCol="0" anchor="ctr">
            <a:normAutofit/>
          </a:bodyPr>
          <a:lstStyle/>
          <a:p>
            <a:pPr algn="ctr" indent="0" marL="0">
              <a:buNone/>
            </a:pPr>
            <a:r>
              <a:rPr lang="en-US" sz="920" b="1" dirty="0">
                <a:solidFill>
                  <a:srgbClr val="1E7D45"/>
                </a:solidFill>
              </a:rPr>
              <a:t>Observability / FinOps</a:t>
            </a:r>
            <a:endParaRPr lang="en-US" sz="920" dirty="0"/>
          </a:p>
        </p:txBody>
      </p:sp>
      <p:sp>
        <p:nvSpPr>
          <p:cNvPr id="14" name="Text 12"/>
          <p:cNvSpPr/>
          <p:nvPr/>
        </p:nvSpPr>
        <p:spPr>
          <a:xfrm>
            <a:off x="731520" y="2798064"/>
            <a:ext cx="7040880" cy="228600"/>
          </a:xfrm>
          <a:prstGeom prst="rect">
            <a:avLst/>
          </a:prstGeom>
          <a:noFill/>
          <a:ln/>
        </p:spPr>
        <p:txBody>
          <a:bodyPr wrap="square" lIns="0" tIns="0" rIns="0" bIns="0" rtlCol="0" anchor="ctr"/>
          <a:lstStyle/>
          <a:p>
            <a:pPr indent="0" marL="0">
              <a:buNone/>
            </a:pPr>
            <a:r>
              <a:rPr lang="en-US" sz="1220" b="1" dirty="0">
                <a:solidFill>
                  <a:srgbClr val="17365D"/>
                </a:solidFill>
              </a:rPr>
              <a:t>Platform-aligned data planes — where vectors are stored and searched</a:t>
            </a:r>
            <a:endParaRPr lang="en-US" sz="1220" dirty="0"/>
          </a:p>
        </p:txBody>
      </p:sp>
      <p:sp>
        <p:nvSpPr>
          <p:cNvPr id="15" name="Shape 13"/>
          <p:cNvSpPr/>
          <p:nvPr/>
        </p:nvSpPr>
        <p:spPr>
          <a:xfrm>
            <a:off x="731520" y="3154680"/>
            <a:ext cx="2926080" cy="1691640"/>
          </a:xfrm>
          <a:prstGeom prst="roundRect">
            <a:avLst>
              <a:gd name="adj" fmla="val 4324"/>
            </a:avLst>
          </a:prstGeom>
          <a:solidFill>
            <a:srgbClr val="FFFFFF"/>
          </a:solidFill>
          <a:ln w="15240">
            <a:solidFill>
              <a:srgbClr val="2F75B5"/>
            </a:solidFill>
            <a:prstDash val="solid"/>
          </a:ln>
        </p:spPr>
      </p:sp>
      <p:sp>
        <p:nvSpPr>
          <p:cNvPr id="16" name="Text 14"/>
          <p:cNvSpPr/>
          <p:nvPr/>
        </p:nvSpPr>
        <p:spPr>
          <a:xfrm>
            <a:off x="868680" y="3310128"/>
            <a:ext cx="2651760" cy="210312"/>
          </a:xfrm>
          <a:prstGeom prst="rect">
            <a:avLst/>
          </a:prstGeom>
          <a:noFill/>
          <a:ln/>
        </p:spPr>
        <p:txBody>
          <a:bodyPr wrap="square" lIns="0" tIns="0" rIns="0" bIns="0" rtlCol="0" anchor="ctr"/>
          <a:lstStyle/>
          <a:p>
            <a:pPr indent="0" marL="0">
              <a:buNone/>
            </a:pPr>
            <a:r>
              <a:rPr lang="en-US" sz="1120" b="1" dirty="0">
                <a:solidFill>
                  <a:srgbClr val="17365D"/>
                </a:solidFill>
              </a:rPr>
              <a:t>CIB data plane</a:t>
            </a:r>
            <a:endParaRPr lang="en-US" sz="1120" dirty="0"/>
          </a:p>
        </p:txBody>
      </p:sp>
      <p:sp>
        <p:nvSpPr>
          <p:cNvPr id="17" name="Text 15"/>
          <p:cNvSpPr/>
          <p:nvPr/>
        </p:nvSpPr>
        <p:spPr>
          <a:xfrm>
            <a:off x="868680" y="3611880"/>
            <a:ext cx="2651760" cy="868680"/>
          </a:xfrm>
          <a:prstGeom prst="rect">
            <a:avLst/>
          </a:prstGeom>
          <a:noFill/>
          <a:ln/>
        </p:spPr>
        <p:txBody>
          <a:bodyPr wrap="square" lIns="254" tIns="254" rIns="254" bIns="254" rtlCol="0" anchor="ctr"/>
          <a:lstStyle/>
          <a:p>
            <a:pPr indent="0" marL="0">
              <a:buNone/>
            </a:pPr>
            <a:r>
              <a:rPr lang="en-US" sz="870" dirty="0">
                <a:solidFill>
                  <a:srgbClr val="404040"/>
                </a:solidFill>
              </a:rPr>
              <a:t>Approved engine</a:t>
            </a:r>
            <a:endParaRPr lang="en-US" sz="870" dirty="0"/>
          </a:p>
          <a:p>
            <a:pPr indent="0" marL="0">
              <a:buNone/>
            </a:pPr>
            <a:r>
              <a:rPr lang="en-US" sz="870" dirty="0">
                <a:solidFill>
                  <a:srgbClr val="404040"/>
                </a:solidFill>
              </a:rPr>
              <a:t>Collections / namespaces</a:t>
            </a:r>
            <a:endParaRPr lang="en-US" sz="870" dirty="0"/>
          </a:p>
          <a:p>
            <a:pPr indent="0" marL="0">
              <a:buNone/>
            </a:pPr>
            <a:r>
              <a:rPr lang="en-US" sz="870" dirty="0">
                <a:solidFill>
                  <a:srgbClr val="404040"/>
                </a:solidFill>
              </a:rPr>
              <a:t>Runtime policy</a:t>
            </a:r>
            <a:endParaRPr lang="en-US" sz="870" dirty="0"/>
          </a:p>
          <a:p>
            <a:pPr indent="0" marL="0">
              <a:buNone/>
            </a:pPr>
            <a:r>
              <a:rPr lang="en-US" sz="870" dirty="0">
                <a:solidFill>
                  <a:srgbClr val="404040"/>
                </a:solidFill>
              </a:rPr>
              <a:t>Retrieval API</a:t>
            </a:r>
            <a:endParaRPr lang="en-US" sz="870" dirty="0"/>
          </a:p>
        </p:txBody>
      </p:sp>
      <p:sp>
        <p:nvSpPr>
          <p:cNvPr id="18" name="Text 16"/>
          <p:cNvSpPr/>
          <p:nvPr/>
        </p:nvSpPr>
        <p:spPr>
          <a:xfrm>
            <a:off x="960120"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1</a:t>
            </a:r>
            <a:endParaRPr lang="en-US" sz="920" dirty="0"/>
          </a:p>
        </p:txBody>
      </p:sp>
      <p:sp>
        <p:nvSpPr>
          <p:cNvPr id="19" name="Text 17"/>
          <p:cNvSpPr/>
          <p:nvPr/>
        </p:nvSpPr>
        <p:spPr>
          <a:xfrm>
            <a:off x="1810512"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2</a:t>
            </a:r>
            <a:endParaRPr lang="en-US" sz="920" dirty="0"/>
          </a:p>
        </p:txBody>
      </p:sp>
      <p:sp>
        <p:nvSpPr>
          <p:cNvPr id="20" name="Text 18"/>
          <p:cNvSpPr/>
          <p:nvPr/>
        </p:nvSpPr>
        <p:spPr>
          <a:xfrm>
            <a:off x="2651760"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n</a:t>
            </a:r>
            <a:endParaRPr lang="en-US" sz="920" dirty="0"/>
          </a:p>
        </p:txBody>
      </p:sp>
      <p:sp>
        <p:nvSpPr>
          <p:cNvPr id="21" name="Shape 19"/>
          <p:cNvSpPr/>
          <p:nvPr/>
        </p:nvSpPr>
        <p:spPr>
          <a:xfrm>
            <a:off x="4251960" y="3154680"/>
            <a:ext cx="2926080" cy="1691640"/>
          </a:xfrm>
          <a:prstGeom prst="roundRect">
            <a:avLst>
              <a:gd name="adj" fmla="val 4324"/>
            </a:avLst>
          </a:prstGeom>
          <a:solidFill>
            <a:srgbClr val="FFFFFF"/>
          </a:solidFill>
          <a:ln w="15240">
            <a:solidFill>
              <a:srgbClr val="2F75B5"/>
            </a:solidFill>
            <a:prstDash val="solid"/>
          </a:ln>
        </p:spPr>
      </p:sp>
      <p:sp>
        <p:nvSpPr>
          <p:cNvPr id="22" name="Text 20"/>
          <p:cNvSpPr/>
          <p:nvPr/>
        </p:nvSpPr>
        <p:spPr>
          <a:xfrm>
            <a:off x="4389120" y="3310128"/>
            <a:ext cx="2651760" cy="210312"/>
          </a:xfrm>
          <a:prstGeom prst="rect">
            <a:avLst/>
          </a:prstGeom>
          <a:noFill/>
          <a:ln/>
        </p:spPr>
        <p:txBody>
          <a:bodyPr wrap="square" lIns="0" tIns="0" rIns="0" bIns="0" rtlCol="0" anchor="ctr"/>
          <a:lstStyle/>
          <a:p>
            <a:pPr indent="0" marL="0">
              <a:buNone/>
            </a:pPr>
            <a:r>
              <a:rPr lang="en-US" sz="1120" b="1" dirty="0">
                <a:solidFill>
                  <a:srgbClr val="17365D"/>
                </a:solidFill>
              </a:rPr>
              <a:t>WPB data plane</a:t>
            </a:r>
            <a:endParaRPr lang="en-US" sz="1120" dirty="0"/>
          </a:p>
        </p:txBody>
      </p:sp>
      <p:sp>
        <p:nvSpPr>
          <p:cNvPr id="23" name="Text 21"/>
          <p:cNvSpPr/>
          <p:nvPr/>
        </p:nvSpPr>
        <p:spPr>
          <a:xfrm>
            <a:off x="4389120" y="3611880"/>
            <a:ext cx="2651760" cy="868680"/>
          </a:xfrm>
          <a:prstGeom prst="rect">
            <a:avLst/>
          </a:prstGeom>
          <a:noFill/>
          <a:ln/>
        </p:spPr>
        <p:txBody>
          <a:bodyPr wrap="square" lIns="254" tIns="254" rIns="254" bIns="254" rtlCol="0" anchor="ctr"/>
          <a:lstStyle/>
          <a:p>
            <a:pPr indent="0" marL="0">
              <a:buNone/>
            </a:pPr>
            <a:r>
              <a:rPr lang="en-US" sz="870" dirty="0">
                <a:solidFill>
                  <a:srgbClr val="404040"/>
                </a:solidFill>
              </a:rPr>
              <a:t>Approved engine</a:t>
            </a:r>
            <a:endParaRPr lang="en-US" sz="870" dirty="0"/>
          </a:p>
          <a:p>
            <a:pPr indent="0" marL="0">
              <a:buNone/>
            </a:pPr>
            <a:r>
              <a:rPr lang="en-US" sz="870" dirty="0">
                <a:solidFill>
                  <a:srgbClr val="404040"/>
                </a:solidFill>
              </a:rPr>
              <a:t>Collections / namespaces</a:t>
            </a:r>
            <a:endParaRPr lang="en-US" sz="870" dirty="0"/>
          </a:p>
          <a:p>
            <a:pPr indent="0" marL="0">
              <a:buNone/>
            </a:pPr>
            <a:r>
              <a:rPr lang="en-US" sz="870" dirty="0">
                <a:solidFill>
                  <a:srgbClr val="404040"/>
                </a:solidFill>
              </a:rPr>
              <a:t>Runtime policy</a:t>
            </a:r>
            <a:endParaRPr lang="en-US" sz="870" dirty="0"/>
          </a:p>
          <a:p>
            <a:pPr indent="0" marL="0">
              <a:buNone/>
            </a:pPr>
            <a:r>
              <a:rPr lang="en-US" sz="870" dirty="0">
                <a:solidFill>
                  <a:srgbClr val="404040"/>
                </a:solidFill>
              </a:rPr>
              <a:t>Retrieval API</a:t>
            </a:r>
            <a:endParaRPr lang="en-US" sz="870" dirty="0"/>
          </a:p>
        </p:txBody>
      </p:sp>
      <p:sp>
        <p:nvSpPr>
          <p:cNvPr id="24" name="Text 22"/>
          <p:cNvSpPr/>
          <p:nvPr/>
        </p:nvSpPr>
        <p:spPr>
          <a:xfrm>
            <a:off x="4480560"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1</a:t>
            </a:r>
            <a:endParaRPr lang="en-US" sz="920" dirty="0"/>
          </a:p>
        </p:txBody>
      </p:sp>
      <p:sp>
        <p:nvSpPr>
          <p:cNvPr id="25" name="Text 23"/>
          <p:cNvSpPr/>
          <p:nvPr/>
        </p:nvSpPr>
        <p:spPr>
          <a:xfrm>
            <a:off x="5330952"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2</a:t>
            </a:r>
            <a:endParaRPr lang="en-US" sz="920" dirty="0"/>
          </a:p>
        </p:txBody>
      </p:sp>
      <p:sp>
        <p:nvSpPr>
          <p:cNvPr id="26" name="Text 24"/>
          <p:cNvSpPr/>
          <p:nvPr/>
        </p:nvSpPr>
        <p:spPr>
          <a:xfrm>
            <a:off x="6172200"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n</a:t>
            </a:r>
            <a:endParaRPr lang="en-US" sz="920" dirty="0"/>
          </a:p>
        </p:txBody>
      </p:sp>
      <p:sp>
        <p:nvSpPr>
          <p:cNvPr id="27" name="Shape 25"/>
          <p:cNvSpPr/>
          <p:nvPr/>
        </p:nvSpPr>
        <p:spPr>
          <a:xfrm>
            <a:off x="7772400" y="3154680"/>
            <a:ext cx="2926080" cy="1691640"/>
          </a:xfrm>
          <a:prstGeom prst="roundRect">
            <a:avLst>
              <a:gd name="adj" fmla="val 4324"/>
            </a:avLst>
          </a:prstGeom>
          <a:solidFill>
            <a:srgbClr val="FFFFFF"/>
          </a:solidFill>
          <a:ln w="15240">
            <a:solidFill>
              <a:srgbClr val="2F75B5"/>
            </a:solidFill>
            <a:prstDash val="solid"/>
          </a:ln>
        </p:spPr>
      </p:sp>
      <p:sp>
        <p:nvSpPr>
          <p:cNvPr id="28" name="Text 26"/>
          <p:cNvSpPr/>
          <p:nvPr/>
        </p:nvSpPr>
        <p:spPr>
          <a:xfrm>
            <a:off x="7909560" y="3310128"/>
            <a:ext cx="2651760" cy="210312"/>
          </a:xfrm>
          <a:prstGeom prst="rect">
            <a:avLst/>
          </a:prstGeom>
          <a:noFill/>
          <a:ln/>
        </p:spPr>
        <p:txBody>
          <a:bodyPr wrap="square" lIns="0" tIns="0" rIns="0" bIns="0" rtlCol="0" anchor="ctr"/>
          <a:lstStyle/>
          <a:p>
            <a:pPr indent="0" marL="0">
              <a:buNone/>
            </a:pPr>
            <a:r>
              <a:rPr lang="en-US" sz="1120" b="1" dirty="0">
                <a:solidFill>
                  <a:srgbClr val="17365D"/>
                </a:solidFill>
              </a:rPr>
              <a:t>Other group platform</a:t>
            </a:r>
            <a:endParaRPr lang="en-US" sz="1120" dirty="0"/>
          </a:p>
        </p:txBody>
      </p:sp>
      <p:sp>
        <p:nvSpPr>
          <p:cNvPr id="29" name="Text 27"/>
          <p:cNvSpPr/>
          <p:nvPr/>
        </p:nvSpPr>
        <p:spPr>
          <a:xfrm>
            <a:off x="7909560" y="3611880"/>
            <a:ext cx="2651760" cy="868680"/>
          </a:xfrm>
          <a:prstGeom prst="rect">
            <a:avLst/>
          </a:prstGeom>
          <a:noFill/>
          <a:ln/>
        </p:spPr>
        <p:txBody>
          <a:bodyPr wrap="square" lIns="254" tIns="254" rIns="254" bIns="254" rtlCol="0" anchor="ctr"/>
          <a:lstStyle/>
          <a:p>
            <a:pPr indent="0" marL="0">
              <a:buNone/>
            </a:pPr>
            <a:r>
              <a:rPr lang="en-US" sz="870" dirty="0">
                <a:solidFill>
                  <a:srgbClr val="404040"/>
                </a:solidFill>
              </a:rPr>
              <a:t>Approved engine</a:t>
            </a:r>
            <a:endParaRPr lang="en-US" sz="870" dirty="0"/>
          </a:p>
          <a:p>
            <a:pPr indent="0" marL="0">
              <a:buNone/>
            </a:pPr>
            <a:r>
              <a:rPr lang="en-US" sz="870" dirty="0">
                <a:solidFill>
                  <a:srgbClr val="404040"/>
                </a:solidFill>
              </a:rPr>
              <a:t>Collections / namespaces</a:t>
            </a:r>
            <a:endParaRPr lang="en-US" sz="870" dirty="0"/>
          </a:p>
          <a:p>
            <a:pPr indent="0" marL="0">
              <a:buNone/>
            </a:pPr>
            <a:r>
              <a:rPr lang="en-US" sz="870" dirty="0">
                <a:solidFill>
                  <a:srgbClr val="404040"/>
                </a:solidFill>
              </a:rPr>
              <a:t>Runtime policy</a:t>
            </a:r>
            <a:endParaRPr lang="en-US" sz="870" dirty="0"/>
          </a:p>
          <a:p>
            <a:pPr indent="0" marL="0">
              <a:buNone/>
            </a:pPr>
            <a:r>
              <a:rPr lang="en-US" sz="870" dirty="0">
                <a:solidFill>
                  <a:srgbClr val="404040"/>
                </a:solidFill>
              </a:rPr>
              <a:t>Retrieval API</a:t>
            </a:r>
            <a:endParaRPr lang="en-US" sz="870" dirty="0"/>
          </a:p>
        </p:txBody>
      </p:sp>
      <p:sp>
        <p:nvSpPr>
          <p:cNvPr id="30" name="Text 28"/>
          <p:cNvSpPr/>
          <p:nvPr/>
        </p:nvSpPr>
        <p:spPr>
          <a:xfrm>
            <a:off x="8001000"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1</a:t>
            </a:r>
            <a:endParaRPr lang="en-US" sz="920" dirty="0"/>
          </a:p>
        </p:txBody>
      </p:sp>
      <p:sp>
        <p:nvSpPr>
          <p:cNvPr id="31" name="Text 29"/>
          <p:cNvSpPr/>
          <p:nvPr/>
        </p:nvSpPr>
        <p:spPr>
          <a:xfrm>
            <a:off x="8851392"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2</a:t>
            </a:r>
            <a:endParaRPr lang="en-US" sz="920" dirty="0"/>
          </a:p>
        </p:txBody>
      </p:sp>
      <p:sp>
        <p:nvSpPr>
          <p:cNvPr id="32" name="Text 30"/>
          <p:cNvSpPr/>
          <p:nvPr/>
        </p:nvSpPr>
        <p:spPr>
          <a:xfrm>
            <a:off x="9692640" y="4526280"/>
            <a:ext cx="731520" cy="256032"/>
          </a:xfrm>
          <a:prstGeom prst="rect">
            <a:avLst/>
          </a:prstGeom>
          <a:solidFill>
            <a:srgbClr val="D9EAF7"/>
          </a:solidFill>
          <a:ln w="12700">
            <a:solidFill>
              <a:srgbClr val="2F75B5"/>
            </a:solidFill>
          </a:ln>
        </p:spPr>
        <p:txBody>
          <a:bodyPr wrap="square" lIns="254" tIns="254" rIns="254" bIns="254" rtlCol="0" anchor="ctr">
            <a:normAutofit/>
          </a:bodyPr>
          <a:lstStyle/>
          <a:p>
            <a:pPr algn="ctr" indent="0" marL="0">
              <a:buNone/>
            </a:pPr>
            <a:r>
              <a:rPr lang="en-US" sz="920" b="1" dirty="0">
                <a:solidFill>
                  <a:srgbClr val="17365D"/>
                </a:solidFill>
              </a:rPr>
              <a:t>UC n</a:t>
            </a:r>
            <a:endParaRPr lang="en-US" sz="920" dirty="0"/>
          </a:p>
        </p:txBody>
      </p:sp>
      <p:sp>
        <p:nvSpPr>
          <p:cNvPr id="33" name="Shape 31"/>
          <p:cNvSpPr/>
          <p:nvPr/>
        </p:nvSpPr>
        <p:spPr>
          <a:xfrm>
            <a:off x="2194560" y="2514600"/>
            <a:ext cx="0" cy="640080"/>
          </a:xfrm>
          <a:prstGeom prst="line">
            <a:avLst/>
          </a:prstGeom>
          <a:noFill/>
          <a:ln w="17780">
            <a:solidFill>
              <a:srgbClr val="1E7D45"/>
            </a:solidFill>
            <a:prstDash val="solid"/>
            <a:headEnd type="none"/>
            <a:tailEnd type="triangle"/>
          </a:ln>
        </p:spPr>
      </p:sp>
      <p:sp>
        <p:nvSpPr>
          <p:cNvPr id="34" name="Shape 32"/>
          <p:cNvSpPr/>
          <p:nvPr/>
        </p:nvSpPr>
        <p:spPr>
          <a:xfrm>
            <a:off x="5715000" y="2514600"/>
            <a:ext cx="0" cy="640080"/>
          </a:xfrm>
          <a:prstGeom prst="line">
            <a:avLst/>
          </a:prstGeom>
          <a:noFill/>
          <a:ln w="17780">
            <a:solidFill>
              <a:srgbClr val="1E7D45"/>
            </a:solidFill>
            <a:prstDash val="solid"/>
            <a:headEnd type="none"/>
            <a:tailEnd type="triangle"/>
          </a:ln>
        </p:spPr>
      </p:sp>
      <p:sp>
        <p:nvSpPr>
          <p:cNvPr id="35" name="Shape 33"/>
          <p:cNvSpPr/>
          <p:nvPr/>
        </p:nvSpPr>
        <p:spPr>
          <a:xfrm>
            <a:off x="9235440" y="2514600"/>
            <a:ext cx="0" cy="640080"/>
          </a:xfrm>
          <a:prstGeom prst="line">
            <a:avLst/>
          </a:prstGeom>
          <a:noFill/>
          <a:ln w="17780">
            <a:solidFill>
              <a:srgbClr val="1E7D45"/>
            </a:solidFill>
            <a:prstDash val="solid"/>
            <a:headEnd type="none"/>
            <a:tailEnd type="triangle"/>
          </a:ln>
        </p:spPr>
      </p:sp>
      <p:sp>
        <p:nvSpPr>
          <p:cNvPr id="36" name="Shape 34"/>
          <p:cNvSpPr/>
          <p:nvPr/>
        </p:nvSpPr>
        <p:spPr>
          <a:xfrm>
            <a:off x="731520" y="5230368"/>
            <a:ext cx="10287000" cy="713232"/>
          </a:xfrm>
          <a:prstGeom prst="roundRect">
            <a:avLst>
              <a:gd name="adj" fmla="val 10256"/>
            </a:avLst>
          </a:prstGeom>
          <a:solidFill>
            <a:srgbClr val="D9EAF7"/>
          </a:solidFill>
          <a:ln w="12700">
            <a:solidFill>
              <a:srgbClr val="2F75B5"/>
            </a:solidFill>
            <a:prstDash val="solid"/>
          </a:ln>
        </p:spPr>
      </p:sp>
      <p:sp>
        <p:nvSpPr>
          <p:cNvPr id="37" name="Text 35"/>
          <p:cNvSpPr/>
          <p:nvPr/>
        </p:nvSpPr>
        <p:spPr>
          <a:xfrm>
            <a:off x="914400" y="5440680"/>
            <a:ext cx="9921240" cy="228600"/>
          </a:xfrm>
          <a:prstGeom prst="rect">
            <a:avLst/>
          </a:prstGeom>
          <a:noFill/>
          <a:ln/>
        </p:spPr>
        <p:txBody>
          <a:bodyPr wrap="square" lIns="0" tIns="0" rIns="0" bIns="0" rtlCol="0" anchor="ctr"/>
          <a:lstStyle/>
          <a:p>
            <a:pPr algn="ctr" indent="0" marL="0">
              <a:buNone/>
            </a:pPr>
            <a:r>
              <a:rPr lang="en-US" sz="1050" b="1" dirty="0">
                <a:solidFill>
                  <a:srgbClr val="17365D"/>
                </a:solidFill>
              </a:rPr>
              <a:t>Access model: direct runtime retrieval for RAG / agents  |  Fabric-published semantic and vector-derived products for BI / analytical consumers</a:t>
            </a:r>
            <a:endParaRPr lang="en-US" sz="1050" dirty="0"/>
          </a:p>
        </p:txBody>
      </p:sp>
      <p:sp>
        <p:nvSpPr>
          <p:cNvPr id="38" name="Text 36"/>
          <p:cNvSpPr/>
          <p:nvPr/>
        </p:nvSpPr>
        <p:spPr>
          <a:xfrm>
            <a:off x="777240" y="6080760"/>
            <a:ext cx="10515600" cy="292608"/>
          </a:xfrm>
          <a:prstGeom prst="rect">
            <a:avLst/>
          </a:prstGeom>
          <a:noFill/>
          <a:ln/>
        </p:spPr>
        <p:txBody>
          <a:bodyPr wrap="square" lIns="0" tIns="0" rIns="0" bIns="0" rtlCol="0" anchor="ctr"/>
          <a:lstStyle/>
          <a:p>
            <a:pPr indent="0" marL="0">
              <a:buNone/>
            </a:pPr>
            <a:r>
              <a:rPr lang="en-US" sz="1060" b="1" dirty="0">
                <a:solidFill>
                  <a:srgbClr val="C55A11"/>
                </a:solidFill>
              </a:rPr>
              <a:t>Core design decision: use logical separation by collection / tenant inside platform data planes; create separate physical vector instances only for residency, security boundary, or scale reasons.</a:t>
            </a:r>
            <a:endParaRPr lang="en-US" sz="1060" dirty="0"/>
          </a:p>
        </p:txBody>
      </p:sp>
      <p:sp>
        <p:nvSpPr>
          <p:cNvPr id="39" name="Shape 37"/>
          <p:cNvSpPr/>
          <p:nvPr/>
        </p:nvSpPr>
        <p:spPr>
          <a:xfrm>
            <a:off x="320040" y="6537960"/>
            <a:ext cx="11521440" cy="0"/>
          </a:xfrm>
          <a:prstGeom prst="line">
            <a:avLst/>
          </a:prstGeom>
          <a:noFill/>
          <a:ln w="10160">
            <a:solidFill>
              <a:srgbClr val="CBD5E1"/>
            </a:solidFill>
            <a:prstDash val="solid"/>
          </a:ln>
        </p:spPr>
      </p:sp>
      <p:sp>
        <p:nvSpPr>
          <p:cNvPr id="40" name="Text 38"/>
          <p:cNvSpPr/>
          <p:nvPr/>
        </p:nvSpPr>
        <p:spPr>
          <a:xfrm>
            <a:off x="320040" y="6601968"/>
            <a:ext cx="4754880" cy="137160"/>
          </a:xfrm>
          <a:prstGeom prst="rect">
            <a:avLst/>
          </a:prstGeom>
          <a:noFill/>
          <a:ln/>
        </p:spPr>
        <p:txBody>
          <a:bodyPr wrap="square" lIns="0" tIns="0" rIns="0" bIns="0" rtlCol="0" anchor="ctr"/>
          <a:lstStyle/>
          <a:p>
            <a:pPr indent="0" marL="0">
              <a:buNone/>
            </a:pPr>
            <a:r>
              <a:rPr lang="en-US" sz="750" dirty="0">
                <a:solidFill>
                  <a:srgbClr val="64748B"/>
                </a:solidFill>
              </a:rPr>
              <a:t>CIO preparation — working draft</a:t>
            </a:r>
            <a:endParaRPr lang="en-US" sz="750" dirty="0"/>
          </a:p>
        </p:txBody>
      </p:sp>
      <p:sp>
        <p:nvSpPr>
          <p:cNvPr id="41" name="Text 39"/>
          <p:cNvSpPr/>
          <p:nvPr/>
        </p:nvSpPr>
        <p:spPr>
          <a:xfrm>
            <a:off x="11155680" y="6601968"/>
            <a:ext cx="731520" cy="137160"/>
          </a:xfrm>
          <a:prstGeom prst="rect">
            <a:avLst/>
          </a:prstGeom>
          <a:noFill/>
          <a:ln/>
        </p:spPr>
        <p:txBody>
          <a:bodyPr wrap="square" lIns="0" tIns="0" rIns="0" bIns="0" rtlCol="0" anchor="ctr"/>
          <a:lstStyle/>
          <a:p>
            <a:pPr algn="r" indent="0" marL="0">
              <a:buNone/>
            </a:pPr>
            <a:r>
              <a:rPr lang="en-US" sz="750" dirty="0">
                <a:solidFill>
                  <a:srgbClr val="64748B"/>
                </a:solidFill>
              </a:rPr>
              <a:t>3/4</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17365D"/>
          </a:solidFill>
          <a:ln w="12700">
            <a:solidFill>
              <a:srgbClr val="17365D"/>
            </a:solidFill>
            <a:prstDash val="solid"/>
          </a:ln>
        </p:spPr>
      </p:sp>
      <p:sp>
        <p:nvSpPr>
          <p:cNvPr id="3" name="Text 1"/>
          <p:cNvSpPr/>
          <p:nvPr/>
        </p:nvSpPr>
        <p:spPr>
          <a:xfrm>
            <a:off x="320040" y="109728"/>
            <a:ext cx="8458200" cy="347472"/>
          </a:xfrm>
          <a:prstGeom prst="rect">
            <a:avLst/>
          </a:prstGeom>
          <a:noFill/>
          <a:ln/>
        </p:spPr>
        <p:txBody>
          <a:bodyPr wrap="square" lIns="0" tIns="0" rIns="0" bIns="0" rtlCol="0" anchor="ctr"/>
          <a:lstStyle/>
          <a:p>
            <a:pPr indent="0" marL="0">
              <a:buNone/>
            </a:pPr>
            <a:r>
              <a:rPr lang="en-US" sz="2000" b="1" dirty="0">
                <a:solidFill>
                  <a:srgbClr val="FFFFFF"/>
                </a:solidFill>
                <a:latin typeface="Aptos Display" pitchFamily="34" charset="0"/>
                <a:ea typeface="Aptos Display" pitchFamily="34" charset="-122"/>
                <a:cs typeface="Aptos Display" pitchFamily="34" charset="-120"/>
              </a:rPr>
              <a:t>4 | Top 5 asks to CTO and Chief Architect</a:t>
            </a:r>
            <a:endParaRPr lang="en-US" sz="2000" dirty="0"/>
          </a:p>
        </p:txBody>
      </p:sp>
      <p:sp>
        <p:nvSpPr>
          <p:cNvPr id="4" name="Text 2"/>
          <p:cNvSpPr/>
          <p:nvPr/>
        </p:nvSpPr>
        <p:spPr>
          <a:xfrm>
            <a:off x="9235440" y="182880"/>
            <a:ext cx="2651760" cy="228600"/>
          </a:xfrm>
          <a:prstGeom prst="rect">
            <a:avLst/>
          </a:prstGeom>
          <a:noFill/>
          <a:ln/>
        </p:spPr>
        <p:txBody>
          <a:bodyPr wrap="square" lIns="0" tIns="0" rIns="0" bIns="0" rtlCol="0" anchor="ctr"/>
          <a:lstStyle/>
          <a:p>
            <a:pPr algn="r" indent="0" marL="0">
              <a:buNone/>
            </a:pPr>
            <a:r>
              <a:rPr lang="en-US" sz="900" dirty="0">
                <a:solidFill>
                  <a:srgbClr val="C9D6EA"/>
                </a:solidFill>
              </a:rPr>
              <a:t>CIO briefing</a:t>
            </a:r>
            <a:endParaRPr lang="en-US" sz="900" dirty="0"/>
          </a:p>
        </p:txBody>
      </p:sp>
      <p:sp>
        <p:nvSpPr>
          <p:cNvPr id="5" name="Text 3"/>
          <p:cNvSpPr/>
          <p:nvPr/>
        </p:nvSpPr>
        <p:spPr>
          <a:xfrm>
            <a:off x="411480" y="713232"/>
            <a:ext cx="11155680" cy="310896"/>
          </a:xfrm>
          <a:prstGeom prst="rect">
            <a:avLst/>
          </a:prstGeom>
          <a:noFill/>
          <a:ln/>
        </p:spPr>
        <p:txBody>
          <a:bodyPr wrap="square" lIns="0" tIns="0" rIns="0" bIns="0" rtlCol="0" anchor="ctr"/>
          <a:lstStyle/>
          <a:p>
            <a:pPr indent="0" marL="0">
              <a:buNone/>
            </a:pPr>
            <a:r>
              <a:rPr lang="en-US" sz="1300" dirty="0">
                <a:solidFill>
                  <a:srgbClr val="404040"/>
                </a:solidFill>
              </a:rPr>
              <a:t>These asks turn the workstream from reference architecture into an executable shared capability plan.</a:t>
            </a:r>
            <a:endParaRPr lang="en-US" sz="1300" dirty="0"/>
          </a:p>
        </p:txBody>
      </p:sp>
      <p:sp>
        <p:nvSpPr>
          <p:cNvPr id="6" name="Shape 4"/>
          <p:cNvSpPr/>
          <p:nvPr/>
        </p:nvSpPr>
        <p:spPr>
          <a:xfrm>
            <a:off x="640080" y="1234440"/>
            <a:ext cx="10881360" cy="713232"/>
          </a:xfrm>
          <a:prstGeom prst="roundRect">
            <a:avLst>
              <a:gd name="adj" fmla="val 10256"/>
            </a:avLst>
          </a:prstGeom>
          <a:solidFill>
            <a:srgbClr val="FFFFFF"/>
          </a:solidFill>
          <a:ln w="12700">
            <a:solidFill>
              <a:srgbClr val="C7D2E1"/>
            </a:solidFill>
            <a:prstDash val="solid"/>
          </a:ln>
        </p:spPr>
      </p:sp>
      <p:sp>
        <p:nvSpPr>
          <p:cNvPr id="7" name="Shape 5"/>
          <p:cNvSpPr/>
          <p:nvPr/>
        </p:nvSpPr>
        <p:spPr>
          <a:xfrm>
            <a:off x="868680" y="1389888"/>
            <a:ext cx="402336" cy="402336"/>
          </a:xfrm>
          <a:prstGeom prst="ellipse">
            <a:avLst/>
          </a:prstGeom>
          <a:solidFill>
            <a:srgbClr val="17365D"/>
          </a:solidFill>
          <a:ln w="12700">
            <a:solidFill>
              <a:srgbClr val="17365D"/>
            </a:solidFill>
            <a:prstDash val="solid"/>
          </a:ln>
        </p:spPr>
      </p:sp>
      <p:sp>
        <p:nvSpPr>
          <p:cNvPr id="8" name="Text 6"/>
          <p:cNvSpPr/>
          <p:nvPr/>
        </p:nvSpPr>
        <p:spPr>
          <a:xfrm>
            <a:off x="868680" y="1453896"/>
            <a:ext cx="402336" cy="13716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9" name="Text 7"/>
          <p:cNvSpPr/>
          <p:nvPr/>
        </p:nvSpPr>
        <p:spPr>
          <a:xfrm>
            <a:off x="1481328" y="1380744"/>
            <a:ext cx="4023360" cy="201168"/>
          </a:xfrm>
          <a:prstGeom prst="rect">
            <a:avLst/>
          </a:prstGeom>
          <a:noFill/>
          <a:ln/>
        </p:spPr>
        <p:txBody>
          <a:bodyPr wrap="square" lIns="0" tIns="0" rIns="0" bIns="0" rtlCol="0" anchor="ctr"/>
          <a:lstStyle/>
          <a:p>
            <a:pPr indent="0" marL="0">
              <a:buNone/>
            </a:pPr>
            <a:r>
              <a:rPr lang="en-US" sz="1120" b="1" dirty="0">
                <a:solidFill>
                  <a:srgbClr val="17365D"/>
                </a:solidFill>
              </a:rPr>
              <a:t>Endorse the target operating shape</a:t>
            </a:r>
            <a:endParaRPr lang="en-US" sz="1120" dirty="0"/>
          </a:p>
        </p:txBody>
      </p:sp>
      <p:sp>
        <p:nvSpPr>
          <p:cNvPr id="10" name="Text 8"/>
          <p:cNvSpPr/>
          <p:nvPr/>
        </p:nvSpPr>
        <p:spPr>
          <a:xfrm>
            <a:off x="1481328" y="1636776"/>
            <a:ext cx="9601200" cy="201168"/>
          </a:xfrm>
          <a:prstGeom prst="rect">
            <a:avLst/>
          </a:prstGeom>
          <a:noFill/>
          <a:ln/>
        </p:spPr>
        <p:txBody>
          <a:bodyPr wrap="square" lIns="0" tIns="0" rIns="0" bIns="0" rtlCol="0" anchor="ctr">
            <a:normAutofit/>
          </a:bodyPr>
          <a:lstStyle/>
          <a:p>
            <a:pPr indent="0" marL="0">
              <a:buNone/>
            </a:pPr>
            <a:r>
              <a:rPr lang="en-US" sz="920" dirty="0">
                <a:solidFill>
                  <a:srgbClr val="404040"/>
                </a:solidFill>
              </a:rPr>
              <a:t>Central control plane, platform-aligned data planes, dual access model and explicit service boundary.</a:t>
            </a:r>
            <a:endParaRPr lang="en-US" sz="920" dirty="0"/>
          </a:p>
        </p:txBody>
      </p:sp>
      <p:sp>
        <p:nvSpPr>
          <p:cNvPr id="11" name="Shape 9"/>
          <p:cNvSpPr/>
          <p:nvPr/>
        </p:nvSpPr>
        <p:spPr>
          <a:xfrm>
            <a:off x="640080" y="2057400"/>
            <a:ext cx="10881360" cy="713232"/>
          </a:xfrm>
          <a:prstGeom prst="roundRect">
            <a:avLst>
              <a:gd name="adj" fmla="val 10256"/>
            </a:avLst>
          </a:prstGeom>
          <a:solidFill>
            <a:srgbClr val="F9FBFD"/>
          </a:solidFill>
          <a:ln w="12700">
            <a:solidFill>
              <a:srgbClr val="C7D2E1"/>
            </a:solidFill>
            <a:prstDash val="solid"/>
          </a:ln>
        </p:spPr>
      </p:sp>
      <p:sp>
        <p:nvSpPr>
          <p:cNvPr id="12" name="Shape 10"/>
          <p:cNvSpPr/>
          <p:nvPr/>
        </p:nvSpPr>
        <p:spPr>
          <a:xfrm>
            <a:off x="868680" y="2212848"/>
            <a:ext cx="402336" cy="402336"/>
          </a:xfrm>
          <a:prstGeom prst="ellipse">
            <a:avLst/>
          </a:prstGeom>
          <a:solidFill>
            <a:srgbClr val="17365D"/>
          </a:solidFill>
          <a:ln w="12700">
            <a:solidFill>
              <a:srgbClr val="17365D"/>
            </a:solidFill>
            <a:prstDash val="solid"/>
          </a:ln>
        </p:spPr>
      </p:sp>
      <p:sp>
        <p:nvSpPr>
          <p:cNvPr id="13" name="Text 11"/>
          <p:cNvSpPr/>
          <p:nvPr/>
        </p:nvSpPr>
        <p:spPr>
          <a:xfrm>
            <a:off x="868680" y="2276856"/>
            <a:ext cx="402336" cy="13716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2"/>
          <p:cNvSpPr/>
          <p:nvPr/>
        </p:nvSpPr>
        <p:spPr>
          <a:xfrm>
            <a:off x="1481328" y="2203704"/>
            <a:ext cx="4023360" cy="201168"/>
          </a:xfrm>
          <a:prstGeom prst="rect">
            <a:avLst/>
          </a:prstGeom>
          <a:noFill/>
          <a:ln/>
        </p:spPr>
        <p:txBody>
          <a:bodyPr wrap="square" lIns="0" tIns="0" rIns="0" bIns="0" rtlCol="0" anchor="ctr"/>
          <a:lstStyle/>
          <a:p>
            <a:pPr indent="0" marL="0">
              <a:buNone/>
            </a:pPr>
            <a:r>
              <a:rPr lang="en-US" sz="1120" b="1" dirty="0">
                <a:solidFill>
                  <a:srgbClr val="17365D"/>
                </a:solidFill>
              </a:rPr>
              <a:t>Select the reference platform and MVP tenant</a:t>
            </a:r>
            <a:endParaRPr lang="en-US" sz="1120" dirty="0"/>
          </a:p>
        </p:txBody>
      </p:sp>
      <p:sp>
        <p:nvSpPr>
          <p:cNvPr id="15" name="Text 13"/>
          <p:cNvSpPr/>
          <p:nvPr/>
        </p:nvSpPr>
        <p:spPr>
          <a:xfrm>
            <a:off x="1481328" y="2459736"/>
            <a:ext cx="9601200" cy="201168"/>
          </a:xfrm>
          <a:prstGeom prst="rect">
            <a:avLst/>
          </a:prstGeom>
          <a:noFill/>
          <a:ln/>
        </p:spPr>
        <p:txBody>
          <a:bodyPr wrap="square" lIns="0" tIns="0" rIns="0" bIns="0" rtlCol="0" anchor="ctr">
            <a:normAutofit/>
          </a:bodyPr>
          <a:lstStyle/>
          <a:p>
            <a:pPr indent="0" marL="0">
              <a:buNone/>
            </a:pPr>
            <a:r>
              <a:rPr lang="en-US" sz="920" dirty="0">
                <a:solidFill>
                  <a:srgbClr val="404040"/>
                </a:solidFill>
              </a:rPr>
              <a:t>Choose the first data platform and use case to validate the pattern; avoid parallel pilots too early.</a:t>
            </a:r>
            <a:endParaRPr lang="en-US" sz="920" dirty="0"/>
          </a:p>
        </p:txBody>
      </p:sp>
      <p:sp>
        <p:nvSpPr>
          <p:cNvPr id="16" name="Shape 14"/>
          <p:cNvSpPr/>
          <p:nvPr/>
        </p:nvSpPr>
        <p:spPr>
          <a:xfrm>
            <a:off x="640080" y="2880360"/>
            <a:ext cx="10881360" cy="713232"/>
          </a:xfrm>
          <a:prstGeom prst="roundRect">
            <a:avLst>
              <a:gd name="adj" fmla="val 10256"/>
            </a:avLst>
          </a:prstGeom>
          <a:solidFill>
            <a:srgbClr val="FFFFFF"/>
          </a:solidFill>
          <a:ln w="12700">
            <a:solidFill>
              <a:srgbClr val="C7D2E1"/>
            </a:solidFill>
            <a:prstDash val="solid"/>
          </a:ln>
        </p:spPr>
      </p:sp>
      <p:sp>
        <p:nvSpPr>
          <p:cNvPr id="17" name="Shape 15"/>
          <p:cNvSpPr/>
          <p:nvPr/>
        </p:nvSpPr>
        <p:spPr>
          <a:xfrm>
            <a:off x="868680" y="3035808"/>
            <a:ext cx="402336" cy="402336"/>
          </a:xfrm>
          <a:prstGeom prst="ellipse">
            <a:avLst/>
          </a:prstGeom>
          <a:solidFill>
            <a:srgbClr val="17365D"/>
          </a:solidFill>
          <a:ln w="12700">
            <a:solidFill>
              <a:srgbClr val="17365D"/>
            </a:solidFill>
            <a:prstDash val="solid"/>
          </a:ln>
        </p:spPr>
      </p:sp>
      <p:sp>
        <p:nvSpPr>
          <p:cNvPr id="18" name="Text 16"/>
          <p:cNvSpPr/>
          <p:nvPr/>
        </p:nvSpPr>
        <p:spPr>
          <a:xfrm>
            <a:off x="868680" y="3099816"/>
            <a:ext cx="402336" cy="13716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9" name="Text 17"/>
          <p:cNvSpPr/>
          <p:nvPr/>
        </p:nvSpPr>
        <p:spPr>
          <a:xfrm>
            <a:off x="1481328" y="3026664"/>
            <a:ext cx="4023360" cy="201168"/>
          </a:xfrm>
          <a:prstGeom prst="rect">
            <a:avLst/>
          </a:prstGeom>
          <a:noFill/>
          <a:ln/>
        </p:spPr>
        <p:txBody>
          <a:bodyPr wrap="square" lIns="0" tIns="0" rIns="0" bIns="0" rtlCol="0" anchor="ctr"/>
          <a:lstStyle/>
          <a:p>
            <a:pPr indent="0" marL="0">
              <a:buNone/>
            </a:pPr>
            <a:r>
              <a:rPr lang="en-US" sz="1120" b="1" dirty="0">
                <a:solidFill>
                  <a:srgbClr val="17365D"/>
                </a:solidFill>
              </a:rPr>
              <a:t>Secure the minimum delivery capacity</a:t>
            </a:r>
            <a:endParaRPr lang="en-US" sz="1120" dirty="0"/>
          </a:p>
        </p:txBody>
      </p:sp>
      <p:sp>
        <p:nvSpPr>
          <p:cNvPr id="20" name="Text 18"/>
          <p:cNvSpPr/>
          <p:nvPr/>
        </p:nvSpPr>
        <p:spPr>
          <a:xfrm>
            <a:off x="1481328" y="3282696"/>
            <a:ext cx="9601200" cy="201168"/>
          </a:xfrm>
          <a:prstGeom prst="rect">
            <a:avLst/>
          </a:prstGeom>
          <a:noFill/>
          <a:ln/>
        </p:spPr>
        <p:txBody>
          <a:bodyPr wrap="square" lIns="0" tIns="0" rIns="0" bIns="0" rtlCol="0" anchor="ctr">
            <a:normAutofit/>
          </a:bodyPr>
          <a:lstStyle/>
          <a:p>
            <a:pPr indent="0" marL="0">
              <a:buNone/>
            </a:pPr>
            <a:r>
              <a:rPr lang="en-US" sz="920" dirty="0">
                <a:solidFill>
                  <a:srgbClr val="404040"/>
                </a:solidFill>
              </a:rPr>
              <a:t>Named platform engineer, control-plane engineering lead, technical BA, governance support and tenant-side engineer.</a:t>
            </a:r>
            <a:endParaRPr lang="en-US" sz="920" dirty="0"/>
          </a:p>
        </p:txBody>
      </p:sp>
      <p:sp>
        <p:nvSpPr>
          <p:cNvPr id="21" name="Shape 19"/>
          <p:cNvSpPr/>
          <p:nvPr/>
        </p:nvSpPr>
        <p:spPr>
          <a:xfrm>
            <a:off x="640080" y="3703320"/>
            <a:ext cx="10881360" cy="713232"/>
          </a:xfrm>
          <a:prstGeom prst="roundRect">
            <a:avLst>
              <a:gd name="adj" fmla="val 10256"/>
            </a:avLst>
          </a:prstGeom>
          <a:solidFill>
            <a:srgbClr val="F9FBFD"/>
          </a:solidFill>
          <a:ln w="12700">
            <a:solidFill>
              <a:srgbClr val="C7D2E1"/>
            </a:solidFill>
            <a:prstDash val="solid"/>
          </a:ln>
        </p:spPr>
      </p:sp>
      <p:sp>
        <p:nvSpPr>
          <p:cNvPr id="22" name="Shape 20"/>
          <p:cNvSpPr/>
          <p:nvPr/>
        </p:nvSpPr>
        <p:spPr>
          <a:xfrm>
            <a:off x="868680" y="3858768"/>
            <a:ext cx="402336" cy="402336"/>
          </a:xfrm>
          <a:prstGeom prst="ellipse">
            <a:avLst/>
          </a:prstGeom>
          <a:solidFill>
            <a:srgbClr val="17365D"/>
          </a:solidFill>
          <a:ln w="12700">
            <a:solidFill>
              <a:srgbClr val="17365D"/>
            </a:solidFill>
            <a:prstDash val="solid"/>
          </a:ln>
        </p:spPr>
      </p:sp>
      <p:sp>
        <p:nvSpPr>
          <p:cNvPr id="23" name="Text 21"/>
          <p:cNvSpPr/>
          <p:nvPr/>
        </p:nvSpPr>
        <p:spPr>
          <a:xfrm>
            <a:off x="868680" y="3922776"/>
            <a:ext cx="402336" cy="13716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4" name="Text 22"/>
          <p:cNvSpPr/>
          <p:nvPr/>
        </p:nvSpPr>
        <p:spPr>
          <a:xfrm>
            <a:off x="1481328" y="3849624"/>
            <a:ext cx="4023360" cy="201168"/>
          </a:xfrm>
          <a:prstGeom prst="rect">
            <a:avLst/>
          </a:prstGeom>
          <a:noFill/>
          <a:ln/>
        </p:spPr>
        <p:txBody>
          <a:bodyPr wrap="square" lIns="0" tIns="0" rIns="0" bIns="0" rtlCol="0" anchor="ctr"/>
          <a:lstStyle/>
          <a:p>
            <a:pPr indent="0" marL="0">
              <a:buNone/>
            </a:pPr>
            <a:r>
              <a:rPr lang="en-US" sz="1120" b="1" dirty="0">
                <a:solidFill>
                  <a:srgbClr val="17365D"/>
                </a:solidFill>
              </a:rPr>
              <a:t>Lock the Group AI dependency</a:t>
            </a:r>
            <a:endParaRPr lang="en-US" sz="1120" dirty="0"/>
          </a:p>
        </p:txBody>
      </p:sp>
      <p:sp>
        <p:nvSpPr>
          <p:cNvPr id="25" name="Text 23"/>
          <p:cNvSpPr/>
          <p:nvPr/>
        </p:nvSpPr>
        <p:spPr>
          <a:xfrm>
            <a:off x="1481328" y="4105656"/>
            <a:ext cx="9601200" cy="201168"/>
          </a:xfrm>
          <a:prstGeom prst="rect">
            <a:avLst/>
          </a:prstGeom>
          <a:noFill/>
          <a:ln/>
        </p:spPr>
        <p:txBody>
          <a:bodyPr wrap="square" lIns="0" tIns="0" rIns="0" bIns="0" rtlCol="0" anchor="ctr">
            <a:normAutofit/>
          </a:bodyPr>
          <a:lstStyle/>
          <a:p>
            <a:pPr indent="0" marL="0">
              <a:buNone/>
            </a:pPr>
            <a:r>
              <a:rPr lang="en-US" sz="920" dirty="0">
                <a:solidFill>
                  <a:srgbClr val="404040"/>
                </a:solidFill>
              </a:rPr>
              <a:t>Approved embedding model path, MCP integration, model lifecycle ownership and refresh governance.</a:t>
            </a:r>
            <a:endParaRPr lang="en-US" sz="920" dirty="0"/>
          </a:p>
        </p:txBody>
      </p:sp>
      <p:sp>
        <p:nvSpPr>
          <p:cNvPr id="26" name="Shape 24"/>
          <p:cNvSpPr/>
          <p:nvPr/>
        </p:nvSpPr>
        <p:spPr>
          <a:xfrm>
            <a:off x="640080" y="4526280"/>
            <a:ext cx="10881360" cy="713232"/>
          </a:xfrm>
          <a:prstGeom prst="roundRect">
            <a:avLst>
              <a:gd name="adj" fmla="val 10256"/>
            </a:avLst>
          </a:prstGeom>
          <a:solidFill>
            <a:srgbClr val="FFFFFF"/>
          </a:solidFill>
          <a:ln w="12700">
            <a:solidFill>
              <a:srgbClr val="C7D2E1"/>
            </a:solidFill>
            <a:prstDash val="solid"/>
          </a:ln>
        </p:spPr>
      </p:sp>
      <p:sp>
        <p:nvSpPr>
          <p:cNvPr id="27" name="Shape 25"/>
          <p:cNvSpPr/>
          <p:nvPr/>
        </p:nvSpPr>
        <p:spPr>
          <a:xfrm>
            <a:off x="868680" y="4681728"/>
            <a:ext cx="402336" cy="402336"/>
          </a:xfrm>
          <a:prstGeom prst="ellipse">
            <a:avLst/>
          </a:prstGeom>
          <a:solidFill>
            <a:srgbClr val="17365D"/>
          </a:solidFill>
          <a:ln w="12700">
            <a:solidFill>
              <a:srgbClr val="17365D"/>
            </a:solidFill>
            <a:prstDash val="solid"/>
          </a:ln>
        </p:spPr>
      </p:sp>
      <p:sp>
        <p:nvSpPr>
          <p:cNvPr id="28" name="Text 26"/>
          <p:cNvSpPr/>
          <p:nvPr/>
        </p:nvSpPr>
        <p:spPr>
          <a:xfrm>
            <a:off x="868680" y="4745736"/>
            <a:ext cx="402336" cy="13716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9" name="Text 27"/>
          <p:cNvSpPr/>
          <p:nvPr/>
        </p:nvSpPr>
        <p:spPr>
          <a:xfrm>
            <a:off x="1481328" y="4672584"/>
            <a:ext cx="4023360" cy="201168"/>
          </a:xfrm>
          <a:prstGeom prst="rect">
            <a:avLst/>
          </a:prstGeom>
          <a:noFill/>
          <a:ln/>
        </p:spPr>
        <p:txBody>
          <a:bodyPr wrap="square" lIns="0" tIns="0" rIns="0" bIns="0" rtlCol="0" anchor="ctr"/>
          <a:lstStyle/>
          <a:p>
            <a:pPr indent="0" marL="0">
              <a:buNone/>
            </a:pPr>
            <a:r>
              <a:rPr lang="en-US" sz="1120" b="1" dirty="0">
                <a:solidFill>
                  <a:srgbClr val="17365D"/>
                </a:solidFill>
              </a:rPr>
              <a:t>Mandate use-case alignment to the workstream</a:t>
            </a:r>
            <a:endParaRPr lang="en-US" sz="1120" dirty="0"/>
          </a:p>
        </p:txBody>
      </p:sp>
      <p:sp>
        <p:nvSpPr>
          <p:cNvPr id="30" name="Text 28"/>
          <p:cNvSpPr/>
          <p:nvPr/>
        </p:nvSpPr>
        <p:spPr>
          <a:xfrm>
            <a:off x="1481328" y="4928616"/>
            <a:ext cx="9601200" cy="201168"/>
          </a:xfrm>
          <a:prstGeom prst="rect">
            <a:avLst/>
          </a:prstGeom>
          <a:noFill/>
          <a:ln/>
        </p:spPr>
        <p:txBody>
          <a:bodyPr wrap="square" lIns="0" tIns="0" rIns="0" bIns="0" rtlCol="0" anchor="ctr">
            <a:normAutofit/>
          </a:bodyPr>
          <a:lstStyle/>
          <a:p>
            <a:pPr indent="0" marL="0">
              <a:buNone/>
            </a:pPr>
            <a:r>
              <a:rPr lang="en-US" sz="920" dirty="0">
                <a:solidFill>
                  <a:srgbClr val="404040"/>
                </a:solidFill>
              </a:rPr>
              <a:t>Use cases should provide discovery artefacts and align to the reference architecture unless explicitly exempted.</a:t>
            </a:r>
            <a:endParaRPr lang="en-US" sz="920" dirty="0"/>
          </a:p>
        </p:txBody>
      </p:sp>
      <p:sp>
        <p:nvSpPr>
          <p:cNvPr id="31" name="Shape 29"/>
          <p:cNvSpPr/>
          <p:nvPr/>
        </p:nvSpPr>
        <p:spPr>
          <a:xfrm>
            <a:off x="640080" y="5715000"/>
            <a:ext cx="10881360" cy="530352"/>
          </a:xfrm>
          <a:prstGeom prst="roundRect">
            <a:avLst>
              <a:gd name="adj" fmla="val 13793"/>
            </a:avLst>
          </a:prstGeom>
          <a:solidFill>
            <a:srgbClr val="E2F0D9"/>
          </a:solidFill>
          <a:ln w="12700">
            <a:solidFill>
              <a:srgbClr val="1E7D45"/>
            </a:solidFill>
            <a:prstDash val="solid"/>
          </a:ln>
        </p:spPr>
      </p:sp>
      <p:sp>
        <p:nvSpPr>
          <p:cNvPr id="32" name="Text 30"/>
          <p:cNvSpPr/>
          <p:nvPr/>
        </p:nvSpPr>
        <p:spPr>
          <a:xfrm>
            <a:off x="868680" y="5888736"/>
            <a:ext cx="10424160" cy="164592"/>
          </a:xfrm>
          <a:prstGeom prst="rect">
            <a:avLst/>
          </a:prstGeom>
          <a:noFill/>
          <a:ln/>
        </p:spPr>
        <p:txBody>
          <a:bodyPr wrap="square" lIns="0" tIns="0" rIns="0" bIns="0" rtlCol="0" anchor="ctr"/>
          <a:lstStyle/>
          <a:p>
            <a:pPr algn="ctr" indent="0" marL="0">
              <a:buNone/>
            </a:pPr>
            <a:r>
              <a:rPr lang="en-US" sz="1020" b="1" dirty="0">
                <a:solidFill>
                  <a:srgbClr val="1E7D45"/>
                </a:solidFill>
              </a:rPr>
              <a:t>Proposed meeting outcome: agreement to proceed with Stage 0 mobilisation, with a named reference platform, candidate MVP use case and confirmed dependency owners.</a:t>
            </a:r>
            <a:endParaRPr lang="en-US" sz="1020" dirty="0"/>
          </a:p>
        </p:txBody>
      </p:sp>
      <p:sp>
        <p:nvSpPr>
          <p:cNvPr id="33" name="Shape 31"/>
          <p:cNvSpPr/>
          <p:nvPr/>
        </p:nvSpPr>
        <p:spPr>
          <a:xfrm>
            <a:off x="320040" y="6537960"/>
            <a:ext cx="11521440" cy="0"/>
          </a:xfrm>
          <a:prstGeom prst="line">
            <a:avLst/>
          </a:prstGeom>
          <a:noFill/>
          <a:ln w="10160">
            <a:solidFill>
              <a:srgbClr val="CBD5E1"/>
            </a:solidFill>
            <a:prstDash val="solid"/>
          </a:ln>
        </p:spPr>
      </p:sp>
      <p:sp>
        <p:nvSpPr>
          <p:cNvPr id="34" name="Text 32"/>
          <p:cNvSpPr/>
          <p:nvPr/>
        </p:nvSpPr>
        <p:spPr>
          <a:xfrm>
            <a:off x="320040" y="6601968"/>
            <a:ext cx="4754880" cy="137160"/>
          </a:xfrm>
          <a:prstGeom prst="rect">
            <a:avLst/>
          </a:prstGeom>
          <a:noFill/>
          <a:ln/>
        </p:spPr>
        <p:txBody>
          <a:bodyPr wrap="square" lIns="0" tIns="0" rIns="0" bIns="0" rtlCol="0" anchor="ctr"/>
          <a:lstStyle/>
          <a:p>
            <a:pPr indent="0" marL="0">
              <a:buNone/>
            </a:pPr>
            <a:r>
              <a:rPr lang="en-US" sz="750" dirty="0">
                <a:solidFill>
                  <a:srgbClr val="64748B"/>
                </a:solidFill>
              </a:rPr>
              <a:t>CIO preparation — working draft</a:t>
            </a:r>
            <a:endParaRPr lang="en-US" sz="750" dirty="0"/>
          </a:p>
        </p:txBody>
      </p:sp>
      <p:sp>
        <p:nvSpPr>
          <p:cNvPr id="35" name="Text 33"/>
          <p:cNvSpPr/>
          <p:nvPr/>
        </p:nvSpPr>
        <p:spPr>
          <a:xfrm>
            <a:off x="11155680" y="6601968"/>
            <a:ext cx="731520" cy="137160"/>
          </a:xfrm>
          <a:prstGeom prst="rect">
            <a:avLst/>
          </a:prstGeom>
          <a:noFill/>
          <a:ln/>
        </p:spPr>
        <p:txBody>
          <a:bodyPr wrap="square" lIns="0" tIns="0" rIns="0" bIns="0" rtlCol="0" anchor="ctr"/>
          <a:lstStyle/>
          <a:p>
            <a:pPr algn="r" indent="0" marL="0">
              <a:buNone/>
            </a:pPr>
            <a:r>
              <a:rPr lang="en-US" sz="750" dirty="0">
                <a:solidFill>
                  <a:srgbClr val="64748B"/>
                </a:solidFill>
              </a:rPr>
              <a:t>4/4</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AI for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Unstructured Data Workstream — CIO Briefing</dc:title>
  <dc:subject>CIO briefing preparation</dc:subject>
  <dc:creator>OpenAI</dc:creator>
  <cp:lastModifiedBy>OpenAI</cp:lastModifiedBy>
  <cp:revision>1</cp:revision>
  <dcterms:created xsi:type="dcterms:W3CDTF">2026-05-05T09:57:11Z</dcterms:created>
  <dcterms:modified xsi:type="dcterms:W3CDTF">2026-05-05T09:57:11Z</dcterms:modified>
</cp:coreProperties>
</file>