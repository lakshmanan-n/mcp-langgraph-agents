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93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 for Tech | Unstructured Data Workstream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3459"/>
                </a:solidFill>
              </a:defRPr>
            </a:pPr>
            <a:r>
              <a:t>Critical Building Blocks (What We Must Deliver)</a:t>
            </a:r>
          </a:p>
          <a:p>
            <a:pPr>
              <a:defRPr sz="1000">
                <a:solidFill>
                  <a:srgbClr val="6E7A8A"/>
                </a:solidFill>
              </a:defRPr>
            </a:pPr>
            <a:r>
              <a:t>End-state target view for the unstructured data workstream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3886200" cy="2286000"/>
          </a:xfrm>
          <a:prstGeom prst="roundRect">
            <a:avLst/>
          </a:prstGeom>
          <a:solidFill>
            <a:srgbClr val="EBF3FC"/>
          </a:solidFill>
          <a:ln w="1524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93459"/>
                </a:solidFill>
              </a:defRPr>
            </a:pPr>
            <a:r>
              <a:t>What good looks like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A reusable enterprise architecture for onboarding, processing, governing, storing, and consuming unstructured and semi-structured data for AI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Shared building blocks that multiple platforms and use cases can adopt instead of creating fragmented point solutions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A practical onboarding path from use-case demand to shared capability, gap assessment, and platform adoption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611880"/>
            <a:ext cx="3886200" cy="2011680"/>
          </a:xfrm>
          <a:prstGeom prst="roundRect">
            <a:avLst/>
          </a:prstGeom>
          <a:solidFill>
            <a:srgbClr val="FCF0F0"/>
          </a:solidFill>
          <a:ln w="15240">
            <a:solidFill>
              <a:srgbClr val="A0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93459"/>
                </a:solidFill>
              </a:defRPr>
            </a:pPr>
            <a:r>
              <a:t>Scope guardrails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Not a single monolithic unstructured platform for the whole bank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Not every adjacent capability built inside one service boundary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Not use-case-specific prompt, ranking, or workflow logic inside shared services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VectorDBaaS is one shared service within the wider building-block model, not the whole workstream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005840"/>
            <a:ext cx="7223760" cy="47548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1234440"/>
            <a:ext cx="1581912" cy="1005840"/>
          </a:xfrm>
          <a:prstGeom prst="roundRect">
            <a:avLst/>
          </a:prstGeom>
          <a:solidFill>
            <a:srgbClr val="F2F2F2"/>
          </a:solidFill>
          <a:ln w="1397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193459"/>
                </a:solidFill>
              </a:defRPr>
            </a:pPr>
            <a:r>
              <a:t>Source Domains</a:t>
            </a:r>
          </a:p>
          <a:p>
            <a:pPr>
              <a:defRPr sz="950">
                <a:solidFill>
                  <a:srgbClr val="37474F"/>
                </a:solidFill>
              </a:defRPr>
            </a:pPr>
            <a:r>
              <a:t>Docs, email, chat,</a:t>
            </a:r>
            <a:br/>
            <a:r>
              <a:t>audio, web, 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3096" y="1234440"/>
            <a:ext cx="1581912" cy="1005840"/>
          </a:xfrm>
          <a:prstGeom prst="roundRect">
            <a:avLst/>
          </a:prstGeom>
          <a:solidFill>
            <a:srgbClr val="DDEBF7"/>
          </a:solidFill>
          <a:ln w="1397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193459"/>
                </a:solidFill>
              </a:defRPr>
            </a:pPr>
            <a:r>
              <a:t>Ingestion &amp; Onboarding</a:t>
            </a:r>
          </a:p>
          <a:p>
            <a:pPr>
              <a:defRPr sz="950">
                <a:solidFill>
                  <a:srgbClr val="37474F"/>
                </a:solidFill>
              </a:defRPr>
            </a:pPr>
            <a:r>
              <a:t>Registration, connectors,</a:t>
            </a:r>
            <a:br/>
            <a:r>
              <a:t>validation,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1312" y="1234440"/>
            <a:ext cx="1581912" cy="1005840"/>
          </a:xfrm>
          <a:prstGeom prst="roundRect">
            <a:avLst/>
          </a:prstGeom>
          <a:solidFill>
            <a:srgbClr val="E2EFDA"/>
          </a:solidFill>
          <a:ln w="1397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193459"/>
                </a:solidFill>
              </a:defRPr>
            </a:pPr>
            <a:r>
              <a:t>Preparation &amp; Normalisation</a:t>
            </a:r>
          </a:p>
          <a:p>
            <a:pPr>
              <a:defRPr sz="950">
                <a:solidFill>
                  <a:srgbClr val="37474F"/>
                </a:solidFill>
              </a:defRPr>
            </a:pPr>
            <a:r>
              <a:t>Extraction, OCR/STT,</a:t>
            </a:r>
            <a:br/>
            <a:r>
              <a:t>metadata, redaction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39528" y="1234440"/>
            <a:ext cx="1581912" cy="1005840"/>
          </a:xfrm>
          <a:prstGeom prst="roundRect">
            <a:avLst/>
          </a:prstGeom>
          <a:solidFill>
            <a:srgbClr val="FFF2CC"/>
          </a:solidFill>
          <a:ln w="1397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193459"/>
                </a:solidFill>
              </a:defRPr>
            </a:pPr>
            <a:r>
              <a:t>Semantic Processing</a:t>
            </a:r>
          </a:p>
          <a:p>
            <a:pPr>
              <a:defRPr sz="950">
                <a:solidFill>
                  <a:srgbClr val="37474F"/>
                </a:solidFill>
              </a:defRPr>
            </a:pPr>
            <a:r>
              <a:t>Chunking, embeddings,</a:t>
            </a:r>
            <a:br/>
            <a:r>
              <a:t>graph enrichment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468880"/>
            <a:ext cx="1581912" cy="1005840"/>
          </a:xfrm>
          <a:prstGeom prst="roundRect">
            <a:avLst/>
          </a:prstGeom>
          <a:solidFill>
            <a:srgbClr val="EAD1DC"/>
          </a:solidFill>
          <a:ln w="1397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193459"/>
                </a:solidFill>
              </a:defRPr>
            </a:pPr>
            <a:r>
              <a:t>Governed AI Integration</a:t>
            </a:r>
          </a:p>
          <a:p>
            <a:pPr>
              <a:defRPr sz="950">
                <a:solidFill>
                  <a:srgbClr val="37474F"/>
                </a:solidFill>
              </a:defRPr>
            </a:pPr>
            <a:r>
              <a:t>Approved model access,</a:t>
            </a:r>
            <a:br/>
            <a:r>
              <a:t>MCP,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83096" y="2468880"/>
            <a:ext cx="1581912" cy="1005840"/>
          </a:xfrm>
          <a:prstGeom prst="roundRect">
            <a:avLst/>
          </a:prstGeom>
          <a:solidFill>
            <a:srgbClr val="F4CCCC"/>
          </a:solidFill>
          <a:ln w="1397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193459"/>
                </a:solidFill>
              </a:defRPr>
            </a:pPr>
            <a:r>
              <a:t>Persistence Services</a:t>
            </a:r>
          </a:p>
          <a:p>
            <a:pPr>
              <a:defRPr sz="950">
                <a:solidFill>
                  <a:srgbClr val="37474F"/>
                </a:solidFill>
              </a:defRPr>
            </a:pPr>
            <a:r>
              <a:t>Raw, metadata,</a:t>
            </a:r>
            <a:br/>
            <a:r>
              <a:t>vector, graph, cache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2468880"/>
            <a:ext cx="1581912" cy="1005840"/>
          </a:xfrm>
          <a:prstGeom prst="roundRect">
            <a:avLst/>
          </a:prstGeom>
          <a:solidFill>
            <a:srgbClr val="D9EAD3"/>
          </a:solidFill>
          <a:ln w="1397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193459"/>
                </a:solidFill>
              </a:defRPr>
            </a:pPr>
            <a:r>
              <a:t>Fabric / Data Product Access</a:t>
            </a:r>
          </a:p>
          <a:p>
            <a:pPr>
              <a:defRPr sz="950">
                <a:solidFill>
                  <a:srgbClr val="37474F"/>
                </a:solidFill>
              </a:defRPr>
            </a:pPr>
            <a:r>
              <a:t>Curated semantic /</a:t>
            </a:r>
            <a:br/>
            <a:r>
              <a:t>vector-derived products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39528" y="2468880"/>
            <a:ext cx="1581912" cy="1005840"/>
          </a:xfrm>
          <a:prstGeom prst="roundRect">
            <a:avLst/>
          </a:prstGeom>
          <a:solidFill>
            <a:srgbClr val="FCE5CD"/>
          </a:solidFill>
          <a:ln w="1397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193459"/>
                </a:solidFill>
              </a:defRPr>
            </a:pPr>
            <a:r>
              <a:t>Retrieval &amp; Consumption</a:t>
            </a:r>
          </a:p>
          <a:p>
            <a:pPr>
              <a:defRPr sz="950">
                <a:solidFill>
                  <a:srgbClr val="37474F"/>
                </a:solidFill>
              </a:defRPr>
            </a:pPr>
            <a:r>
              <a:t>APIs, assistants,</a:t>
            </a:r>
            <a:br/>
            <a:r>
              <a:t>RAG,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4023360"/>
            <a:ext cx="6492240" cy="868680"/>
          </a:xfrm>
          <a:prstGeom prst="roundRect">
            <a:avLst/>
          </a:prstGeom>
          <a:solidFill>
            <a:srgbClr val="E6E6E6"/>
          </a:solidFill>
          <a:ln w="13970">
            <a:solidFill>
              <a:srgbClr val="6E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193459"/>
                </a:solidFill>
              </a:defRPr>
            </a:pPr>
            <a:r>
              <a:t>Cross-cutting controls</a:t>
            </a:r>
          </a:p>
          <a:p>
            <a:pPr>
              <a:defRPr sz="950">
                <a:solidFill>
                  <a:srgbClr val="37474F"/>
                </a:solidFill>
              </a:defRPr>
            </a:pPr>
            <a:r>
              <a:t>Identity, policy, lineage, audit, encryption, residency, runtime entitlement, responsible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5074920"/>
            <a:ext cx="649224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17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217346"/>
                </a:solidFill>
              </a:defRPr>
            </a:pPr>
            <a:r>
              <a:t>Shared services shaped from the building blocks: connectors, metadata/provenance, policy-aware routing, retrieval services, and VectorDBaaS as one governed persistence/retrieval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A8A"/>
                </a:solidFill>
              </a:defRPr>
            </a:pPr>
            <a:r>
              <a:t>AI for Tech | Unstructured Data Workstream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93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 for Tech | Unstructured Data Workstream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3459"/>
                </a:solidFill>
              </a:defRPr>
            </a:pPr>
            <a:r>
              <a:t>Key Risks and Dependencies</a:t>
            </a:r>
          </a:p>
          <a:p>
            <a:pPr>
              <a:defRPr sz="1000">
                <a:solidFill>
                  <a:srgbClr val="6E7A8A"/>
                </a:solidFill>
              </a:defRPr>
            </a:pPr>
            <a:r>
              <a:t>Transparent view of blockers, dependencies, and proposed responses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051560"/>
          <a:ext cx="10104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828800"/>
                <a:gridCol w="2743200"/>
                <a:gridCol w="2103120"/>
                <a:gridCol w="1005840"/>
                <a:gridCol w="1188720"/>
              </a:tblGrid>
              <a:tr h="75764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1934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1934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Solution / Dependency</a:t>
                      </a:r>
                    </a:p>
                  </a:txBody>
                  <a:tcPr>
                    <a:solidFill>
                      <a:srgbClr val="1934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Why it helps</a:t>
                      </a:r>
                    </a:p>
                  </a:txBody>
                  <a:tcPr>
                    <a:solidFill>
                      <a:srgbClr val="1934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Deadline</a:t>
                      </a:r>
                    </a:p>
                  </a:txBody>
                  <a:tcPr>
                    <a:solidFill>
                      <a:srgbClr val="1934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93459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Reference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No agreed first platform for MVP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Confirm first platform and sponsor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Creates a real path to build and prove the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Near-term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CIO / platform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Embedding path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Approved model path and lifecycle not fully locked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Confirm Group AI commitment and initial model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Prevents delay in Stage 1 and avoids shadow model choices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Near-term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CTO / Group AI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Control alignment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Risk, security, privacy, audit not engaged early enough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Run control engagement in parallel from Stage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Avoids late design rework and failed approvals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Stage 0–1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Workstream + control partners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Platform capacity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Chosen platform may not provide engineering time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Commit named platform engineers for MVP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Turns roadmap into an executable plan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Near-term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Platform sponsor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Use-case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Source data, classification, and benchmark inputs may be weak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Prioritise 2–3 ready use cases and use BA-led intake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Improves MVP success and creates comparable demand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Stage 0–1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Lead architect +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Scope creep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Too many adjacent asks pulled into workstream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Enforce scope guardrails and stage gates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Protects delivery focus and keeps MVP viable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Ongoing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74F"/>
                          </a:solidFill>
                        </a:defRPr>
                      </a:pPr>
                      <a:r>
                        <a:t>Working group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A8A"/>
                </a:solidFill>
              </a:defRPr>
            </a:pPr>
            <a:r>
              <a:t>AI for Tech | Unstructured Data Workstream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93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 for Tech | Unstructured Data Workstream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3459"/>
                </a:solidFill>
              </a:defRPr>
            </a:pPr>
            <a:r>
              <a:t>Technical Deep Dive on the Solution</a:t>
            </a:r>
          </a:p>
          <a:p>
            <a:pPr>
              <a:defRPr sz="1000">
                <a:solidFill>
                  <a:srgbClr val="6E7A8A"/>
                </a:solidFill>
              </a:defRPr>
            </a:pPr>
            <a:r>
              <a:t>How the workstream architecture translates into implementable service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05840"/>
            <a:ext cx="5486400" cy="5212080"/>
          </a:xfrm>
          <a:prstGeom prst="roundRect">
            <a:avLst/>
          </a:prstGeom>
          <a:solidFill>
            <a:srgbClr val="EBF3FC"/>
          </a:solidFill>
          <a:ln w="1524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93459"/>
                </a:solidFill>
              </a:defRPr>
            </a:pPr>
            <a:r>
              <a:t>Solution shape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The workstream is defining a reference architecture made up of reusable building blocks across the full lifecycle: intake, preparation, semantic processing, governed persistence, retrieval, and publication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Each platform adopts the same logical pattern but may implement parts of it differently depending on technology, residency, and platform constraints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Shared services sit within this model where common need justifies standardisation — VectorDBaaS is one example for governed vector persistence and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005840"/>
            <a:ext cx="5577840" cy="521208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17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93459"/>
                </a:solidFill>
              </a:defRPr>
            </a:pPr>
            <a:r>
              <a:t>How it works in practice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Control-plane patterns govern contracts, approved models, metadata, lineage, observability, and lifecycle, while platform-aligned data planes run local execution where needed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Use cases should consume shared capabilities through contracts and onboarding, rather than each building isolated pipelines or storage patterns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The roadmap is deliberately phased: prove one platform and one use case first, then harden, federate, and later publish curated semantic products through Fabric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A8A"/>
                </a:solidFill>
              </a:defRPr>
            </a:pPr>
            <a:r>
              <a:t>AI for Tech | Unstructured Data Workstream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93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"/>
            <a:ext cx="11430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 for Tech | Unstructured Data Workstream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3459"/>
                </a:solidFill>
              </a:defRPr>
            </a:pPr>
            <a:r>
              <a:t>Top 5 Asks to the CTO and Chief Architect</a:t>
            </a:r>
          </a:p>
          <a:p>
            <a:pPr>
              <a:defRPr sz="1000">
                <a:solidFill>
                  <a:srgbClr val="6E7A8A"/>
                </a:solidFill>
              </a:defRPr>
            </a:pPr>
            <a:r>
              <a:t>What is needed now to turn the workstream into an executable delivery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698480" cy="4480560"/>
          </a:xfrm>
          <a:prstGeom prst="roundRect">
            <a:avLst/>
          </a:prstGeom>
          <a:solidFill>
            <a:srgbClr val="FFF4E5"/>
          </a:solidFill>
          <a:ln w="1524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93459"/>
                </a:solidFill>
              </a:defRPr>
            </a:pPr>
            <a:r>
              <a:t>Asks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Endorse the unstructured reference architecture and building-block model as the target shape for the workstream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Confirm the first reference platform and sponsor to support MVP mobilisation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Support prioritisation of 2–3 architecture-aligned use cases for early validation and onboarding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Support named engineering and governance capacity across platform teams, Group AI, and control functions</a:t>
            </a:r>
          </a:p>
          <a:p>
            <a:pPr>
              <a:defRPr sz="1100">
                <a:solidFill>
                  <a:srgbClr val="37474F"/>
                </a:solidFill>
              </a:defRPr>
            </a:pPr>
            <a:r>
              <a:t>Support the principle of shared reusable services and building blocks, rather than fragmented use-case-specific implementations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C65911"/>
                </a:solidFill>
              </a:defRPr>
            </a:pPr>
            <a:r>
              <a:t>Decision objective: move from reference architecture into a disciplined, evidence-led MVP build path for the wider unstructured workstream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A8A"/>
                </a:solidFill>
              </a:defRPr>
            </a:pPr>
            <a:r>
              <a:t>AI for Tech | Unstructured Data Workstream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