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1"/>
  </p:normalViewPr>
  <p:slideViewPr>
    <p:cSldViewPr snapToGrid="0" snapToObjects="1">
      <p:cViewPr varScale="1">
        <p:scale>
          <a:sx n="87" d="100"/>
          <a:sy n="87" d="100"/>
        </p:scale>
        <p:origin x="77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77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Executive opener. Positions Codify the Bank as an AI-enabled unstructured data processing platform delivered in Release 1. Emphasise alignment to the enterprise CIB Unstructured Data Processing Reference Architecture. Audience is CIO/CTO level — keep the narrative architecture-led, governance-forward, not engineering-heavy.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session. We will walk from the business context through our design principles and key technical choices, then into the Release 1 end-to-end architecture, and close by mapping Codify against the enterprise reference architecture to show exactly what is in scope now versus deferred to Release 2. The goal is confidence — architectural clarity, governance controls, and a clean alignment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Business Architecture to populate this slide with a short, crisp problem statement, the strategic outcome, and the stakeholder value map. Solution Architecture will pick up from the next slide with the design principles that govern how we solve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 Deterministic-First: Default to deterministic workflows (LangGraph). Stateful agents reserved for complex reasoning — ensures reproducibility, compliance traceability and operational predictability.</a:t>
            </a:r>
          </a:p>
          <a:p>
            <a:r>
              <a:t>P2 Ontology-Anchored: Entity extraction grounded in a formally maintained OWL ontology, preventing semantic drift across domains.</a:t>
            </a:r>
          </a:p>
          <a:p>
            <a:r>
              <a:t>P3 Governed AI Integration: All LLM and embedding calls routed through the shared service adapter; token metering, prompt governance and moderation applied centrally.</a:t>
            </a:r>
          </a:p>
          <a:p>
            <a:r>
              <a:t>P4 Immutable Lineage: Every artefact carries traceable lineage — system-assigned, not optional metadata.</a:t>
            </a:r>
          </a:p>
          <a:p>
            <a:r>
              <a:t>P5 HITL Control Gate: AI-generated content must pass mandatory human review before persistence or publication — regulatory non-negotiable.</a:t>
            </a:r>
          </a:p>
          <a:p>
            <a:r>
              <a:t>P6 MCP Tool Mediation: All agent-to-service calls flow through MCP Client/Server; typed tool wrappers, auth retries and OpenTelemetry tracing.</a:t>
            </a:r>
          </a:p>
          <a:p>
            <a:r>
              <a:t>P7 Fabric vs Retrieval: Fabric exposes governed analytical data products; Retrieval serves latency-sensitive interactive consumption. Complementary, not interchangeable.</a:t>
            </a:r>
          </a:p>
          <a:p>
            <a:r>
              <a:t>P8 Source-Agnostic Onboarding: Any source type via self-service connector registration; source-specific logic stays in connectors, never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card briefly — this is where architecture principles become real engineering choices.</a:t>
            </a:r>
          </a:p>
          <a:p>
            <a:endParaRPr/>
          </a:p>
          <a:p>
            <a:r>
              <a:t>1. LangGraph — chosen over ad-hoc agent frameworks for explicit state, deterministic branching, native retry semantics, and clean testability.</a:t>
            </a:r>
          </a:p>
          <a:p>
            <a:r>
              <a:t>2. MCP Gateway — enforces one governed path to every model call. Centralised safety, auth, quota and OpenTelemetry tracing.</a:t>
            </a:r>
          </a:p>
          <a:p>
            <a:r>
              <a:t>3. KG + Vector split — intentional; graph and vector solve different retrieval problems. Together they power hybrid KG-RAG.</a:t>
            </a:r>
          </a:p>
          <a:p>
            <a:r>
              <a:t>4. Neo4j on-prem — UK data-residency and sensitivity of policy taxonomy forbid commodity cloud-hosted graph DB.</a:t>
            </a:r>
          </a:p>
          <a:p>
            <a:r>
              <a:t>5. HITL gate — regulatory hard stop. Keeps humans accountable for every policy-relevant AI output.</a:t>
            </a:r>
          </a:p>
          <a:p>
            <a:r>
              <a:t>6. Ontology — OWL is the controlled vocabulary for every extractor and linker; Git-PR governed to prevent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Codify Release 1 Technical Architecture, grouped into five functional blocks read left-to-right.</a:t>
            </a:r>
          </a:p>
          <a:p>
            <a:endParaRPr/>
          </a:p>
          <a:p>
            <a:r>
              <a:t>Block 01 Document Preparation: Manual Upload via CTB Workbench (OWL→JSON-LD on the way in), Preprocessing microservice (raw document → normalised markdown with PII redaction), Chunking microservice (structure-aware, token-bounded), and the Ontology Registry (Git-PR governed OWL — the single semantic source of truth).</a:t>
            </a:r>
          </a:p>
          <a:p>
            <a:r>
              <a:t>Block 02 AI Workflow Orchestration: LangGraph Runner orchestrates four deterministic stateful workflows — ReAuthor (LLM-assisted drafting), Validation (structural + policy), the mandatory HITL Review gate, and KG+Vector Build (entity extraction + embedding).</a:t>
            </a:r>
          </a:p>
          <a:p>
            <a:r>
              <a:t>Block 03 Governed AI Integration: Every model call — without exception — routes through MCP Client → MCP Gateway → Group AI Platform. Safety &amp; Policy applies Responsible AI guardrails. No direct LLM calls from application code.</a:t>
            </a:r>
          </a:p>
          <a:p>
            <a:r>
              <a:t>Block 04 Knowledge &amp; Storage: Polyglot persistence — GCS (raw docs), BigQuery (metadata + lineage), Vector DB (embeddings), Neo4j Knowledge Graph on-prem in the UK for data residency.</a:t>
            </a:r>
          </a:p>
          <a:p>
            <a:r>
              <a:t>Block 05 Consumption: React SPA (CTB Workbench), REST APIs, hybrid KG-RAG retrieval, and HITL review UX.</a:t>
            </a:r>
          </a:p>
          <a:p>
            <a:endParaRPr/>
          </a:p>
          <a:p>
            <a:r>
              <a:t>Cross-cutting ribbon captures the non-functional concerns applied across every block. Release 1 is manual ingestion only; event-driven connectors + Fabric layer come in 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Technical Flow: the end-to-end Release 1 pipeline in nine numbered steps, grouped into three phases: PREPARE (1-3), ORCHESTRATE (4-6), PERSIST+SERVE (7-9).</a:t>
            </a:r>
          </a:p>
          <a:p>
            <a:endParaRPr/>
          </a:p>
          <a:p>
            <a:r>
              <a:t>Step 1 Manual Upload — CTB Workbench accepts the document; OWL→JSON-LD happens here.</a:t>
            </a:r>
          </a:p>
          <a:p>
            <a:r>
              <a:t>Step 2 Preprocessing — raw document normalised to markdown with PII redaction.</a:t>
            </a:r>
          </a:p>
          <a:p>
            <a:r>
              <a:t>Step 3 Chunking — structure-aware, token-bounded chunking.</a:t>
            </a:r>
          </a:p>
          <a:p>
            <a:r>
              <a:t>Step 4 ReAuthoring — LLM-assisted drafting (via MCP).</a:t>
            </a:r>
          </a:p>
          <a:p>
            <a:r>
              <a:t>Step 5 Validation — structural correctness + policy conformance.</a:t>
            </a:r>
          </a:p>
          <a:p>
            <a:r>
              <a:t>Step 6 HITL Approval — mandatory human gate. Hard stop.</a:t>
            </a:r>
          </a:p>
          <a:p>
            <a:r>
              <a:t>Step 7 KG + Embedding — entity/relation extraction and vector embedding (via MCP).</a:t>
            </a:r>
          </a:p>
          <a:p>
            <a:r>
              <a:t>Step 8 Storage — writes land across GCS, BigQuery, Vector DB and Neo4j.</a:t>
            </a:r>
          </a:p>
          <a:p>
            <a:r>
              <a:t>Step 9 Retrieval — hybrid KG-RAG query surface for consumption.</a:t>
            </a:r>
          </a:p>
          <a:p>
            <a:endParaRPr/>
          </a:p>
          <a:p>
            <a:r>
              <a:t>Three guarantees this flow delivers: (i) every AI call via MCP — one governed path; (ii) mandatory HITL approval — no ungoverned AI output; (iii) hybrid retrieval by default — graph + vector for precision and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enterprise Unstructured Data Processing reference architecture — eight lifecycle layers grouped into three planes, wrapped by a ninth cross-cutting layer for security, governance and operations.</a:t>
            </a:r>
          </a:p>
          <a:p>
            <a:endParaRPr/>
          </a:p>
          <a:p>
            <a:r>
              <a:t>• Data Plane (01-03) handles source onboarding, governed ingestion and canonical preparation.</a:t>
            </a:r>
          </a:p>
          <a:p>
            <a:r>
              <a:t>• Intelligence Plane (04-05) hosts deterministic and agentic orchestration plus the governed AI integration layer (MCP + shared model platform).</a:t>
            </a:r>
          </a:p>
          <a:p>
            <a:r>
              <a:t>• Service Plane (06-08) provides polyglot persistence, governed data-product fabric and consumption surfaces (hybrid search, RAG, APIs, enterprise apps).</a:t>
            </a:r>
          </a:p>
          <a:p>
            <a:endParaRPr/>
          </a:p>
          <a:p>
            <a:r>
              <a:t>Cross-cutting concerns — identity, policy, lineage, observability, encryption, sovereignty, HITL governance and Responsible AI — apply uniformly across every layer.</a:t>
            </a:r>
          </a:p>
          <a:p>
            <a:r>
              <a:t>Codify inherits this structure; Release 1 implements layers 01–06 and 08, with Fabric (07) deferred to Release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reference layout, now populated with Codify-specific components. Green R1 ✓ badges mark layers delivered in this release; Fabric (07) is greyed out and flagged for Release 2.</a:t>
            </a:r>
          </a:p>
          <a:p>
            <a:endParaRPr/>
          </a:p>
          <a:p>
            <a:r>
              <a:t>• 01 Source — Policy &amp; Procedure documents (Appian), Policy History (BigQuery authorised views), Ontology Schema (Git-governed OWL).</a:t>
            </a:r>
          </a:p>
          <a:p>
            <a:r>
              <a:t>• 02 Ingestion — Manual upload via CTB Workbench UI; OWL→JSON-LD conversion; landing zone on GCS. Event-driven connectors are explicitly out of scope for R1.</a:t>
            </a:r>
          </a:p>
          <a:p>
            <a:r>
              <a:t>• 03 Preparation — Preprocessing microservice (raw → structured markdown) and Chunking microservice, both triggered by the LangGraph Runner.</a:t>
            </a:r>
          </a:p>
          <a:p>
            <a:r>
              <a:t>• 04 Orchestration — LangGraph Runner hosts ReAuthor, Validation and KG/Vector workflows with the mandatory HITL gate.</a:t>
            </a:r>
          </a:p>
          <a:p>
            <a:r>
              <a:t>• 05 AI Integration — MCP Client inside each agent, MCP Server as gateway, Group AI Platform (LLM + embeddings + moderation).</a:t>
            </a:r>
          </a:p>
          <a:p>
            <a:r>
              <a:t>• 06 Persistence — GCS (content &amp; artefacts), BigQuery (operational metadata &amp; lineage), Vector DB, Neo4j on-prem Knowledge Graph.</a:t>
            </a:r>
          </a:p>
          <a:p>
            <a:r>
              <a:t>• 07 Fabric — Deliberately out of scope for R1; governed data products land in R2.</a:t>
            </a:r>
          </a:p>
          <a:p>
            <a:r>
              <a:t>• 08 Consumption — Spring Boot Backend API + React SPA, HITL review UI and KG-RAG retriever.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provides the detailed materials we prefer not to crowd into the executive narrative: full technical flow, service inventory, data lineage contracts, HITL workflow, MCP tool catalogue, NFRs and the Release 2 roadmap. Happy to dive into any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8229600"/>
          </a:xfrm>
          <a:prstGeom prst="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4114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GB" sz="1200" b="1" dirty="0">
                <a:solidFill>
                  <a:srgbClr val="D97706"/>
                </a:solidFill>
                <a:latin typeface="Calibri"/>
              </a:rPr>
              <a:t>A</a:t>
            </a:r>
            <a:r>
              <a:rPr sz="1200" b="1" i="0" dirty="0">
                <a:solidFill>
                  <a:srgbClr val="D97706"/>
                </a:solidFill>
                <a:latin typeface="Calibri"/>
              </a:rPr>
              <a:t>RCHITECTURE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429768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Codify the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429768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FFFFFF"/>
                </a:solidFill>
                <a:latin typeface="Calibri"/>
              </a:rPr>
              <a:t>Release 1 Technical</a:t>
            </a:r>
          </a:p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Aligned to the Enterprise Unstructured Data Processing Reference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914400"/>
            <a:ext cx="109728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44768" y="914400"/>
            <a:ext cx="6492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914400"/>
            <a:ext cx="6035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1" i="0">
                <a:solidFill>
                  <a:srgbClr val="0B2C4B"/>
                </a:solidFill>
                <a:latin typeface="Calibri"/>
              </a:rPr>
              <a:t>01 · 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755648"/>
            <a:ext cx="109728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44768" y="1755648"/>
            <a:ext cx="6492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755648"/>
            <a:ext cx="6035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1" i="0">
                <a:solidFill>
                  <a:srgbClr val="0B2C4B"/>
                </a:solidFill>
                <a:latin typeface="Calibri"/>
              </a:rPr>
              <a:t>02 · 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596896"/>
            <a:ext cx="109728" cy="65836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2596896"/>
            <a:ext cx="6492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596896"/>
            <a:ext cx="6035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1" i="0">
                <a:solidFill>
                  <a:srgbClr val="0B2C4B"/>
                </a:solidFill>
                <a:latin typeface="Calibri"/>
              </a:rPr>
              <a:t>03 · Preparation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438144"/>
            <a:ext cx="109728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4768" y="3438144"/>
            <a:ext cx="6492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438144"/>
            <a:ext cx="6035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1" i="0">
                <a:solidFill>
                  <a:srgbClr val="0B2C4B"/>
                </a:solidFill>
                <a:latin typeface="Calibri"/>
              </a:rPr>
              <a:t>04 ·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279392"/>
            <a:ext cx="109728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4768" y="4279392"/>
            <a:ext cx="6492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279392"/>
            <a:ext cx="6035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1" i="0">
                <a:solidFill>
                  <a:srgbClr val="0B2C4B"/>
                </a:solidFill>
                <a:latin typeface="Calibri"/>
              </a:rPr>
              <a:t>05 · AI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5120640"/>
            <a:ext cx="109728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4768" y="5120640"/>
            <a:ext cx="6492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5120640"/>
            <a:ext cx="6035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1" i="0">
                <a:solidFill>
                  <a:srgbClr val="0B2C4B"/>
                </a:solidFill>
                <a:latin typeface="Calibri"/>
              </a:rPr>
              <a:t>06 · Persistence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961888"/>
            <a:ext cx="109728" cy="658368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44768" y="5961888"/>
            <a:ext cx="6492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5961888"/>
            <a:ext cx="6035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1" i="0">
                <a:solidFill>
                  <a:srgbClr val="0B2C4B"/>
                </a:solidFill>
                <a:latin typeface="Calibri"/>
              </a:rPr>
              <a:t>07 · Consumption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1887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B2C4B"/>
                </a:solidFill>
                <a:latin typeface="Calibri"/>
              </a:rPr>
              <a:t>Objective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What we will cover in the next 30 minutes and why it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943600" cy="585216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" cy="5852160"/>
          </a:xfrm>
          <a:prstGeom prst="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53035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5303520" cy="8224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0B2C4B"/>
                </a:solidFill>
                <a:latin typeface="Calibri"/>
              </a:rPr>
              <a:t>Brief the Codify</a:t>
            </a:r>
            <a:r>
              <a:rPr lang="en-GB" sz="2200" b="1" i="0" dirty="0">
                <a:solidFill>
                  <a:srgbClr val="0B2C4B"/>
                </a:solidFill>
                <a:latin typeface="Calibri"/>
              </a:rPr>
              <a:t> the </a:t>
            </a:r>
            <a:endParaRPr sz="2200" b="1" i="0" dirty="0">
              <a:solidFill>
                <a:srgbClr val="0B2C4B"/>
              </a:solidFill>
              <a:latin typeface="Calibri"/>
            </a:endParaRPr>
          </a:p>
          <a:p>
            <a:pPr algn="l">
              <a:lnSpc>
                <a:spcPct val="120000"/>
              </a:lnSpc>
            </a:pPr>
            <a:r>
              <a:rPr sz="2200" b="1" i="0" dirty="0">
                <a:solidFill>
                  <a:srgbClr val="0B2C4B"/>
                </a:solidFill>
                <a:latin typeface="Calibri"/>
              </a:rPr>
              <a:t>Release 1 technical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5303520" cy="3200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Demonstrate alignment with the enterprise Unstructured Data Processing reference architecture, surface the non-negotiable design principles, and confirm the release scope, control points and platform choices.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766560"/>
            <a:ext cx="53035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SCOPE · Release 1  ·  Manual ingestion  ·  GCP + On-prem Neo4j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83080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AGENDA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286000"/>
            <a:ext cx="64922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6679" y="2423160"/>
            <a:ext cx="640080" cy="457200"/>
          </a:xfrm>
          <a:prstGeom prst="round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2423160"/>
            <a:ext cx="6400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59152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0B2C4B"/>
                </a:solidFill>
                <a:latin typeface="Calibri"/>
              </a:rPr>
              <a:t>Business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70048"/>
            <a:ext cx="54864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Drivers · outcomes · stakeholders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127248"/>
            <a:ext cx="64922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26679" y="3264408"/>
            <a:ext cx="640080" cy="457200"/>
          </a:xfrm>
          <a:prstGeom prst="round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3264408"/>
            <a:ext cx="6400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0B2C4B"/>
                </a:solidFill>
                <a:latin typeface="Calibri"/>
              </a:rPr>
              <a:t>Design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11296"/>
            <a:ext cx="54864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UDL-aligned non-negotiables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3968496"/>
            <a:ext cx="64922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26679" y="4105656"/>
            <a:ext cx="640080" cy="457200"/>
          </a:xfrm>
          <a:prstGeom prst="round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4105656"/>
            <a:ext cx="6400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041648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0B2C4B"/>
                </a:solidFill>
                <a:latin typeface="Calibri"/>
              </a:rPr>
              <a:t>Key Design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352544"/>
            <a:ext cx="54864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Decision · rationale · benefit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809744"/>
            <a:ext cx="64922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26679" y="4946904"/>
            <a:ext cx="640080" cy="457200"/>
          </a:xfrm>
          <a:prstGeom prst="round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79" y="4946904"/>
            <a:ext cx="6400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882896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0B2C4B"/>
                </a:solidFill>
                <a:latin typeface="Calibri"/>
              </a:rPr>
              <a:t>Technical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193792"/>
            <a:ext cx="54864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Five blocks, one governed 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650992"/>
            <a:ext cx="64922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726679" y="5788152"/>
            <a:ext cx="640080" cy="457200"/>
          </a:xfrm>
          <a:prstGeom prst="round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26679" y="5788152"/>
            <a:ext cx="6400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724144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0B2C4B"/>
                </a:solidFill>
                <a:latin typeface="Calibri"/>
              </a:rPr>
              <a:t>Technical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6035040"/>
            <a:ext cx="54864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Upload to retrieval, step-by-step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6492240"/>
            <a:ext cx="649224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726679" y="6629400"/>
            <a:ext cx="640080" cy="457200"/>
          </a:xfrm>
          <a:prstGeom prst="round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6679" y="6629400"/>
            <a:ext cx="6400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6565392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0B2C4B"/>
                </a:solidFill>
                <a:latin typeface="Calibri"/>
              </a:rPr>
              <a:t>Reference Alignment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6876288"/>
            <a:ext cx="54864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CTB mapped to the enterprise blueprint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7909560"/>
            <a:ext cx="1463040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790956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Codify the Bank · Release 1 · Technical Architecture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1887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B2C4B"/>
                </a:solidFill>
                <a:latin typeface="Calibri"/>
              </a:rP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6B7280"/>
                </a:solidFill>
                <a:latin typeface="Calibri"/>
              </a:rPr>
              <a:t>Why Codify matters — </a:t>
            </a:r>
            <a:r>
              <a:rPr lang="en-GB" sz="1400" b="0" i="0" dirty="0">
                <a:solidFill>
                  <a:srgbClr val="6B7280"/>
                </a:solidFill>
                <a:latin typeface="Calibri"/>
              </a:rPr>
              <a:t>TBC</a:t>
            </a:r>
            <a:endParaRPr sz="14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3441680" cy="585216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2801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1" dirty="0">
                <a:solidFill>
                  <a:srgbClr val="6B7280"/>
                </a:solidFill>
                <a:latin typeface="Calibri"/>
              </a:rPr>
              <a:t>[ Placeholder — Business Architecture to populate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4206240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4904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2C4B"/>
                </a:solidFill>
                <a:latin typeface="Calibri"/>
              </a:rPr>
              <a:t>Business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2743200"/>
            <a:ext cx="4206240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23560" y="3017520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60" y="30175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74904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2C4B"/>
                </a:solidFill>
                <a:latin typeface="Calibri"/>
              </a:rPr>
              <a:t>Strategic 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2743200"/>
            <a:ext cx="4206240" cy="4389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0" y="3017520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301752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74904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B2C4B"/>
                </a:solidFill>
                <a:latin typeface="Calibri"/>
              </a:rPr>
              <a:t>Stakeholders &amp;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7909560"/>
            <a:ext cx="1463040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790956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Codify the Bank · Release 1 · Technical Architecture Briefing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8213"/>
            <a:ext cx="11887200" cy="49859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en-GB" sz="3000" b="1" i="0" dirty="0">
                <a:solidFill>
                  <a:srgbClr val="0B2C4B"/>
                </a:solidFill>
                <a:latin typeface="Calibri"/>
              </a:rPr>
              <a:t>Unstructured Data Processing - </a:t>
            </a:r>
            <a:r>
              <a:rPr sz="3000" b="1" i="0" dirty="0">
                <a:solidFill>
                  <a:srgbClr val="0B2C4B"/>
                </a:solidFill>
                <a:latin typeface="Calibri"/>
              </a:rPr>
              <a:t>Architecture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Eight non-negotiables — each anchored to a layer of the UDL reference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255264" cy="1280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640080" cy="4114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Deterministic-First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Default to deterministic workflows; agentic only where reasoning is essential.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77056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UDL ·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9352" y="1600200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59352" y="1600200"/>
            <a:ext cx="3255264" cy="128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33672" y="1947672"/>
            <a:ext cx="640080" cy="4114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33672" y="1947672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2514600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Ontology-Anchored Semantics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3383280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All entity extraction grounded in a formally maintained OWL ontology.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3877056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33672" y="3968496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alibri"/>
              </a:rPr>
              <a:t>UDL · Preparation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4" y="1600200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15784" y="1600200"/>
            <a:ext cx="3255264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90104" y="1947672"/>
            <a:ext cx="6400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0104" y="1947672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2514600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Governed AI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3383280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LLM and embedding calls routed through a shared adapter — metered and moderated.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0104" y="3877056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968496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UDL · AI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72216" y="1600200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872216" y="1600200"/>
            <a:ext cx="3255264" cy="12801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146536" y="1947672"/>
            <a:ext cx="640080" cy="41148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146536" y="1947672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46536" y="2514600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Immutable Lineage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6536" y="3383280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Every artefact carries traceable lineage — not optional metadata.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46536" y="3877056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46536" y="3968496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UDL · Persistence + Fabric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718304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2920" y="4718304"/>
            <a:ext cx="3255264" cy="128016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" y="5065776"/>
            <a:ext cx="640080" cy="411480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065776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32704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Human-in-the-Loop Control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501384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Mandatory SME approval before any AI output enters the KG or Vector store.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6995160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7086600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UDL · Orchestration + Governance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59352" y="4718304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959352" y="4718304"/>
            <a:ext cx="3255264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233672" y="5065776"/>
            <a:ext cx="6400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33672" y="5065776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33672" y="5632704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MCP as Tool Mediation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3672" y="6501384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All agent-to-service calls flow through MCP — typed, traced, governed.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33672" y="6995160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33672" y="7086600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UDL · AI Integration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15784" y="4718304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415784" y="4718304"/>
            <a:ext cx="3255264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690104" y="5065776"/>
            <a:ext cx="640080" cy="41148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90104" y="5065776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90104" y="5632704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Separation of Fabric &amp; Retrieval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0104" y="6501384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Fabric for governed analytical products; Retrieval for interactive consumption.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90104" y="6995160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90104" y="7086600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UDL · Fabric + Consumption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72216" y="4718304"/>
            <a:ext cx="3255264" cy="291693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872216" y="4718304"/>
            <a:ext cx="3255264" cy="12801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1146536" y="5065776"/>
            <a:ext cx="64008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146536" y="5065776"/>
            <a:ext cx="6400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46536" y="5632704"/>
            <a:ext cx="2706624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C4B"/>
                </a:solidFill>
                <a:latin typeface="Calibri"/>
              </a:rPr>
              <a:t>Source-Agnostic Onboarding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46536" y="6501384"/>
            <a:ext cx="2706624" cy="448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F2937"/>
                </a:solidFill>
                <a:latin typeface="Calibri"/>
              </a:rPr>
              <a:t>Any source type via self-service connector registration — no downstream coupling.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146536" y="6995160"/>
            <a:ext cx="2706624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146536" y="7086600"/>
            <a:ext cx="2706624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UDL · Ingestion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7909560"/>
            <a:ext cx="1463040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8640" y="790956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Codify the Bank · Release 1 · Technical Architecture Briefing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8213"/>
            <a:ext cx="11887200" cy="49859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en-GB" sz="3000" b="1" i="0" dirty="0">
                <a:solidFill>
                  <a:srgbClr val="0B2C4B"/>
                </a:solidFill>
                <a:latin typeface="Calibri"/>
              </a:rPr>
              <a:t>Codify the Bank - </a:t>
            </a:r>
            <a:r>
              <a:rPr sz="3000" b="1" i="0" dirty="0">
                <a:solidFill>
                  <a:srgbClr val="0B2C4B"/>
                </a:solidFill>
                <a:latin typeface="Calibri"/>
              </a:rPr>
              <a:t>Key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Six architectural calls — each traced to its rationale and its benefit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4389120" cy="2514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2514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2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2C4B"/>
                </a:solidFill>
                <a:latin typeface="Calibri"/>
              </a:rPr>
              <a:t>Agentic Orchestration via LangGraph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60320"/>
            <a:ext cx="38862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Use LangGraph for all stateful AI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Deterministic scheduling + conditional branching + retries, with built-in state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Calibri"/>
              </a:rPr>
              <a:t>BENEFIT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Reproducible, auditable, testable pipelines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600200"/>
            <a:ext cx="4389120" cy="2514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0" y="1600200"/>
            <a:ext cx="128016" cy="2514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40680" y="18745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187452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87452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2C4B"/>
                </a:solidFill>
                <a:latin typeface="Calibri"/>
              </a:rPr>
              <a:t>MCP as Single AI Access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560320"/>
            <a:ext cx="38862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0680" y="26517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9260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All LLM and embedding calls via MCP Client →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1089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3832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Centralises tracing, rate-limiting, safety policy and tool schemas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5661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Calibri"/>
              </a:rPr>
              <a:t>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8404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Consistent governance; no direct model calls from app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1600200"/>
            <a:ext cx="4389120" cy="2514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38360" y="1600200"/>
            <a:ext cx="128016" cy="2514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58400" y="187452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0" y="187452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187452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2C4B"/>
                </a:solidFill>
                <a:latin typeface="Calibri"/>
              </a:rPr>
              <a:t>Hybrid KG + Vector Persistence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2560320"/>
            <a:ext cx="38862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26517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  <a:latin typeface="Calibri"/>
              </a:rP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9260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Separate Knowledge Graph (Neo4j) and Vector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1089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RATIONALE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3832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Graph for structural traversal; Vector for semantic similarity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5661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Calibri"/>
              </a:rPr>
              <a:t>BENEFIT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8404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Hybrid KG-RAG — higher precision and recall together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343400"/>
            <a:ext cx="4389120" cy="2514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2920" y="4343400"/>
            <a:ext cx="128016" cy="2514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61772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2C4B"/>
                </a:solidFill>
                <a:latin typeface="Calibri"/>
              </a:rPr>
              <a:t>Neo4j Knowledge Graph On-Prem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5303520"/>
            <a:ext cx="38862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53949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766E"/>
                </a:solidFill>
                <a:latin typeface="Calibri"/>
              </a:rPr>
              <a:t>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6692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Host the KG on-premise in a UK data centre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521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RATIONALE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61264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Regulatory data-residency and sensitivity of policy taxonomy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63093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Calibri"/>
              </a:rPr>
              <a:t>BENEFIT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5836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Compliant with UK PRA / FCA data boundaries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0640" y="4343400"/>
            <a:ext cx="4389120" cy="2514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120640" y="4343400"/>
            <a:ext cx="128016" cy="25146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440680" y="4617720"/>
            <a:ext cx="502920" cy="50292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40680" y="461772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461772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2C4B"/>
                </a:solidFill>
                <a:latin typeface="Calibri"/>
              </a:rPr>
              <a:t>Mandatory HITL Control Gate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0680" y="5303520"/>
            <a:ext cx="38862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40680" y="53949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BE185D"/>
                </a:solidFill>
                <a:latin typeface="Calibri"/>
              </a:rPr>
              <a:t>DECISION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0680" y="56692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No AI output persists without SME approval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40680" y="58521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RATIONALE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0680" y="61264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Regulatory non-negotiable for policy content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0680" y="63093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Calibri"/>
              </a:rPr>
              <a:t>BENEFIT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40680" y="65836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Responsible AI in practice; auditable chain of review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38360" y="4343400"/>
            <a:ext cx="4389120" cy="2514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738360" y="4343400"/>
            <a:ext cx="128016" cy="2514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058400" y="461772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058400" y="461772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4617720"/>
            <a:ext cx="32004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2C4B"/>
                </a:solidFill>
                <a:latin typeface="Calibri"/>
              </a:rPr>
              <a:t>Ontology-Governed Knowledge Model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0" y="5303520"/>
            <a:ext cx="38862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058400" y="53949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alibri"/>
              </a:rPr>
              <a:t>DECISION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0" y="56692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OWL ontology is the single source of semantic truth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0" y="58521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RATIONALE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0" y="61264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Prevents semantic drift across policy domains and over time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6309360"/>
            <a:ext cx="100584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Calibri"/>
              </a:rPr>
              <a:t>BENEFIT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0" y="6583680"/>
            <a:ext cx="38862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Consistent entity meaning across documents and releases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7040880"/>
            <a:ext cx="4480560" cy="594360"/>
          </a:xfrm>
          <a:prstGeom prst="round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02920" y="7040880"/>
            <a:ext cx="109728" cy="594360"/>
          </a:xfrm>
          <a:prstGeom prst="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" y="7040880"/>
            <a:ext cx="12801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0B2C4B"/>
                </a:solidFill>
                <a:latin typeface="Calibri"/>
              </a:rPr>
              <a:t>R1 SCOPE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7040880"/>
            <a:ext cx="2743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ReAuthor · Validation · HITL · KG Build · KG-RAG · ~3,500 P&amp;P docs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120640" y="7040880"/>
            <a:ext cx="4480560" cy="594360"/>
          </a:xfrm>
          <a:prstGeom prst="round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120640" y="7040880"/>
            <a:ext cx="109728" cy="594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94960" y="7040880"/>
            <a:ext cx="12801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R2 PLANNED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7040880"/>
            <a:ext cx="2743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Multi-jurisdiction · RegChange · Auto-lineage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738360" y="7040880"/>
            <a:ext cx="4480560" cy="594360"/>
          </a:xfrm>
          <a:prstGeom prst="round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738360" y="7040880"/>
            <a:ext cx="109728" cy="594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012680" y="7040880"/>
            <a:ext cx="12801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INFRA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292840" y="7040880"/>
            <a:ext cx="274320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GCP europe-west2 · Neo4j UK DC · GKE dual-NIC · Shared VPC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7909560"/>
            <a:ext cx="1463040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8640" y="790956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Codify the Bank · Release 1 · Technical Architecture Briefing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1887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B2C4B"/>
                </a:solidFill>
                <a:latin typeface="Calibri"/>
              </a:rPr>
              <a:t>Codify Release 1 —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Five functional blocks, one governed flow — from upload to governed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3624560" cy="365760"/>
          </a:xfrm>
          <a:prstGeom prst="round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1">
                <a:solidFill>
                  <a:srgbClr val="0B2C4B"/>
                </a:solidFill>
                <a:latin typeface="Calibri"/>
              </a:rPr>
              <a:t>Unstructured documents enter, flow through a deterministic AI workflow with a mandatory human gate, and land as governed, retrievable knowledge — every model call via one MCP-governed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2461564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461564" cy="50292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187244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01   Document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39"/>
            <a:ext cx="2187244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Manual ingestion · normalise · chunk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199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743199"/>
            <a:ext cx="82296" cy="9326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798063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Manual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054095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CTB Workbench UI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OWL → JSON-LD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67327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767327"/>
            <a:ext cx="82296" cy="9326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822191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78223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Raw → markdown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PII redaction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91455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791455"/>
            <a:ext cx="82296" cy="9326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4846319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Chunking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102351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Structure-aware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token boundaries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15583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815583"/>
            <a:ext cx="82296" cy="9326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5870447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Ontology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6126479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Git-governed OWL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controlled vocab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973628" y="4165091"/>
            <a:ext cx="310896" cy="402336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293668" y="1874519"/>
            <a:ext cx="2461564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93668" y="1874519"/>
            <a:ext cx="2461564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30828" y="1874519"/>
            <a:ext cx="2187244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02   AI Workflow 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0828" y="2377439"/>
            <a:ext cx="2187244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LangGraph — deterministic · stateful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30828" y="2743199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30828" y="2743199"/>
            <a:ext cx="82296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86276" y="2798063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ReAuthor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6276" y="3054095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LLM-assisted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draft generation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30828" y="3767327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30828" y="3767327"/>
            <a:ext cx="82296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86276" y="3822191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6276" y="4078223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Structural +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policy checks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30828" y="4791455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30828" y="4791455"/>
            <a:ext cx="82296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86276" y="4846319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HITL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6276" y="5102351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Mandatory human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approval gate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30828" y="5815583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430828" y="5815583"/>
            <a:ext cx="82296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86276" y="5870447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KG + Vector Build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6276" y="6126479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Entities · relations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+ embedding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764377" y="4165091"/>
            <a:ext cx="310896" cy="402336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084417" y="1874519"/>
            <a:ext cx="2461564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084417" y="1874519"/>
            <a:ext cx="2461564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21577" y="1874519"/>
            <a:ext cx="2187244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03   Governed AI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21577" y="2377439"/>
            <a:ext cx="2187244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Single governed path — no direct LLM calls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21577" y="2743199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21577" y="2743199"/>
            <a:ext cx="82296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77025" y="2798063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MCP Client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7025" y="3054095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Typed tool calls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from workflows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21577" y="3767327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221577" y="3767327"/>
            <a:ext cx="82296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77025" y="3822191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MCP Gateway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7025" y="4078223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Auth · tracing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rate-limit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21577" y="4791455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21577" y="4791455"/>
            <a:ext cx="82296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77025" y="4846319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Group AI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7025" y="5102351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LLM · embeddings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moderation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21577" y="5815583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221577" y="5815583"/>
            <a:ext cx="82296" cy="9326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77025" y="5870447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Safety &amp; Policy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77025" y="6126479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Responsible AI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guardrails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8555126" y="4165091"/>
            <a:ext cx="310896" cy="402336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875166" y="1874519"/>
            <a:ext cx="2461564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875166" y="1874519"/>
            <a:ext cx="2461564" cy="502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12326" y="1874519"/>
            <a:ext cx="2187244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04   Knowledge &amp; Storage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12326" y="2377439"/>
            <a:ext cx="2187244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Polyglot persistence — right store, right shape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12326" y="2743199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012326" y="2743199"/>
            <a:ext cx="82296" cy="9326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67774" y="2798063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GCS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67774" y="3054095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Raw docs &amp;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artefacts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12326" y="3767327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012326" y="3767327"/>
            <a:ext cx="82296" cy="9326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7774" y="3822191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BigQuery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67774" y="4078223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Metadata · lineage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audit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12326" y="4791455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012326" y="4791455"/>
            <a:ext cx="82296" cy="9326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167774" y="4846319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Vector DB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67774" y="5102351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Embeddings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semantic index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12326" y="5815583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012326" y="5815583"/>
            <a:ext cx="82296" cy="9326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7774" y="5870447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Neo4j KG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67774" y="6126479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Knowledge graph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on-prem · UK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11345875" y="4165091"/>
            <a:ext cx="310896" cy="402336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11665915" y="1874519"/>
            <a:ext cx="2461564" cy="4983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11665915" y="1874519"/>
            <a:ext cx="2461564" cy="502920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803075" y="1874519"/>
            <a:ext cx="2187244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05   Consumption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803075" y="2377439"/>
            <a:ext cx="2187244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Hybrid KG-RAG · governed APIs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803075" y="2743199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1803075" y="2743199"/>
            <a:ext cx="82296" cy="932688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1958523" y="2798063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React SPA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958523" y="3054095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CTB Workbench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author + review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1803075" y="3767327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803075" y="3767327"/>
            <a:ext cx="82296" cy="932688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1958523" y="3822191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REST APIs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58523" y="4078223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Upload · jobs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query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1803075" y="4791455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1803075" y="4791455"/>
            <a:ext cx="82296" cy="932688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958523" y="4846319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KG-RAG Retrieval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958523" y="5102351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Hybrid graph +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vector search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803075" y="5815583"/>
            <a:ext cx="2187244" cy="932688"/>
          </a:xfrm>
          <a:prstGeom prst="roundRect">
            <a:avLst/>
          </a:prstGeom>
          <a:solidFill>
            <a:srgbClr val="F6F8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1803075" y="5815583"/>
            <a:ext cx="82296" cy="932688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958523" y="5870447"/>
            <a:ext cx="200436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B2C4B"/>
                </a:solidFill>
                <a:latin typeface="Calibri"/>
              </a:rPr>
              <a:t>HITL Review UX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958523" y="6126479"/>
            <a:ext cx="2004364" cy="5852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Approve · reject</a:t>
            </a:r>
          </a:p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280"/>
                </a:solidFill>
                <a:latin typeface="Calibri"/>
              </a:rPr>
              <a:t>audit trail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2920" y="6995159"/>
            <a:ext cx="13624560" cy="4572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40080" y="6995159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CROSS-CUTTING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916936" y="7077455"/>
            <a:ext cx="1778508" cy="292608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2916936" y="7077455"/>
            <a:ext cx="17785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Identity &amp; Auth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768596" y="7077455"/>
            <a:ext cx="1778508" cy="292608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768596" y="7077455"/>
            <a:ext cx="17785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Observability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620256" y="7077455"/>
            <a:ext cx="1778508" cy="292608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620256" y="7077455"/>
            <a:ext cx="17785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CI / CD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471916" y="7077455"/>
            <a:ext cx="1778508" cy="292608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71916" y="7077455"/>
            <a:ext cx="17785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Policy &amp; DLP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323576" y="7077455"/>
            <a:ext cx="1778508" cy="292608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323576" y="7077455"/>
            <a:ext cx="17785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HITL Governance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2175236" y="7077455"/>
            <a:ext cx="1778508" cy="292608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2175236" y="7077455"/>
            <a:ext cx="17785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Responsible AI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02920" y="7543799"/>
            <a:ext cx="13624560" cy="29260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31520" y="7543799"/>
            <a:ext cx="1316736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  <a:latin typeface="Calibri"/>
              </a:rPr>
              <a:t>Release 1 — manual ingestion only; event-driven connectors and Fabric layer delivered in Release 2.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7909560"/>
            <a:ext cx="1463040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48640" y="790956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Codify the Bank · Release 1 · Technical Architecture Briefing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8213"/>
            <a:ext cx="11887200" cy="49859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 dirty="0">
                <a:solidFill>
                  <a:srgbClr val="0B2C4B"/>
                </a:solidFill>
                <a:latin typeface="Calibri"/>
              </a:rPr>
              <a:t>Codify </a:t>
            </a:r>
            <a:r>
              <a:rPr lang="en-GB" sz="3000" b="1" i="0" dirty="0">
                <a:solidFill>
                  <a:srgbClr val="0B2C4B"/>
                </a:solidFill>
                <a:latin typeface="Calibri"/>
              </a:rPr>
              <a:t>the Bank </a:t>
            </a:r>
            <a:r>
              <a:rPr sz="3000" b="1" i="0" dirty="0">
                <a:solidFill>
                  <a:srgbClr val="0B2C4B"/>
                </a:solidFill>
                <a:latin typeface="Calibri"/>
              </a:rPr>
              <a:t>Release 1 — Technical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One document, nine steps — from upload to retrievable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3624560" cy="365760"/>
          </a:xfrm>
          <a:prstGeom prst="round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1">
                <a:solidFill>
                  <a:srgbClr val="0B2C4B"/>
                </a:solidFill>
                <a:latin typeface="Calibri"/>
              </a:rPr>
              <a:t>Deterministic pipeline with a hard human gate — nothing AI-generated reaches the knowledge stores without explicit SME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4492752" cy="36576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4492752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8824" y="1874519"/>
            <a:ext cx="4492752" cy="3657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68824" y="1874519"/>
            <a:ext cx="4492752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ORCHESTRATE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34728" y="1874519"/>
            <a:ext cx="4492752" cy="36576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34728" y="1874519"/>
            <a:ext cx="4492752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PERSIST + SERVE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423159"/>
            <a:ext cx="1448816" cy="128016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3008" y="2697479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3008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Manual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CTB Workbench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user submits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4888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024888" y="2423159"/>
            <a:ext cx="1448816" cy="128016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474976" y="2697479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74976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8040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Preprocessing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8040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Raw → markdown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PII redact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6856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546856" y="2423159"/>
            <a:ext cx="1448816" cy="128016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996944" y="2697479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96944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0008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Chunking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0008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Structure-aware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split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8824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68824" y="2423159"/>
            <a:ext cx="1448816" cy="12801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518912" y="2697479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18912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1976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ReAuthoring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1976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LLM-assisted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draft rewrite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90792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90792" y="2423159"/>
            <a:ext cx="1448816" cy="12801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040880" y="2697479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0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3944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3944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Structural +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policy checks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2760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112760" y="2423159"/>
            <a:ext cx="1448816" cy="128016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562848" y="2697479"/>
            <a:ext cx="548640" cy="548640"/>
          </a:xfrm>
          <a:prstGeom prst="ellipse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62848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5912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HITL Approval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5912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SME review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mandatory gate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34728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634728" y="2423159"/>
            <a:ext cx="1448816" cy="128016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084816" y="2697479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84816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07880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KG + Embedding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7880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Entities · edges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· vectors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156696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156696" y="2423159"/>
            <a:ext cx="1448816" cy="128016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606784" y="2697479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606784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29848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29848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GCS · BQ ·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Vector · Neo4j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678664" y="2423159"/>
            <a:ext cx="1448816" cy="2606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2678664" y="2423159"/>
            <a:ext cx="1448816" cy="128016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3128752" y="2697479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3128752" y="2697479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751816" y="3383279"/>
            <a:ext cx="130251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B2C4B"/>
                </a:solidFill>
                <a:latin typeface="Calibri"/>
              </a:rPr>
              <a:t>Retrieval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751816" y="4069079"/>
            <a:ext cx="1302512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KG-RAG hybrid</a:t>
            </a:r>
          </a:p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query API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87760" y="2398159"/>
            <a:ext cx="1498816" cy="2656040"/>
          </a:xfrm>
          <a:prstGeom prst="roundRect">
            <a:avLst/>
          </a:prstGeom>
          <a:noFill/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7922768" y="5157215"/>
            <a:ext cx="1828800" cy="2560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922768" y="5157215"/>
            <a:ext cx="182880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HARD STOP · HITL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5623559"/>
            <a:ext cx="441960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02920" y="5623559"/>
            <a:ext cx="109728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77240" y="5733287"/>
            <a:ext cx="400812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2C4B"/>
                </a:solidFill>
                <a:latin typeface="Calibri"/>
              </a:rPr>
              <a:t>Every AI call via MCP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" y="6099047"/>
            <a:ext cx="4008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Steps 4, 5, 7 route LLM and embedding calls through the MCP Gateway — governed, traced, rate-limited.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105400" y="5623559"/>
            <a:ext cx="441960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105400" y="5623559"/>
            <a:ext cx="109728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379720" y="5733287"/>
            <a:ext cx="400812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2C4B"/>
                </a:solidFill>
                <a:latin typeface="Calibri"/>
              </a:rPr>
              <a:t>Human approval is mandatory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9720" y="6099047"/>
            <a:ext cx="4008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Step 6 is a hard gate: no AI-generated content reaches the KG or Vector store without SME sign-off.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707880" y="5623559"/>
            <a:ext cx="441960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707880" y="5623559"/>
            <a:ext cx="109728" cy="10058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982200" y="5733287"/>
            <a:ext cx="400812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B2C4B"/>
                </a:solidFill>
                <a:latin typeface="Calibri"/>
              </a:rPr>
              <a:t>Hybrid retrieval by default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82200" y="6099047"/>
            <a:ext cx="4008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F2937"/>
                </a:solidFill>
                <a:latin typeface="Calibri"/>
              </a:rPr>
              <a:t>Step 9 combines Knowledge Graph traversal with vector similarity — higher precision and recall together.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7909560"/>
            <a:ext cx="14630400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48640" y="790956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Codify the Bank · Release 1 · Technical Architecture Briefing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1887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B2C4B"/>
                </a:solidFill>
                <a:latin typeface="Calibri"/>
              </a:rPr>
              <a:t>Enterprise Unstructured Data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Eight lifecycle layers across three planes — the enterprise blueprint Codify aligns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3624560" cy="292608"/>
          </a:xfrm>
          <a:prstGeom prst="round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32588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1">
                <a:solidFill>
                  <a:srgbClr val="0B2C4B"/>
                </a:solidFill>
                <a:latin typeface="Calibri"/>
              </a:rPr>
              <a:t>This is the enterprise blueprint for unstructured data — not a Codify-specific design. Codify inherits it by 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029200" cy="365760"/>
          </a:xfrm>
          <a:prstGeom prst="roundRect">
            <a:avLst/>
          </a:prstGeom>
          <a:noFill/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DATA PLANE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0136" y="1691640"/>
            <a:ext cx="3310128" cy="365760"/>
          </a:xfrm>
          <a:prstGeom prst="roundRect">
            <a:avLst/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0136" y="1691640"/>
            <a:ext cx="3310128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6D28D9"/>
                </a:solidFill>
                <a:latin typeface="Calibri"/>
              </a:rPr>
              <a:t>INTELLIGENCE 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691640"/>
            <a:ext cx="5029200" cy="365760"/>
          </a:xfrm>
          <a:prstGeom prst="roundRect">
            <a:avLst/>
          </a:prstGeom>
          <a:noFill/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Calibri"/>
              </a:rPr>
              <a:t>SERVICE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148840"/>
            <a:ext cx="1591056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 · SOURCE DOMAINS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Wikis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Tickets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8912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38912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Media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204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89204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Feeds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21992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21992" y="2148840"/>
            <a:ext cx="1591056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21992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 · INGESTION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04872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04872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Registration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04872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04872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Connectors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04872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04872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Landing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04872" y="438912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04872" y="438912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Routing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41064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941064" y="2148840"/>
            <a:ext cx="1591056" cy="50292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41064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 · PREPARATION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23944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23944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Extraction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3944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23944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Normalise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23944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23944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PII Redact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23944" y="438912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23944" y="438912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Enrich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0136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660136" y="2148840"/>
            <a:ext cx="1591056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0136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 · ORCHESTRATION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43016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Deterministic engine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43016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43016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Stateful agents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43016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43016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QA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79208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379208" y="2148840"/>
            <a:ext cx="1591056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79208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 · AI INTEGRATION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62088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62088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MCP Client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62088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62088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MCP Gateway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62088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62088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Shared AI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62088" y="438912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62088" y="438912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Obs.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98280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9098280" y="2148840"/>
            <a:ext cx="1591056" cy="502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98280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 · PERSISTENCE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81160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81160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Content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81160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81160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Metadata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81160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81160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Vector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281160" y="438912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281160" y="438912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Graph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81160" y="489204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281160" y="489204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Cache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817352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0817352" y="2148840"/>
            <a:ext cx="1591056" cy="5029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817352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 · FABRIC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000232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000232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Structured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1000232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000232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KG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000232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1000232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Unstructured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1000232" y="438912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000232" y="438912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Federation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2536424" y="2148840"/>
            <a:ext cx="1591056" cy="3931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12536424" y="2148840"/>
            <a:ext cx="1591056" cy="502920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2536424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 · CONSUMPTION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2719304" y="288036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2719304" y="288036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Hybrid Search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2719304" y="338328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2719304" y="338328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APIs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2719304" y="388620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2719304" y="388620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RAG UX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2719304" y="4389120"/>
            <a:ext cx="1225296" cy="411480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2719304" y="4389120"/>
            <a:ext cx="1225296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Enterprise Apps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02920" y="6309360"/>
            <a:ext cx="13624560" cy="6400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31520" y="6309360"/>
            <a:ext cx="32918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09 · CROSS-CUTTING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64845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64845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Identity &amp; Access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4004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94004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Policy &amp; DLP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3163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3163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Lineage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52322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52322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Audit &amp; Obs.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81481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81481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Encryption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10640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10640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Sovereignty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139799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139799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HITL Gate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2689586" y="6428232"/>
            <a:ext cx="1218438" cy="402336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2689586" y="6428232"/>
            <a:ext cx="1218438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Responsible AI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920" y="7086600"/>
            <a:ext cx="1362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←  Feedback · Reprocessing · Incremental Update Loop 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1887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B2C4B"/>
                </a:solidFill>
                <a:latin typeface="Calibri"/>
              </a:rPr>
              <a:t>Codify Release 1 — Mapped to the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0" y="438912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i="0">
                <a:solidFill>
                  <a:srgbClr val="6B7280"/>
                </a:solidFill>
                <a:latin typeface="Calibri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325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Same eight-layer blueprint; Release 1 scope highlighted · Fabric deferred to R2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3624560" cy="292608"/>
          </a:xfrm>
          <a:prstGeom prst="round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32588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 i="1">
                <a:solidFill>
                  <a:srgbClr val="0B2C4B"/>
                </a:solidFill>
                <a:latin typeface="Calibri"/>
              </a:rPr>
              <a:t>Release 1 covers seven of eight reference layers; Fabric is explicitly out of scope and delivered in Release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029200" cy="365760"/>
          </a:xfrm>
          <a:prstGeom prst="roundRect">
            <a:avLst/>
          </a:prstGeom>
          <a:noFill/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E3A8A"/>
                </a:solidFill>
                <a:latin typeface="Calibri"/>
              </a:rPr>
              <a:t>DATA PLANE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0136" y="1691640"/>
            <a:ext cx="3310128" cy="365760"/>
          </a:xfrm>
          <a:prstGeom prst="roundRect">
            <a:avLst/>
          </a:prstGeom>
          <a:noFill/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0136" y="1691640"/>
            <a:ext cx="3310128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6D28D9"/>
                </a:solidFill>
                <a:latin typeface="Calibri"/>
              </a:rPr>
              <a:t>INTELLIGENCE 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691640"/>
            <a:ext cx="5029200" cy="365760"/>
          </a:xfrm>
          <a:prstGeom prst="roundRect">
            <a:avLst/>
          </a:prstGeom>
          <a:noFill/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Calibri"/>
              </a:rPr>
              <a:t>SERVICE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48840"/>
            <a:ext cx="1591056" cy="3383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148840"/>
            <a:ext cx="1591056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 ·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8136" y="2788920"/>
            <a:ext cx="822960" cy="27432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Calibri"/>
              </a:rPr>
              <a:t>R1 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00400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P&amp;P Docs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75888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675888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51376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151376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Ontology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21992" y="2148840"/>
            <a:ext cx="1591056" cy="3383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221992" y="2148840"/>
            <a:ext cx="1591056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21992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 · INGESTION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07208" y="2788920"/>
            <a:ext cx="822960" cy="27432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07208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Calibri"/>
              </a:rPr>
              <a:t>R1 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04872" y="3200400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04872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Manual Upload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04872" y="3675888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04872" y="3675888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JSON-LD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04872" y="4151376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04872" y="4151376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Landing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41064" y="2148840"/>
            <a:ext cx="1591056" cy="3383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941064" y="2148840"/>
            <a:ext cx="1591056" cy="50292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41064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 · PREPARATION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2788920"/>
            <a:ext cx="822960" cy="27432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26280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Calibri"/>
              </a:rPr>
              <a:t>R1 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23944" y="3200400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23944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Preprocessing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3944" y="3675888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23944" y="3675888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Chunking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0136" y="2148840"/>
            <a:ext cx="1591056" cy="3383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660136" y="2148840"/>
            <a:ext cx="1591056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0136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 · ORCHESTRATION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5352" y="2788920"/>
            <a:ext cx="822960" cy="27432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45352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Calibri"/>
              </a:rPr>
              <a:t>R1 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43016" y="3200400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43016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LangGraph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43016" y="3675888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43016" y="3675888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ReAuthor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43016" y="4151376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43016" y="4151376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Validation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79208" y="2148840"/>
            <a:ext cx="1591056" cy="3383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379208" y="2148840"/>
            <a:ext cx="1591056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79208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 · AI INTEGRATION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64424" y="2788920"/>
            <a:ext cx="822960" cy="27432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64424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Calibri"/>
              </a:rPr>
              <a:t>R1 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62088" y="3200400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62088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MCP Client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62088" y="3675888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62088" y="3675888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MCP Gateway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62088" y="4151376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62088" y="4151376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Group AI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98280" y="2148840"/>
            <a:ext cx="1591056" cy="3383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9098280" y="2148840"/>
            <a:ext cx="1591056" cy="502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98280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 · PERSISTENCE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83496" y="2788920"/>
            <a:ext cx="822960" cy="27432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83496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Calibri"/>
              </a:rPr>
              <a:t>R1 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81160" y="3200400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81160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GCS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81160" y="3675888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81160" y="3675888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BQ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81160" y="4151376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281160" y="4151376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Vector DB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281160" y="4626864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281160" y="4626864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Neo4j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817352" y="2148840"/>
            <a:ext cx="1591056" cy="338328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10817352" y="2148840"/>
            <a:ext cx="1591056" cy="502920"/>
          </a:xfrm>
          <a:prstGeom prst="round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817352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 · FABRIC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402568" y="2788920"/>
            <a:ext cx="822960" cy="27432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402568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92400E"/>
                </a:solidFill>
                <a:latin typeface="Calibri"/>
              </a:rPr>
              <a:t>R2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000232" y="3200400"/>
            <a:ext cx="1225296" cy="384048"/>
          </a:xfrm>
          <a:prstGeom prst="round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000232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Deferred — Release 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2536424" y="2148840"/>
            <a:ext cx="1591056" cy="3383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2536424" y="2148840"/>
            <a:ext cx="1591056" cy="502920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2536424" y="2148840"/>
            <a:ext cx="1591056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 · CONSUMPTION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121640" y="2788920"/>
            <a:ext cx="822960" cy="27432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3121640" y="2788920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15803D"/>
                </a:solidFill>
                <a:latin typeface="Calibri"/>
              </a:rPr>
              <a:t>R1 ✓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2719304" y="3200400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2719304" y="3200400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Backend API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2719304" y="3675888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2719304" y="3675888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React SPA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2719304" y="4151376"/>
            <a:ext cx="1225296" cy="384048"/>
          </a:xfrm>
          <a:prstGeom prst="roundRect">
            <a:avLst/>
          </a:prstGeom>
          <a:solidFill>
            <a:srgbClr val="F6F8FB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2719304" y="4151376"/>
            <a:ext cx="1225296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i="0">
                <a:solidFill>
                  <a:srgbClr val="0B2C4B"/>
                </a:solidFill>
                <a:latin typeface="Calibri"/>
              </a:rPr>
              <a:t>KG-RAG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2920" y="5760720"/>
            <a:ext cx="13624560" cy="59436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31520" y="5760720"/>
            <a:ext cx="301752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09 · CROSS-CUTTING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55701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55701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Auth &amp; Identity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6003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86003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API Integration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16305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16305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Session &amp; Cache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46607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46607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Observability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76909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76909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Platform Infra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07211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07211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CI / CD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137513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137513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HITL Gate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2678156" y="5852160"/>
            <a:ext cx="1229868" cy="4114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2678156" y="5852160"/>
            <a:ext cx="122986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1" i="0">
                <a:solidFill>
                  <a:srgbClr val="1F2937"/>
                </a:solidFill>
                <a:latin typeface="Calibri"/>
              </a:rPr>
              <a:t>Responsible AI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2920" y="6492240"/>
            <a:ext cx="13624560" cy="41148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77240" y="6492240"/>
            <a:ext cx="130759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  <a:latin typeface="Calibri"/>
              </a:rPr>
              <a:t>Scope: Manual ingestion only · KG on-premise (UK data residency) · Fabric deferred to Release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8229600"/>
          </a:xfrm>
          <a:prstGeom prst="rect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429768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Supporting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4297680" cy="2743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Backing material available on request —</a:t>
            </a:r>
          </a:p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come back to any section in deeper detail.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822960"/>
            <a:ext cx="84124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97880" y="978408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97880" y="978408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896112"/>
            <a:ext cx="7315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0B2C4B"/>
                </a:solidFill>
                <a:latin typeface="Calibri"/>
              </a:rPr>
              <a:t>Detailed Technical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61872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Full draw.io flow + component interactions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01368"/>
            <a:ext cx="84124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97880" y="1956816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956816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20"/>
            <a:ext cx="7315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0B2C4B"/>
                </a:solidFill>
                <a:latin typeface="Calibri"/>
              </a:rPr>
              <a:t>Service-by-Service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Every microservice, owner, SLA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779776"/>
            <a:ext cx="84124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97880" y="2935224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2935224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52928"/>
            <a:ext cx="7315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0B2C4B"/>
                </a:solidFill>
                <a:latin typeface="Calibri"/>
              </a:rPr>
              <a:t>Data Lineage &amp;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18688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BQ authorised views · artefact versioning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758184"/>
            <a:ext cx="84124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97880" y="3913632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3913632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31336"/>
            <a:ext cx="7315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0B2C4B"/>
                </a:solidFill>
                <a:latin typeface="Calibri"/>
              </a:rPr>
              <a:t>HITL Workflow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97096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Review states · rejection loopback · audit trail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736592"/>
            <a:ext cx="84124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97880" y="4892040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48920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9744"/>
            <a:ext cx="7315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0B2C4B"/>
                </a:solidFill>
                <a:latin typeface="Calibri"/>
              </a:rPr>
              <a:t>MCP Tool Catalogue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75504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Typed tool wrappers · schemas · tracing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5715000"/>
            <a:ext cx="84124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897880" y="5870448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97880" y="5870448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788152"/>
            <a:ext cx="7315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0B2C4B"/>
                </a:solidFill>
                <a:latin typeface="Calibri"/>
              </a:rPr>
              <a:t>Non-Functional Targets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6153912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Latency, throughput, availability &amp; cost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6693408"/>
            <a:ext cx="841248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97880" y="6848856"/>
            <a:ext cx="548640" cy="548640"/>
          </a:xfrm>
          <a:prstGeom prst="ellipse">
            <a:avLst/>
          </a:prstGeom>
          <a:solidFill>
            <a:srgbClr val="0B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97880" y="6848856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6766560"/>
            <a:ext cx="73152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 i="0">
                <a:solidFill>
                  <a:srgbClr val="0B2C4B"/>
                </a:solidFill>
                <a:latin typeface="Calibri"/>
              </a:rPr>
              <a:t>Release 2 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7132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Fabric · event-driven ingestion · multi-juris.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2874</Words>
  <Application>Microsoft Macintosh PowerPoint</Application>
  <PresentationFormat>Custom</PresentationFormat>
  <Paragraphs>477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Lakshmanan Natarajan</cp:lastModifiedBy>
  <cp:revision>3</cp:revision>
  <dcterms:created xsi:type="dcterms:W3CDTF">2013-01-27T09:14:16Z</dcterms:created>
  <dcterms:modified xsi:type="dcterms:W3CDTF">2026-04-22T06:51:00Z</dcterms:modified>
  <cp:category/>
</cp:coreProperties>
</file>