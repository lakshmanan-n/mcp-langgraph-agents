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206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WHAT WE MUST DELIVER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building blocks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enterprise capability for unstructured-data AI, built on Group AI shared services (embedding + LLM via MCP) — same controls, faster delivery, defensible at audit.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73152" cy="73152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2103120"/>
            <a:ext cx="5184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" y="237744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578608"/>
            <a:ext cx="91440" cy="9144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5146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enterprise capability for unstructured-data → AI, federated by platform.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2871216"/>
            <a:ext cx="91440" cy="9144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807208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AI–owned embedding registry; one model lifecycle for the bank.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3163824"/>
            <a:ext cx="91440" cy="9144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09981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contracts, classification, lineage, residency, audit.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456432"/>
            <a:ext cx="91440" cy="9144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3392424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measured in weeks, not months.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3749040"/>
            <a:ext cx="91440" cy="9144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685032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enterprise position under audit and supervisory review.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4480560"/>
            <a:ext cx="73152" cy="7315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" y="4434840"/>
            <a:ext cx="5184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GUARDRAILS — NOT IN SERVICE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47091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937760"/>
            <a:ext cx="128016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484632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capability and governance only — not retrieval logic or ranking.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" y="5212080"/>
            <a:ext cx="128016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512064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vector store; vectors stay in their data plane.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5486400"/>
            <a:ext cx="128016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39496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use-case-specific prompt orchestration or business rules.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5760720"/>
            <a:ext cx="128016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66928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bypass of model risk, TPRM, change management, or privacy.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" y="6035040"/>
            <a:ext cx="128016" cy="3657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59436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commitment to calendar dates.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2148840"/>
            <a:ext cx="73152" cy="73152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9672" y="2103120"/>
            <a:ext cx="5321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ARCHITECTURE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55080" y="2377440"/>
            <a:ext cx="5486400" cy="4160520"/>
          </a:xfrm>
          <a:prstGeom prst="roundRect">
            <a:avLst>
              <a:gd name="adj" fmla="val 131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37960" y="2560320"/>
            <a:ext cx="2514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92824" y="2596896"/>
            <a:ext cx="2404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144000" y="2560320"/>
            <a:ext cx="2514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98864" y="2596896"/>
            <a:ext cx="2404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537960" y="3063240"/>
            <a:ext cx="12115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92824" y="3099816"/>
            <a:ext cx="11018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· DLP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840980" y="3063240"/>
            <a:ext cx="12115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95844" y="3099816"/>
            <a:ext cx="11018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144000" y="3063240"/>
            <a:ext cx="12115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98864" y="3099816"/>
            <a:ext cx="11018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· OCR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447020" y="3063240"/>
            <a:ext cx="121158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501884" y="3099816"/>
            <a:ext cx="11018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537960" y="3566160"/>
            <a:ext cx="2514600" cy="41148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92824" y="3602736"/>
            <a:ext cx="2404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· MCP  (Group AI)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144000" y="3566160"/>
            <a:ext cx="2514600" cy="411480"/>
          </a:xfrm>
          <a:prstGeom prst="roundRect">
            <a:avLst>
              <a:gd name="adj" fmla="val 8889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98864" y="3602736"/>
            <a:ext cx="2404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representation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537960" y="4069080"/>
            <a:ext cx="5120640" cy="548640"/>
          </a:xfrm>
          <a:prstGeom prst="roundRect">
            <a:avLst>
              <a:gd name="adj" fmla="val 8333"/>
            </a:avLst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537960" y="414223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VECTORDBAAS  ·  the keystone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537960" y="43616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(centrally owned) + federated data planes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537960" y="4709160"/>
            <a:ext cx="5120640" cy="411480"/>
          </a:xfrm>
          <a:prstGeom prst="roundRect">
            <a:avLst>
              <a:gd name="adj" fmla="val 8889"/>
            </a:avLst>
          </a:prstGeom>
          <a:solidFill>
            <a:srgbClr val="ECFDF5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92824" y="4745736"/>
            <a:ext cx="501091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 · MCP  (Group AI)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537960" y="5212080"/>
            <a:ext cx="2514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92824" y="5248656"/>
            <a:ext cx="2404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retrieval  (RAG · agentic)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144000" y="5212080"/>
            <a:ext cx="25146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198864" y="5248656"/>
            <a:ext cx="240487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semantic / vector products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537960" y="5715000"/>
            <a:ext cx="5120640" cy="27432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37960" y="5715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 ·  Lineage  ·  Audit  ·  Observability  ·  FinOps  ·  IAM/PAM  ·  KMS  ·  Residency  ·  Model Risk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94360" y="6446520"/>
            <a:ext cx="502920" cy="228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436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Tech  ·  Unstructured Data Workstream  ·  CIO briefing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0972800" y="65379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206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RISKS &amp; DEPENDENCIES — HONEST 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stands between us and a defensible MVP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decisions needed from CTO and Chief Architect; two workstream-led items in motion.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11155680" cy="502920"/>
          </a:xfrm>
          <a:prstGeom prst="roundRect">
            <a:avLst>
              <a:gd name="adj" fmla="val 10909"/>
            </a:avLst>
          </a:prstGeom>
          <a:solidFill>
            <a:srgbClr val="1A2B5C"/>
          </a:solidFill>
          <a:ln w="9525">
            <a:solidFill>
              <a:srgbClr val="1A2B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116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pPr algn="ctr" indent="0" marL="0">
              <a:buNone/>
            </a:pPr>
            <a:r>
              <a:rPr lang="en-US" sz="10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ITEMS  </a:t>
            </a:r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2200" b="1" dirty="0">
                <a:solidFill>
                  <a:srgbClr val="FFF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pPr algn="ctr" indent="0" marL="0">
              <a:buNone/>
            </a:pPr>
            <a:r>
              <a:rPr lang="en-US" sz="1000" spc="400" kern="0" dirty="0">
                <a:solidFill>
                  <a:srgbClr val="FFFB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DECISIONS NEEDED  </a:t>
            </a:r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2200" b="1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algn="ctr" indent="0" marL="0">
              <a:buNone/>
            </a:pPr>
            <a:r>
              <a:rPr lang="en-US" sz="1000" spc="400" kern="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WORKSTREAM-LED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88920" y="2697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2064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/ dependency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63840" y="26974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738360" y="2697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744200" y="2697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2990088"/>
            <a:ext cx="11155680" cy="10973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081528"/>
            <a:ext cx="45720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081528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platform not confirmed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98648" y="308152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named platform has been agreed to host the first MVP-aligned data plane.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30368" y="308152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first reference data platform and accountable sponsor.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73568" y="308152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the workstream from theoretical design into executable build.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848088" y="320040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48088" y="32004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853928" y="308152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+ Platform sponsor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94360" y="3630168"/>
            <a:ext cx="111556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648456"/>
            <a:ext cx="45720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3648456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AI embedding dependency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98648" y="3648456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embedding path, lifecycle ownership and service commitment not yet formalised.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30368" y="364845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Group AI as model-lifecycle owner; approved model; MCP access path; refresh model + MVP SLA.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973568" y="364845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keystone dependency for VectorDBaaS and any semantic service.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848088" y="376732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48088" y="37673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853928" y="364845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+ Group AI Head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" y="4215384"/>
            <a:ext cx="45720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" y="4215384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 capacity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898648" y="4215384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will stall if no platform engineering team is assigned to the reference platform.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30368" y="421538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named platform engineering capacity for the MVP.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973568" y="421538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committed engineering hands, the roadmap remains a paper plan.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848088" y="4334256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48088" y="43342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853928" y="421538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sponsor + CTO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94360" y="4764024"/>
            <a:ext cx="111556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" y="4782312"/>
            <a:ext cx="45720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4088" y="4782312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control-function engagement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2898648" y="4782312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Privacy, security, model risk, audit, resilience and TPRM may engage in series, not parallel.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30368" y="478231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CIO-mandated parallel engagement model with checkpoints and stage-by-stage evidence packs.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973568" y="47823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approval delay and late-stage redesign risk.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848088" y="4901184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848088" y="49011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0853928" y="478231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CIO sponsor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4360" y="5349240"/>
            <a:ext cx="45720" cy="47548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" y="5349240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readiness inconsistency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898648" y="5349240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shortlisted use cases at different maturity; may lack source clarity, classification or acceptance criteria.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230368" y="534924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BA-led structured intake against the standard discovery template; prioritise 2–3 architecture-aligned candidates.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973568" y="5349240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lobbying with evidence; focuses scarce architect time on credible MVP candidates.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848088" y="5468112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6350">
            <a:solidFill>
              <a:srgbClr val="065F4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48088" y="54681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0–1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0853928" y="53492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Architect + Technical BA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94360" y="5897880"/>
            <a:ext cx="1115568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4360" y="5916168"/>
            <a:ext cx="45720" cy="47548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4088" y="5916168"/>
            <a:ext cx="2029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 risk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898648" y="5916168"/>
            <a:ext cx="2240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technically compliant service may still fail if relevance is weak or benchmark sets are absent.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230368" y="591616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benchmark expectations, quality baselines, tenant acceptance criteria early. Service owns framework; tenant owns benchmarks.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7973568" y="5916168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building a service that is governance-compliant but low-value.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848088" y="6035040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6350">
            <a:solidFill>
              <a:srgbClr val="065F4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848088" y="60350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1–2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0853928" y="59161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Tech + Use-case owners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594360" y="6446520"/>
            <a:ext cx="502920" cy="228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436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Tech  ·  Unstructured Data Workstream  ·  CIO briefing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10972800" y="65379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206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TECHNICAL DEEP DIVE  ·  WORKSTREAM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data — end-to-end reference architecture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build, what we reuse, where peer services and tenants own.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11155680" cy="3154680"/>
          </a:xfrm>
          <a:prstGeom prst="roundRect">
            <a:avLst>
              <a:gd name="adj" fmla="val 173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274320" cy="2743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52144" y="222199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" y="2578608"/>
            <a:ext cx="1691640" cy="1097280"/>
          </a:xfrm>
          <a:prstGeom prst="roundRect">
            <a:avLst>
              <a:gd name="adj" fmla="val 3333"/>
            </a:avLst>
          </a:prstGeom>
          <a:solidFill>
            <a:srgbClr val="FFFBEB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615184"/>
            <a:ext cx="15453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2960" y="3749040"/>
            <a:ext cx="169164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4A67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3785616"/>
            <a:ext cx="15453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624328" y="2194560"/>
            <a:ext cx="274320" cy="2743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24328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953512" y="222199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24328" y="2578608"/>
            <a:ext cx="16916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4A67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2615184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· DLP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24328" y="3163824"/>
            <a:ext cx="16916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1A2B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3200400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 · Mask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24328" y="3749040"/>
            <a:ext cx="16916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4A67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97480" y="3785616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· OCR · ASR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624328" y="4334256"/>
            <a:ext cx="1691640" cy="51206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1A2B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97480" y="4370832"/>
            <a:ext cx="1545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425696" y="2194560"/>
            <a:ext cx="274320" cy="2743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25696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222199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&amp; EMBED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25696" y="2578608"/>
            <a:ext cx="169164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4A679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98848" y="2615184"/>
            <a:ext cx="15453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enrichment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25696" y="3749040"/>
            <a:ext cx="1691640" cy="1097280"/>
          </a:xfrm>
          <a:prstGeom prst="roundRect">
            <a:avLst>
              <a:gd name="adj" fmla="val 3333"/>
            </a:avLst>
          </a:prstGeom>
          <a:solidFill>
            <a:srgbClr val="ECFDF5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98848" y="3785616"/>
            <a:ext cx="15453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 · MCP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(Group AI)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27064" y="2194560"/>
            <a:ext cx="274320" cy="2743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27064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56248" y="222199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RETRIEVE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27064" y="2578608"/>
            <a:ext cx="1691640" cy="2267712"/>
          </a:xfrm>
          <a:prstGeom prst="roundRect">
            <a:avLst>
              <a:gd name="adj" fmla="val 2162"/>
            </a:avLst>
          </a:prstGeom>
          <a:solidFill>
            <a:srgbClr val="1A2B5C"/>
          </a:solidFill>
          <a:ln w="19050">
            <a:solidFill>
              <a:srgbClr val="1A2B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00216" y="2615184"/>
            <a:ext cx="15453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VECTORDBAAS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028432" y="2194560"/>
            <a:ext cx="274320" cy="2743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28432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357616" y="222199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028432" y="2578608"/>
            <a:ext cx="1691640" cy="109728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101584" y="2615184"/>
            <a:ext cx="15453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representation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028432" y="3749040"/>
            <a:ext cx="1691640" cy="1097280"/>
          </a:xfrm>
          <a:prstGeom prst="roundRect">
            <a:avLst>
              <a:gd name="adj" fmla="val 3333"/>
            </a:avLst>
          </a:prstGeom>
          <a:solidFill>
            <a:srgbClr val="ECFDF5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01584" y="3785616"/>
            <a:ext cx="15453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gateway · MCP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(Group AI)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829800" y="2194560"/>
            <a:ext cx="274320" cy="27432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82980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158984" y="2221992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300" kern="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829800" y="2578608"/>
            <a:ext cx="169164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1A2B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902952" y="2615184"/>
            <a:ext cx="15453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retrieval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9829800" y="3749040"/>
            <a:ext cx="1691640" cy="10972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1A2B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02952" y="3785616"/>
            <a:ext cx="154533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semantic products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22960" y="4754880"/>
            <a:ext cx="10698480" cy="274320"/>
          </a:xfrm>
          <a:prstGeom prst="roundRect">
            <a:avLst>
              <a:gd name="adj" fmla="val 13333"/>
            </a:avLst>
          </a:prstGeom>
          <a:solidFill>
            <a:srgbClr val="2D4275"/>
          </a:solidFill>
          <a:ln w="12700">
            <a:solidFill>
              <a:srgbClr val="2D427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2960" y="47548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  ·   Lineage   ·   Audit   ·   Observability   ·   FinOps   ·   IAM / PAM   ·   KMS   ·   Residency   ·   Model Risk   ·   TPRM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85800" y="5312664"/>
            <a:ext cx="164592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1A2B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86968" y="52760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Workstream-built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560320" y="5312664"/>
            <a:ext cx="164592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4A679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61488" y="52760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/ integrate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434840" y="5312664"/>
            <a:ext cx="164592" cy="146304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 w="9525">
            <a:solidFill>
              <a:srgbClr val="04785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36008" y="52760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AI–owned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309360" y="5312664"/>
            <a:ext cx="164592" cy="146304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9525">
            <a:solidFill>
              <a:srgbClr val="94A3B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10528" y="52760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/ future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183880" y="5312664"/>
            <a:ext cx="164592" cy="146304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85048" y="52760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Tenant-owned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0058400" y="5312664"/>
            <a:ext cx="164592" cy="146304"/>
          </a:xfrm>
          <a:prstGeom prst="roundRect">
            <a:avLst>
              <a:gd name="adj" fmla="val 12500"/>
            </a:avLst>
          </a:prstGeom>
          <a:solidFill>
            <a:srgbClr val="1A2B5C"/>
          </a:solidFill>
          <a:ln w="9525">
            <a:solidFill>
              <a:srgbClr val="1A2B5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259568" y="52760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Keystone — VectorDBaaS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94360" y="5641848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77240" y="5779008"/>
            <a:ext cx="73152" cy="73152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41832" y="573328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INVEST FIRST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777240" y="59710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VectorDBaaS · Embedding registry integration · Collection contract · Onboarding · Retrieval API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343400" y="5641848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526280" y="5779008"/>
            <a:ext cx="73152" cy="73152"/>
          </a:xfrm>
          <a:prstGeom prst="rect">
            <a:avLst/>
          </a:prstGeom>
          <a:solidFill>
            <a:srgbClr val="4A6794"/>
          </a:solidFill>
          <a:ln w="12700">
            <a:solidFill>
              <a:srgbClr val="4A679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690872" y="573328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A6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REUSE / INTEGRATE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4526280" y="59710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AI shared services (embedding model + LLM gateway via MCP)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DLP · Classification · Catalogue · KMS · IAM/PAM · Existing platform ingestion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8092440" y="5641848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FFBEB"/>
          </a:solidFill>
          <a:ln w="9525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8275320" y="5779008"/>
            <a:ext cx="73152" cy="7315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439912" y="573328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PEERS / TENANTS OWN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8275320" y="597103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 classification · Benchmark sets · Use-case prompt logic · Knowledge graphs · Bespoke ranking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594360" y="6446520"/>
            <a:ext cx="502920" cy="228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9436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Tech  ·  Unstructured Data Workstream  ·  CIO briefing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10972800" y="65379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206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TECHNICAL DEEP DIVE  ·  KEYSTONE SERVICE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VectorDBaaS — how the keystone service is shaped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 architecture: one control plane, federated data planes, dual-access governance.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11155680" cy="3246120"/>
          </a:xfrm>
          <a:prstGeom prst="roundRect">
            <a:avLst>
              <a:gd name="adj" fmla="val 169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240280"/>
            <a:ext cx="7315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194560"/>
            <a:ext cx="10533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22960" y="2450592"/>
            <a:ext cx="347472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48716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&amp; RAG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2450592"/>
            <a:ext cx="347472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7992" y="248716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workflows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2450592"/>
            <a:ext cx="347472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19872" y="248716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/ data-product consumers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017520"/>
            <a:ext cx="7315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7552" y="2971800"/>
            <a:ext cx="10533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LAYER  ·  DUAL ACCESS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2960" y="3227832"/>
            <a:ext cx="5257800" cy="3657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4A67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26440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runtime retrieval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227832"/>
            <a:ext cx="5257800" cy="3657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4A67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3264408"/>
            <a:ext cx="5111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 semantic &amp; vector-derived products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2960" y="3749040"/>
            <a:ext cx="10698480" cy="502920"/>
          </a:xfrm>
          <a:prstGeom prst="roundRect">
            <a:avLst>
              <a:gd name="adj" fmla="val 7273"/>
            </a:avLst>
          </a:prstGeom>
          <a:solidFill>
            <a:srgbClr val="1A2B5C"/>
          </a:solidFill>
          <a:ln w="9525">
            <a:solidFill>
              <a:srgbClr val="1A2B5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96112" y="3785616"/>
            <a:ext cx="1055217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  ·   Service Registry  ·  Embedding Registry (Group AI)  ·  Lifecycle  ·  Classification  ·  Lineage  ·  Observability  ·  Policy  ·  Audit  ·  API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" y="4389120"/>
            <a:ext cx="3474720" cy="365760"/>
          </a:xfrm>
          <a:prstGeom prst="roundRect">
            <a:avLst>
              <a:gd name="adj" fmla="val 10000"/>
            </a:avLst>
          </a:prstGeom>
          <a:solidFill>
            <a:srgbClr val="2D4275"/>
          </a:solidFill>
          <a:ln w="9525">
            <a:solidFill>
              <a:srgbClr val="2D42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96112" y="4425696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  ·  CIB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434840" y="4389120"/>
            <a:ext cx="3474720" cy="365760"/>
          </a:xfrm>
          <a:prstGeom prst="roundRect">
            <a:avLst>
              <a:gd name="adj" fmla="val 10000"/>
            </a:avLst>
          </a:prstGeom>
          <a:solidFill>
            <a:srgbClr val="2D4275"/>
          </a:solidFill>
          <a:ln w="9525">
            <a:solidFill>
              <a:srgbClr val="2D42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7992" y="4425696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  ·  WPB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46720" y="4389120"/>
            <a:ext cx="3474720" cy="365760"/>
          </a:xfrm>
          <a:prstGeom prst="roundRect">
            <a:avLst>
              <a:gd name="adj" fmla="val 10000"/>
            </a:avLst>
          </a:prstGeom>
          <a:solidFill>
            <a:srgbClr val="2D4275"/>
          </a:solidFill>
          <a:ln w="9525">
            <a:solidFill>
              <a:srgbClr val="2D42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9872" y="4425696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  ·  Other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" y="5440680"/>
            <a:ext cx="3657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77240" y="5577840"/>
            <a:ext cx="73152" cy="73152"/>
          </a:xfrm>
          <a:prstGeom prst="rect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1832" y="5532120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— 9 ENGINEERED COMPONENTS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77240" y="57698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Registry · Embedding Registry · Index Lifecycle · Classification &amp; DLP Gate · Lineage Publisher · Observability &amp; FinOps · Policy Distribution · Audit Pipeline · Public API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343400" y="5440680"/>
            <a:ext cx="36576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26280" y="5577840"/>
            <a:ext cx="73152" cy="73152"/>
          </a:xfrm>
          <a:prstGeom prst="rect">
            <a:avLst/>
          </a:prstGeom>
          <a:solidFill>
            <a:srgbClr val="4A6794"/>
          </a:solidFill>
          <a:ln w="12700">
            <a:solidFill>
              <a:srgbClr val="4A679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5532120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4A6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PLANES — FEDERATED, RESIDENCY-LOCAL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26280" y="57698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engine · embedding execution · retrieval API · runtime access enforcement · cache &amp; session — one per data platform. Vectors never leave the plane.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092440" y="5440680"/>
            <a:ext cx="3657600" cy="868680"/>
          </a:xfrm>
          <a:prstGeom prst="roundRect">
            <a:avLst>
              <a:gd name="adj" fmla="val 6316"/>
            </a:avLst>
          </a:prstGeom>
          <a:solidFill>
            <a:srgbClr val="FFFBEB"/>
          </a:solidFill>
          <a:ln w="9525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75320" y="5577840"/>
            <a:ext cx="73152" cy="73152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39912" y="5532120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MATERIAL OUTCOME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275320" y="576986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Compliance Policy Assistant live end-to-end on one data plane, under contract, with audit-grade evidence pack — model-risk artefacts, DPIA, and change-mgmt approval.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94360" y="6446520"/>
            <a:ext cx="502920" cy="228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Tech  ·  Unstructured Data Workstream  ·  CIO briefing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972800" y="65379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502920"/>
            <a:ext cx="91440" cy="914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20624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TOP 5 ASKS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94360" y="77724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CTO and Chief Architect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4173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ask removes a specific blocker on the path to a defensible MVP.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2157984"/>
            <a:ext cx="502920" cy="50292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1579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21031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dedicated lead-architect bandwidth (≥ 80%) for Stage 0–1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600200" y="2395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allocation is the single largest velocity constraint. Reallocate to ≥ 80% for the duration of Stage 0–1 — or formally accept slower velocity and a longer Stage 0.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555480" y="217627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55480" y="2176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0652760" y="2176272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10652760" y="230428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 exit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916936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3008376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first reference data platform and committed sponsor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600200" y="33009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cannot begin without a named CIB / WPB / other group-platform sponsor with committed engineering capacity. CTO-level call.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55480" y="308152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55480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652760" y="3081528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652760" y="3209544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 exit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" y="3822192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68680" y="3968496"/>
            <a:ext cx="502920" cy="50292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" y="39684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00200" y="391363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Group AI as embedding-model lifecycle owner with MVP SLA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60020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AI confirmed as model-lifecycle owner; one approved model registered with named MCP path; refresh cadence we can plan against. Chief-Architect cross-workstream mandate.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555480" y="3986784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FFBEB"/>
          </a:solidFill>
          <a:ln w="6350">
            <a:solidFill>
              <a:srgbClr val="92400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55480" y="398678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0652760" y="398678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0652760" y="4114800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 exit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" y="4727448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68680" y="4873752"/>
            <a:ext cx="502920" cy="50292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8737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600200" y="481888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a parallel-track control-function engagement protocol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600200" y="511149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risk, privacy, security, op-res, audit and TPRM cannot be engaged sequentially. CIO-endorsed protocol that runs them in parallel from Stage 0; TPRM fast-track.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555480" y="489204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 w="6350">
            <a:solidFill>
              <a:srgbClr val="1A2B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55480" y="4892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1A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652760" y="4892040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0652760" y="502005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4360" y="5632704"/>
            <a:ext cx="11155680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12700" dir="54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68680" y="5779008"/>
            <a:ext cx="502920" cy="502920"/>
          </a:xfrm>
          <a:prstGeom prst="ellipse">
            <a:avLst/>
          </a:prstGeom>
          <a:solidFill>
            <a:srgbClr val="1A2B5C"/>
          </a:solidFill>
          <a:ln w="12700">
            <a:solidFill>
              <a:srgbClr val="1A2B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5779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1600200" y="5724144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 evidence-led delivery and MVP scope discipline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1600200" y="60167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/ one tenant / one use case; explicit non-scope; progression gated by evidence, not calendar dates. Senior endorsement protects against scope creep and date pressure.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9555480" y="5797296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 w="6350">
            <a:solidFill>
              <a:srgbClr val="065F4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555480" y="579729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30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0652760" y="5797296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0652760" y="59253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group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94360" y="6446520"/>
            <a:ext cx="502920" cy="228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Tech  ·  Unstructured Data Workstream  ·  CIO briefing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0972800" y="65379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Unstructured Data Workstream — CIO Briefing</dc:title>
  <dc:subject>PptxGenJS Presentation</dc:subject>
  <dc:creator>AI for Tech — Unstructured Data Workstream</dc:creator>
  <cp:lastModifiedBy>AI for Tech — Unstructured Data Workstream</cp:lastModifiedBy>
  <cp:revision>1</cp:revision>
  <dcterms:created xsi:type="dcterms:W3CDTF">2026-05-06T00:25:29Z</dcterms:created>
  <dcterms:modified xsi:type="dcterms:W3CDTF">2026-05-06T00:25:29Z</dcterms:modified>
</cp:coreProperties>
</file>