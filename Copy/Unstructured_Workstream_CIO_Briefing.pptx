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502920"/>
            <a:ext cx="91440" cy="9144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77240" y="420624"/>
            <a:ext cx="10972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500" kern="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 ·  WHAT WE MUST DELIVER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594360" y="777240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B1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Critical building blocks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594360" y="1417320"/>
            <a:ext cx="11155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enterprise capability for unstructured-data AI, built on Group AI shared services (embedding + LLM via MCP) — same controls, faster delivery, defensible at audit.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94360" y="2148840"/>
            <a:ext cx="73152" cy="73152"/>
          </a:xfrm>
          <a:prstGeom prst="rect">
            <a:avLst/>
          </a:prstGeom>
          <a:solidFill>
            <a:srgbClr val="065F46"/>
          </a:solidFill>
          <a:ln w="12700">
            <a:solidFill>
              <a:srgbClr val="065F4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58952" y="2103120"/>
            <a:ext cx="51846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400" kern="0" dirty="0">
                <a:solidFill>
                  <a:srgbClr val="065F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GOOD LOOKS LIKE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594360" y="2377440"/>
            <a:ext cx="5349240" cy="1874520"/>
          </a:xfrm>
          <a:prstGeom prst="roundRect">
            <a:avLst>
              <a:gd name="adj" fmla="val 2927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6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822960" y="2578608"/>
            <a:ext cx="91440" cy="91440"/>
          </a:xfrm>
          <a:prstGeom prst="ellipse">
            <a:avLst/>
          </a:prstGeom>
          <a:solidFill>
            <a:srgbClr val="047857"/>
          </a:solidFill>
          <a:ln w="12700">
            <a:solidFill>
              <a:srgbClr val="04785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05840" y="2514600"/>
            <a:ext cx="4800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B1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enterprise capability for unstructured-data → AI, federated by platform.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22960" y="2871216"/>
            <a:ext cx="91440" cy="91440"/>
          </a:xfrm>
          <a:prstGeom prst="ellipse">
            <a:avLst/>
          </a:prstGeom>
          <a:solidFill>
            <a:srgbClr val="047857"/>
          </a:solidFill>
          <a:ln w="12700">
            <a:solidFill>
              <a:srgbClr val="04785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005840" y="2807208"/>
            <a:ext cx="4800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B1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AI–owned embedding registry; one model lifecycle for the bank.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822960" y="3163824"/>
            <a:ext cx="91440" cy="91440"/>
          </a:xfrm>
          <a:prstGeom prst="ellipse">
            <a:avLst/>
          </a:prstGeom>
          <a:solidFill>
            <a:srgbClr val="047857"/>
          </a:solidFill>
          <a:ln w="12700">
            <a:solidFill>
              <a:srgbClr val="047857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05840" y="3099816"/>
            <a:ext cx="4800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B1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Standardised contracts, classification, lineage, residency, audit.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822960" y="3456432"/>
            <a:ext cx="91440" cy="91440"/>
          </a:xfrm>
          <a:prstGeom prst="ellipse">
            <a:avLst/>
          </a:prstGeom>
          <a:solidFill>
            <a:srgbClr val="047857"/>
          </a:solidFill>
          <a:ln w="12700">
            <a:solidFill>
              <a:srgbClr val="04785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005840" y="3392424"/>
            <a:ext cx="4800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B1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Onboarding measured in weeks, not months.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822960" y="3749040"/>
            <a:ext cx="91440" cy="91440"/>
          </a:xfrm>
          <a:prstGeom prst="ellipse">
            <a:avLst/>
          </a:prstGeom>
          <a:solidFill>
            <a:srgbClr val="047857"/>
          </a:solidFill>
          <a:ln w="12700">
            <a:solidFill>
              <a:srgbClr val="047857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005840" y="3685032"/>
            <a:ext cx="4800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B1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Defensible enterprise position under audit and supervisory review.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594360" y="4480560"/>
            <a:ext cx="73152" cy="73152"/>
          </a:xfrm>
          <a:prstGeom prst="rect">
            <a:avLst/>
          </a:prstGeom>
          <a:solidFill>
            <a:srgbClr val="92400E"/>
          </a:solidFill>
          <a:ln w="12700">
            <a:solidFill>
              <a:srgbClr val="92400E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58952" y="4434840"/>
            <a:ext cx="51846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400" kern="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SCOPE GUARDRAILS — NOT IN SERVICE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594360" y="4709160"/>
            <a:ext cx="5349240" cy="18288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6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822960" y="4937760"/>
            <a:ext cx="128016" cy="36576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1005840" y="4846320"/>
            <a:ext cx="4800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B1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Vector capability and governance only — not retrieval logic or ranking.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822960" y="5212080"/>
            <a:ext cx="128016" cy="36576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005840" y="5120640"/>
            <a:ext cx="4800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B1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central vector store; vectors stay in their data plane.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822960" y="5486400"/>
            <a:ext cx="128016" cy="36576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005840" y="5394960"/>
            <a:ext cx="4800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B1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use-case-specific prompt orchestration or business rules.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822960" y="5760720"/>
            <a:ext cx="128016" cy="36576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005840" y="5669280"/>
            <a:ext cx="4800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B1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bypass of model risk, TPRM, change management, or privacy.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822960" y="6035040"/>
            <a:ext cx="128016" cy="36576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005840" y="5943600"/>
            <a:ext cx="4800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B1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external commitment to calendar dates.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6355080" y="2148840"/>
            <a:ext cx="73152" cy="73152"/>
          </a:xfrm>
          <a:prstGeom prst="rect">
            <a:avLst/>
          </a:prstGeom>
          <a:solidFill>
            <a:srgbClr val="1A2B5C"/>
          </a:solidFill>
          <a:ln w="12700">
            <a:solidFill>
              <a:srgbClr val="1A2B5C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519672" y="2103120"/>
            <a:ext cx="53218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400" kern="0" dirty="0">
                <a:solidFill>
                  <a:srgbClr val="1A2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 ARCHITECTURE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6355080" y="2377440"/>
            <a:ext cx="5486400" cy="4160520"/>
          </a:xfrm>
          <a:prstGeom prst="roundRect">
            <a:avLst>
              <a:gd name="adj" fmla="val 1319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6000"/>
              </a:srgbClr>
            </a:outerShdw>
          </a:effectLst>
        </p:spPr>
      </p:sp>
      <p:sp>
        <p:nvSpPr>
          <p:cNvPr id="35" name="Shape 33"/>
          <p:cNvSpPr/>
          <p:nvPr/>
        </p:nvSpPr>
        <p:spPr>
          <a:xfrm>
            <a:off x="6537960" y="2560320"/>
            <a:ext cx="2514600" cy="41148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592824" y="2596896"/>
            <a:ext cx="2404872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1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</a:t>
            </a:r>
            <a:endParaRPr lang="en-US" sz="950" dirty="0"/>
          </a:p>
        </p:txBody>
      </p:sp>
      <p:sp>
        <p:nvSpPr>
          <p:cNvPr id="37" name="Shape 35"/>
          <p:cNvSpPr/>
          <p:nvPr/>
        </p:nvSpPr>
        <p:spPr>
          <a:xfrm>
            <a:off x="9144000" y="2560320"/>
            <a:ext cx="2514600" cy="41148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9198864" y="2596896"/>
            <a:ext cx="2404872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1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Ingestion</a:t>
            </a:r>
            <a:endParaRPr lang="en-US" sz="950" dirty="0"/>
          </a:p>
        </p:txBody>
      </p:sp>
      <p:sp>
        <p:nvSpPr>
          <p:cNvPr id="39" name="Shape 37"/>
          <p:cNvSpPr/>
          <p:nvPr/>
        </p:nvSpPr>
        <p:spPr>
          <a:xfrm>
            <a:off x="6537960" y="3063240"/>
            <a:ext cx="1211580" cy="41148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592824" y="3099816"/>
            <a:ext cx="1101852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1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Classify · DLP</a:t>
            </a:r>
            <a:endParaRPr lang="en-US" sz="950" dirty="0"/>
          </a:p>
        </p:txBody>
      </p:sp>
      <p:sp>
        <p:nvSpPr>
          <p:cNvPr id="41" name="Shape 39"/>
          <p:cNvSpPr/>
          <p:nvPr/>
        </p:nvSpPr>
        <p:spPr>
          <a:xfrm>
            <a:off x="7840980" y="3063240"/>
            <a:ext cx="1211580" cy="41148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7895844" y="3099816"/>
            <a:ext cx="1101852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1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Redact</a:t>
            </a:r>
            <a:endParaRPr lang="en-US" sz="950" dirty="0"/>
          </a:p>
        </p:txBody>
      </p:sp>
      <p:sp>
        <p:nvSpPr>
          <p:cNvPr id="43" name="Shape 41"/>
          <p:cNvSpPr/>
          <p:nvPr/>
        </p:nvSpPr>
        <p:spPr>
          <a:xfrm>
            <a:off x="9144000" y="3063240"/>
            <a:ext cx="1211580" cy="41148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9198864" y="3099816"/>
            <a:ext cx="1101852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1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Parse · OCR</a:t>
            </a:r>
            <a:endParaRPr lang="en-US" sz="950" dirty="0"/>
          </a:p>
        </p:txBody>
      </p:sp>
      <p:sp>
        <p:nvSpPr>
          <p:cNvPr id="45" name="Shape 43"/>
          <p:cNvSpPr/>
          <p:nvPr/>
        </p:nvSpPr>
        <p:spPr>
          <a:xfrm>
            <a:off x="10447020" y="3063240"/>
            <a:ext cx="1211580" cy="41148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10501884" y="3099816"/>
            <a:ext cx="1101852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1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Chunk</a:t>
            </a:r>
            <a:endParaRPr lang="en-US" sz="950" dirty="0"/>
          </a:p>
        </p:txBody>
      </p:sp>
      <p:sp>
        <p:nvSpPr>
          <p:cNvPr id="47" name="Shape 45"/>
          <p:cNvSpPr/>
          <p:nvPr/>
        </p:nvSpPr>
        <p:spPr>
          <a:xfrm>
            <a:off x="6537960" y="3566160"/>
            <a:ext cx="2514600" cy="411480"/>
          </a:xfrm>
          <a:prstGeom prst="roundRect">
            <a:avLst>
              <a:gd name="adj" fmla="val 8889"/>
            </a:avLst>
          </a:prstGeom>
          <a:solidFill>
            <a:srgbClr val="ECFDF5"/>
          </a:solidFill>
          <a:ln w="9525">
            <a:solidFill>
              <a:srgbClr val="04785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6592824" y="3602736"/>
            <a:ext cx="2404872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1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Embedding model · MCP  (Group AI)</a:t>
            </a:r>
            <a:endParaRPr lang="en-US" sz="950" dirty="0"/>
          </a:p>
        </p:txBody>
      </p:sp>
      <p:sp>
        <p:nvSpPr>
          <p:cNvPr id="49" name="Shape 47"/>
          <p:cNvSpPr/>
          <p:nvPr/>
        </p:nvSpPr>
        <p:spPr>
          <a:xfrm>
            <a:off x="9144000" y="3566160"/>
            <a:ext cx="2514600" cy="411480"/>
          </a:xfrm>
          <a:prstGeom prst="roundRect">
            <a:avLst>
              <a:gd name="adj" fmla="val 8889"/>
            </a:avLst>
          </a:prstGeom>
          <a:solidFill>
            <a:srgbClr val="F1F5F9"/>
          </a:solidFill>
          <a:ln w="9525">
            <a:solidFill>
              <a:srgbClr val="CBD5E1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9198864" y="3602736"/>
            <a:ext cx="2404872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1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Knowledge representation</a:t>
            </a:r>
            <a:endParaRPr lang="en-US" sz="950" dirty="0"/>
          </a:p>
        </p:txBody>
      </p:sp>
      <p:sp>
        <p:nvSpPr>
          <p:cNvPr id="51" name="Shape 49"/>
          <p:cNvSpPr/>
          <p:nvPr/>
        </p:nvSpPr>
        <p:spPr>
          <a:xfrm>
            <a:off x="6537960" y="4069080"/>
            <a:ext cx="5120640" cy="548640"/>
          </a:xfrm>
          <a:prstGeom prst="roundRect">
            <a:avLst>
              <a:gd name="adj" fmla="val 8333"/>
            </a:avLst>
          </a:prstGeom>
          <a:solidFill>
            <a:srgbClr val="1A2B5C"/>
          </a:solidFill>
          <a:ln w="12700">
            <a:solidFill>
              <a:srgbClr val="1A2B5C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18000"/>
              </a:srgbClr>
            </a:outerShdw>
          </a:effectLst>
        </p:spPr>
      </p:sp>
      <p:sp>
        <p:nvSpPr>
          <p:cNvPr id="52" name="Text 50"/>
          <p:cNvSpPr/>
          <p:nvPr/>
        </p:nvSpPr>
        <p:spPr>
          <a:xfrm>
            <a:off x="6537960" y="4142232"/>
            <a:ext cx="5120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3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VECTORDBAAS  ·  the keystone</a:t>
            </a:r>
            <a:endParaRPr lang="en-US" sz="1300" dirty="0"/>
          </a:p>
        </p:txBody>
      </p:sp>
      <p:sp>
        <p:nvSpPr>
          <p:cNvPr id="53" name="Text 51"/>
          <p:cNvSpPr/>
          <p:nvPr/>
        </p:nvSpPr>
        <p:spPr>
          <a:xfrm>
            <a:off x="6537960" y="4361688"/>
            <a:ext cx="5120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 plane (centrally owned) + federated data planes</a:t>
            </a:r>
            <a:endParaRPr lang="en-US" sz="950" dirty="0"/>
          </a:p>
        </p:txBody>
      </p:sp>
      <p:sp>
        <p:nvSpPr>
          <p:cNvPr id="54" name="Shape 52"/>
          <p:cNvSpPr/>
          <p:nvPr/>
        </p:nvSpPr>
        <p:spPr>
          <a:xfrm>
            <a:off x="6537960" y="4709160"/>
            <a:ext cx="5120640" cy="411480"/>
          </a:xfrm>
          <a:prstGeom prst="roundRect">
            <a:avLst>
              <a:gd name="adj" fmla="val 8889"/>
            </a:avLst>
          </a:prstGeom>
          <a:solidFill>
            <a:srgbClr val="ECFDF5"/>
          </a:solidFill>
          <a:ln w="9525">
            <a:solidFill>
              <a:srgbClr val="04785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6592824" y="4745736"/>
            <a:ext cx="5010912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1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gateway · MCP  (Group AI)</a:t>
            </a:r>
            <a:endParaRPr lang="en-US" sz="1000" dirty="0"/>
          </a:p>
        </p:txBody>
      </p:sp>
      <p:sp>
        <p:nvSpPr>
          <p:cNvPr id="56" name="Shape 54"/>
          <p:cNvSpPr/>
          <p:nvPr/>
        </p:nvSpPr>
        <p:spPr>
          <a:xfrm>
            <a:off x="6537960" y="5212080"/>
            <a:ext cx="2514600" cy="41148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6592824" y="5248656"/>
            <a:ext cx="2404872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1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 retrieval  (RAG · agentic)</a:t>
            </a:r>
            <a:endParaRPr lang="en-US" sz="950" dirty="0"/>
          </a:p>
        </p:txBody>
      </p:sp>
      <p:sp>
        <p:nvSpPr>
          <p:cNvPr id="58" name="Shape 56"/>
          <p:cNvSpPr/>
          <p:nvPr/>
        </p:nvSpPr>
        <p:spPr>
          <a:xfrm>
            <a:off x="9144000" y="5212080"/>
            <a:ext cx="2514600" cy="41148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9198864" y="5248656"/>
            <a:ext cx="2404872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1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Fabric semantic / vector products</a:t>
            </a:r>
            <a:endParaRPr lang="en-US" sz="950" dirty="0"/>
          </a:p>
        </p:txBody>
      </p:sp>
      <p:sp>
        <p:nvSpPr>
          <p:cNvPr id="60" name="Shape 58"/>
          <p:cNvSpPr/>
          <p:nvPr/>
        </p:nvSpPr>
        <p:spPr>
          <a:xfrm>
            <a:off x="6537960" y="5715000"/>
            <a:ext cx="5120640" cy="274320"/>
          </a:xfrm>
          <a:prstGeom prst="rect">
            <a:avLst/>
          </a:prstGeom>
          <a:solidFill>
            <a:srgbClr val="F1F5F9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6537960" y="571500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200" kern="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CROSS-CUTTING  ·  Lineage  ·  Audit  ·  Observability  ·  FinOps  ·  IAM/PAM  ·  KMS  ·  Residency  ·  Model Risk</a:t>
            </a:r>
            <a:endParaRPr lang="en-US" sz="850" dirty="0"/>
          </a:p>
        </p:txBody>
      </p:sp>
      <p:sp>
        <p:nvSpPr>
          <p:cNvPr id="62" name="Shape 60"/>
          <p:cNvSpPr/>
          <p:nvPr/>
        </p:nvSpPr>
        <p:spPr>
          <a:xfrm>
            <a:off x="594360" y="6446520"/>
            <a:ext cx="502920" cy="2286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594360" y="653796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for Tech  ·  Unstructured Data Workstream  ·  CIO briefing</a:t>
            </a:r>
            <a:endParaRPr lang="en-US" sz="900" dirty="0"/>
          </a:p>
        </p:txBody>
      </p:sp>
      <p:sp>
        <p:nvSpPr>
          <p:cNvPr id="64" name="Text 62"/>
          <p:cNvSpPr/>
          <p:nvPr/>
        </p:nvSpPr>
        <p:spPr>
          <a:xfrm>
            <a:off x="10972800" y="6537960"/>
            <a:ext cx="777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/ 5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502920"/>
            <a:ext cx="91440" cy="9144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77240" y="420624"/>
            <a:ext cx="10972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500" kern="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 ·  RISKS &amp; DEPENDENCIES — HONEST VIEW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594360" y="777240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B1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stands between us and a defensible MVP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594360" y="1417320"/>
            <a:ext cx="11155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decisions needed from CTO and Chief Architect; two workstream-led items in motion.</a:t>
            </a:r>
            <a:endParaRPr lang="en-US" sz="14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2011680"/>
          <a:ext cx="1115568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2331720"/>
                <a:gridCol w="2743200"/>
                <a:gridCol w="1920240"/>
                <a:gridCol w="1097280"/>
                <a:gridCol w="1051560"/>
              </a:tblGrid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Theme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B5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Root cause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B5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Solution / dependency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B5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Why it helps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B5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Deadline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B5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Owner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B5C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0B1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Reference platform not confirmed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BE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named platform has been agreed to host the first MVP-aligned data plane.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BE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1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Confirm the first reference data platform and accountable sponsor.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BE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i="1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Moves the workstream from theoretical design into executable build.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BE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92400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Immediate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BE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0B1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CTO + Platform sponsor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BEB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0B1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Group AI embedding dependency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BE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Approved embedding path, lifecycle ownership and service commitment not yet formalised.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BE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1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Confirm Group AI as model-lifecycle owner; approved model; MCP access path; refresh model + MVP SLA.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BE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i="1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Removes the keystone dependency for VectorDBaaS and any semantic service.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BE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92400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Immediate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BE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0B1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CTO + Group AI Head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BEB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0B1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Platform engineering capacity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BE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Delivery will stall if no platform engineering team is assigned to the reference platform.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BE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1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Commit named platform engineering capacity for the MVP.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BE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i="1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Without committed engineering hands, the roadmap remains a paper plan.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BE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92400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Immediate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BE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0B1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Platform sponsor + CTO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BEB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0B1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Sequential control-function engagement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BE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Privacy, security, model risk, audit, resilience and TPRM may engage in series, not parallel.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BE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1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CIO-mandated parallel engagement model with checkpoints and stage-by-stage evidence packs.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BE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i="1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Reduces approval delay and late-stage redesign risk.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BE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92400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Stage 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BE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0B1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CIO sponsor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BEB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0B1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Use-case readiness inconsistency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FD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 shortlisted use cases at different maturity; may lack source clarity, classification or acceptance criteria.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FD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1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BA-led structured intake against the standard discovery template; prioritise 2–3 architecture-aligned candidates.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FD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i="1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Replaces lobbying with evidence; focuses scarce architect time on credible MVP candidates.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FD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65F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Stage 0–1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FD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0B1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Lead Architect + Technical BA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FDF5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0B1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Retrieval quality risk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FD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technically compliant service may still fail if relevance is weak or benchmark sets are absent.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FD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1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Define benchmark expectations, quality baselines, tenant acceptance criteria early. Service owns framework; tenant owns benchmarks.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FD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i="1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Avoids building a service that is governance-compliant but low-value.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FD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65F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Stage 1–2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FD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0B1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AI for Tech + Use-case owners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FDF5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594360" y="6446520"/>
            <a:ext cx="502920" cy="2286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594360" y="653796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for Tech  ·  Unstructured Data Workstream  ·  CIO briefing</a:t>
            </a:r>
            <a:endParaRPr lang="en-US" sz="900" dirty="0"/>
          </a:p>
        </p:txBody>
      </p:sp>
      <p:sp>
        <p:nvSpPr>
          <p:cNvPr id="9" name="Text 6"/>
          <p:cNvSpPr/>
          <p:nvPr/>
        </p:nvSpPr>
        <p:spPr>
          <a:xfrm>
            <a:off x="10972800" y="6537960"/>
            <a:ext cx="777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5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502920"/>
            <a:ext cx="91440" cy="9144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77240" y="420624"/>
            <a:ext cx="10972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500" kern="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 ·  TECHNICAL DEEP DIVE  ·  WORKSTREAM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594360" y="777240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B1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Unstructured data — end-to-end reference architecture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594360" y="1417320"/>
            <a:ext cx="11155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build, what we reuse, where peer services and tenants own.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94360" y="2011680"/>
            <a:ext cx="11155680" cy="3154680"/>
          </a:xfrm>
          <a:prstGeom prst="roundRect">
            <a:avLst>
              <a:gd name="adj" fmla="val 1739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22960" y="2194560"/>
            <a:ext cx="274320" cy="274320"/>
          </a:xfrm>
          <a:prstGeom prst="ellipse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21945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1152144" y="2221992"/>
            <a:ext cx="136245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300" kern="0" dirty="0">
                <a:solidFill>
                  <a:srgbClr val="0B1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INGEST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822960" y="2578608"/>
            <a:ext cx="1691640" cy="1097280"/>
          </a:xfrm>
          <a:prstGeom prst="roundRect">
            <a:avLst>
              <a:gd name="adj" fmla="val 3333"/>
            </a:avLst>
          </a:prstGeom>
          <a:solidFill>
            <a:srgbClr val="FFFBEB"/>
          </a:solidFill>
          <a:ln w="9525">
            <a:solidFill>
              <a:srgbClr val="B45309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96112" y="2615184"/>
            <a:ext cx="1545336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822960" y="3749040"/>
            <a:ext cx="1691640" cy="109728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9525">
            <a:solidFill>
              <a:srgbClr val="4A679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96112" y="3785616"/>
            <a:ext cx="1545336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A2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Ingestion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2624328" y="2194560"/>
            <a:ext cx="274320" cy="274320"/>
          </a:xfrm>
          <a:prstGeom prst="ellipse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624328" y="21945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2953512" y="2221992"/>
            <a:ext cx="136245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300" kern="0" dirty="0">
                <a:solidFill>
                  <a:srgbClr val="0B1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PRE-PROCESS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2624328" y="2578608"/>
            <a:ext cx="1691640" cy="512064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9525">
            <a:solidFill>
              <a:srgbClr val="4A6794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97480" y="2615184"/>
            <a:ext cx="154533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A2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Classify · DLP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2624328" y="3163824"/>
            <a:ext cx="1691640" cy="512064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9525">
            <a:solidFill>
              <a:srgbClr val="1A2B5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697480" y="3200400"/>
            <a:ext cx="154533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A2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Redact · Mask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2624328" y="3749040"/>
            <a:ext cx="1691640" cy="512064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9525">
            <a:solidFill>
              <a:srgbClr val="4A6794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97480" y="3785616"/>
            <a:ext cx="154533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A2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Parse · OCR · ASR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2624328" y="4334256"/>
            <a:ext cx="1691640" cy="512064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9525">
            <a:solidFill>
              <a:srgbClr val="1A2B5C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2697480" y="4370832"/>
            <a:ext cx="154533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A2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Chunking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4425696" y="2194560"/>
            <a:ext cx="274320" cy="274320"/>
          </a:xfrm>
          <a:prstGeom prst="ellipse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425696" y="21945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4754880" y="2221992"/>
            <a:ext cx="136245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300" kern="0" dirty="0">
                <a:solidFill>
                  <a:srgbClr val="0B1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ENRICH &amp; EMBED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4425696" y="2578608"/>
            <a:ext cx="1691640" cy="109728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9525">
            <a:solidFill>
              <a:srgbClr val="4A6794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498848" y="2615184"/>
            <a:ext cx="1545336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A2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Metadata enrichment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4425696" y="3749040"/>
            <a:ext cx="1691640" cy="1097280"/>
          </a:xfrm>
          <a:prstGeom prst="roundRect">
            <a:avLst>
              <a:gd name="adj" fmla="val 3333"/>
            </a:avLst>
          </a:prstGeom>
          <a:solidFill>
            <a:srgbClr val="ECFDF5"/>
          </a:solidFill>
          <a:ln w="9525">
            <a:solidFill>
              <a:srgbClr val="047857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498848" y="3785616"/>
            <a:ext cx="1545336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65F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Embedding model · MCP</a:t>
            </a:r>
            <a:endParaRPr lang="en-US" sz="950" dirty="0"/>
          </a:p>
          <a:p>
            <a:pPr algn="ctr" indent="0" marL="0">
              <a:buNone/>
            </a:pPr>
            <a:r>
              <a:rPr lang="en-US" sz="950" b="1" dirty="0">
                <a:solidFill>
                  <a:srgbClr val="065F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(Group AI)</a:t>
            </a:r>
            <a:endParaRPr lang="en-US" sz="950" dirty="0"/>
          </a:p>
        </p:txBody>
      </p:sp>
      <p:sp>
        <p:nvSpPr>
          <p:cNvPr id="32" name="Shape 30"/>
          <p:cNvSpPr/>
          <p:nvPr/>
        </p:nvSpPr>
        <p:spPr>
          <a:xfrm>
            <a:off x="6227064" y="2194560"/>
            <a:ext cx="274320" cy="274320"/>
          </a:xfrm>
          <a:prstGeom prst="ellipse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227064" y="21945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6556248" y="2221992"/>
            <a:ext cx="136245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300" kern="0" dirty="0">
                <a:solidFill>
                  <a:srgbClr val="0B1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STORE &amp; RETRIEVE</a:t>
            </a:r>
            <a:endParaRPr lang="en-US" sz="950" dirty="0"/>
          </a:p>
        </p:txBody>
      </p:sp>
      <p:sp>
        <p:nvSpPr>
          <p:cNvPr id="35" name="Shape 33"/>
          <p:cNvSpPr/>
          <p:nvPr/>
        </p:nvSpPr>
        <p:spPr>
          <a:xfrm>
            <a:off x="6227064" y="2578608"/>
            <a:ext cx="1691640" cy="2267712"/>
          </a:xfrm>
          <a:prstGeom prst="roundRect">
            <a:avLst>
              <a:gd name="adj" fmla="val 2162"/>
            </a:avLst>
          </a:prstGeom>
          <a:solidFill>
            <a:srgbClr val="1A2B5C"/>
          </a:solidFill>
          <a:ln w="19050">
            <a:solidFill>
              <a:srgbClr val="1A2B5C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20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6300216" y="2615184"/>
            <a:ext cx="1545336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VECTORDBAAS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8028432" y="2194560"/>
            <a:ext cx="274320" cy="274320"/>
          </a:xfrm>
          <a:prstGeom prst="ellipse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8028432" y="21945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8357616" y="2221992"/>
            <a:ext cx="136245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300" kern="0" dirty="0">
                <a:solidFill>
                  <a:srgbClr val="0B1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INTEGRATION</a:t>
            </a:r>
            <a:endParaRPr lang="en-US" sz="950" dirty="0"/>
          </a:p>
        </p:txBody>
      </p:sp>
      <p:sp>
        <p:nvSpPr>
          <p:cNvPr id="40" name="Shape 38"/>
          <p:cNvSpPr/>
          <p:nvPr/>
        </p:nvSpPr>
        <p:spPr>
          <a:xfrm>
            <a:off x="8028432" y="2578608"/>
            <a:ext cx="1691640" cy="1097280"/>
          </a:xfrm>
          <a:prstGeom prst="roundRect">
            <a:avLst>
              <a:gd name="adj" fmla="val 3333"/>
            </a:avLst>
          </a:prstGeom>
          <a:solidFill>
            <a:srgbClr val="F1F5F9"/>
          </a:solidFill>
          <a:ln w="9525">
            <a:solidFill>
              <a:srgbClr val="94A3B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8101584" y="2615184"/>
            <a:ext cx="1545336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Knowledge representation</a:t>
            </a:r>
            <a:endParaRPr lang="en-US" sz="950" dirty="0"/>
          </a:p>
        </p:txBody>
      </p:sp>
      <p:sp>
        <p:nvSpPr>
          <p:cNvPr id="42" name="Shape 40"/>
          <p:cNvSpPr/>
          <p:nvPr/>
        </p:nvSpPr>
        <p:spPr>
          <a:xfrm>
            <a:off x="8028432" y="3749040"/>
            <a:ext cx="1691640" cy="1097280"/>
          </a:xfrm>
          <a:prstGeom prst="roundRect">
            <a:avLst>
              <a:gd name="adj" fmla="val 3333"/>
            </a:avLst>
          </a:prstGeom>
          <a:solidFill>
            <a:srgbClr val="ECFDF5"/>
          </a:solidFill>
          <a:ln w="9525">
            <a:solidFill>
              <a:srgbClr val="04785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8101584" y="3785616"/>
            <a:ext cx="1545336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65F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gateway · MCP</a:t>
            </a:r>
            <a:endParaRPr lang="en-US" sz="950" dirty="0"/>
          </a:p>
          <a:p>
            <a:pPr algn="ctr" indent="0" marL="0">
              <a:buNone/>
            </a:pPr>
            <a:r>
              <a:rPr lang="en-US" sz="950" b="1" dirty="0">
                <a:solidFill>
                  <a:srgbClr val="065F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(Group AI)</a:t>
            </a:r>
            <a:endParaRPr lang="en-US" sz="950" dirty="0"/>
          </a:p>
        </p:txBody>
      </p:sp>
      <p:sp>
        <p:nvSpPr>
          <p:cNvPr id="44" name="Shape 42"/>
          <p:cNvSpPr/>
          <p:nvPr/>
        </p:nvSpPr>
        <p:spPr>
          <a:xfrm>
            <a:off x="9829800" y="2194560"/>
            <a:ext cx="274320" cy="274320"/>
          </a:xfrm>
          <a:prstGeom prst="ellipse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9829800" y="21945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100" dirty="0"/>
          </a:p>
        </p:txBody>
      </p:sp>
      <p:sp>
        <p:nvSpPr>
          <p:cNvPr id="46" name="Text 44"/>
          <p:cNvSpPr/>
          <p:nvPr/>
        </p:nvSpPr>
        <p:spPr>
          <a:xfrm>
            <a:off x="10158984" y="2221992"/>
            <a:ext cx="136245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300" kern="0" dirty="0">
                <a:solidFill>
                  <a:srgbClr val="0B1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CONSUME</a:t>
            </a:r>
            <a:endParaRPr lang="en-US" sz="950" dirty="0"/>
          </a:p>
        </p:txBody>
      </p:sp>
      <p:sp>
        <p:nvSpPr>
          <p:cNvPr id="47" name="Shape 45"/>
          <p:cNvSpPr/>
          <p:nvPr/>
        </p:nvSpPr>
        <p:spPr>
          <a:xfrm>
            <a:off x="9829800" y="2578608"/>
            <a:ext cx="1691640" cy="109728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9525">
            <a:solidFill>
              <a:srgbClr val="1A2B5C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9902952" y="2615184"/>
            <a:ext cx="1545336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A2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 retrieval</a:t>
            </a:r>
            <a:endParaRPr lang="en-US" sz="950" dirty="0"/>
          </a:p>
        </p:txBody>
      </p:sp>
      <p:sp>
        <p:nvSpPr>
          <p:cNvPr id="49" name="Shape 47"/>
          <p:cNvSpPr/>
          <p:nvPr/>
        </p:nvSpPr>
        <p:spPr>
          <a:xfrm>
            <a:off x="9829800" y="3749040"/>
            <a:ext cx="1691640" cy="109728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9525">
            <a:solidFill>
              <a:srgbClr val="1A2B5C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9902952" y="3785616"/>
            <a:ext cx="1545336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A2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Fabric semantic products</a:t>
            </a:r>
            <a:endParaRPr lang="en-US" sz="950" dirty="0"/>
          </a:p>
        </p:txBody>
      </p:sp>
      <p:sp>
        <p:nvSpPr>
          <p:cNvPr id="51" name="Shape 49"/>
          <p:cNvSpPr/>
          <p:nvPr/>
        </p:nvSpPr>
        <p:spPr>
          <a:xfrm>
            <a:off x="822960" y="4754880"/>
            <a:ext cx="10698480" cy="274320"/>
          </a:xfrm>
          <a:prstGeom prst="roundRect">
            <a:avLst>
              <a:gd name="adj" fmla="val 13333"/>
            </a:avLst>
          </a:prstGeom>
          <a:solidFill>
            <a:srgbClr val="2D4275"/>
          </a:solidFill>
          <a:ln w="12700">
            <a:solidFill>
              <a:srgbClr val="2D4275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822960" y="4754880"/>
            <a:ext cx="10698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CROSS-CUTTING   ·   Lineage   ·   Audit   ·   Observability   ·   FinOps   ·   IAM / PAM   ·   KMS   ·   Residency   ·   Model Risk   ·   TPRM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685800" y="5312664"/>
            <a:ext cx="164592" cy="146304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9525">
            <a:solidFill>
              <a:srgbClr val="1A2B5C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886968" y="5276088"/>
            <a:ext cx="1691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B1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Workstream-built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2560320" y="5312664"/>
            <a:ext cx="164592" cy="146304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9525">
            <a:solidFill>
              <a:srgbClr val="4A6794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2761488" y="5276088"/>
            <a:ext cx="1691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B1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Reuse / integrate</a:t>
            </a:r>
            <a:endParaRPr lang="en-US" sz="900" dirty="0"/>
          </a:p>
        </p:txBody>
      </p:sp>
      <p:sp>
        <p:nvSpPr>
          <p:cNvPr id="57" name="Shape 55"/>
          <p:cNvSpPr/>
          <p:nvPr/>
        </p:nvSpPr>
        <p:spPr>
          <a:xfrm>
            <a:off x="4434840" y="5312664"/>
            <a:ext cx="164592" cy="146304"/>
          </a:xfrm>
          <a:prstGeom prst="roundRect">
            <a:avLst>
              <a:gd name="adj" fmla="val 12500"/>
            </a:avLst>
          </a:prstGeom>
          <a:solidFill>
            <a:srgbClr val="ECFDF5"/>
          </a:solidFill>
          <a:ln w="9525">
            <a:solidFill>
              <a:srgbClr val="047857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4636008" y="5276088"/>
            <a:ext cx="1691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B1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AI–owned</a:t>
            </a:r>
            <a:endParaRPr lang="en-US" sz="900" dirty="0"/>
          </a:p>
        </p:txBody>
      </p:sp>
      <p:sp>
        <p:nvSpPr>
          <p:cNvPr id="59" name="Shape 57"/>
          <p:cNvSpPr/>
          <p:nvPr/>
        </p:nvSpPr>
        <p:spPr>
          <a:xfrm>
            <a:off x="6309360" y="5312664"/>
            <a:ext cx="164592" cy="146304"/>
          </a:xfrm>
          <a:prstGeom prst="roundRect">
            <a:avLst>
              <a:gd name="adj" fmla="val 12500"/>
            </a:avLst>
          </a:prstGeom>
          <a:solidFill>
            <a:srgbClr val="F1F5F9"/>
          </a:solidFill>
          <a:ln w="9525">
            <a:solidFill>
              <a:srgbClr val="94A3B8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6510528" y="5276088"/>
            <a:ext cx="1691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B1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Peer / future</a:t>
            </a:r>
            <a:endParaRPr lang="en-US" sz="900" dirty="0"/>
          </a:p>
        </p:txBody>
      </p:sp>
      <p:sp>
        <p:nvSpPr>
          <p:cNvPr id="61" name="Shape 59"/>
          <p:cNvSpPr/>
          <p:nvPr/>
        </p:nvSpPr>
        <p:spPr>
          <a:xfrm>
            <a:off x="8183880" y="5312664"/>
            <a:ext cx="164592" cy="146304"/>
          </a:xfrm>
          <a:prstGeom prst="roundRect">
            <a:avLst>
              <a:gd name="adj" fmla="val 12500"/>
            </a:avLst>
          </a:prstGeom>
          <a:solidFill>
            <a:srgbClr val="FFFBEB"/>
          </a:solidFill>
          <a:ln w="9525">
            <a:solidFill>
              <a:srgbClr val="B45309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8385048" y="5276088"/>
            <a:ext cx="1691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B1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Tenant-owned</a:t>
            </a:r>
            <a:endParaRPr lang="en-US" sz="900" dirty="0"/>
          </a:p>
        </p:txBody>
      </p:sp>
      <p:sp>
        <p:nvSpPr>
          <p:cNvPr id="63" name="Shape 61"/>
          <p:cNvSpPr/>
          <p:nvPr/>
        </p:nvSpPr>
        <p:spPr>
          <a:xfrm>
            <a:off x="10058400" y="5312664"/>
            <a:ext cx="164592" cy="146304"/>
          </a:xfrm>
          <a:prstGeom prst="roundRect">
            <a:avLst>
              <a:gd name="adj" fmla="val 12500"/>
            </a:avLst>
          </a:prstGeom>
          <a:solidFill>
            <a:srgbClr val="1A2B5C"/>
          </a:solidFill>
          <a:ln w="9525">
            <a:solidFill>
              <a:srgbClr val="1A2B5C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10259568" y="5276088"/>
            <a:ext cx="1691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B1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Keystone — VectorDBaaS</a:t>
            </a:r>
            <a:endParaRPr lang="en-US" sz="900" dirty="0"/>
          </a:p>
        </p:txBody>
      </p:sp>
      <p:sp>
        <p:nvSpPr>
          <p:cNvPr id="65" name="Shape 63"/>
          <p:cNvSpPr/>
          <p:nvPr/>
        </p:nvSpPr>
        <p:spPr>
          <a:xfrm>
            <a:off x="594360" y="5641848"/>
            <a:ext cx="3657600" cy="77724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6000"/>
              </a:srgbClr>
            </a:outerShdw>
          </a:effectLst>
        </p:spPr>
      </p:sp>
      <p:sp>
        <p:nvSpPr>
          <p:cNvPr id="66" name="Shape 64"/>
          <p:cNvSpPr/>
          <p:nvPr/>
        </p:nvSpPr>
        <p:spPr>
          <a:xfrm>
            <a:off x="777240" y="5779008"/>
            <a:ext cx="73152" cy="73152"/>
          </a:xfrm>
          <a:prstGeom prst="rect">
            <a:avLst/>
          </a:prstGeom>
          <a:solidFill>
            <a:srgbClr val="1A2B5C"/>
          </a:solidFill>
          <a:ln w="12700">
            <a:solidFill>
              <a:srgbClr val="1A2B5C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941832" y="5733288"/>
            <a:ext cx="31272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400" kern="0" dirty="0">
                <a:solidFill>
                  <a:srgbClr val="1A2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WE INVEST FIRST</a:t>
            </a:r>
            <a:endParaRPr lang="en-US" sz="950" dirty="0"/>
          </a:p>
        </p:txBody>
      </p:sp>
      <p:sp>
        <p:nvSpPr>
          <p:cNvPr id="68" name="Text 66"/>
          <p:cNvSpPr/>
          <p:nvPr/>
        </p:nvSpPr>
        <p:spPr>
          <a:xfrm>
            <a:off x="777240" y="5971032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0B1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VectorDBaaS · Embedding registry integration · Collection contract · Onboarding · Retrieval API</a:t>
            </a:r>
            <a:endParaRPr lang="en-US" sz="950" dirty="0"/>
          </a:p>
        </p:txBody>
      </p:sp>
      <p:sp>
        <p:nvSpPr>
          <p:cNvPr id="69" name="Shape 67"/>
          <p:cNvSpPr/>
          <p:nvPr/>
        </p:nvSpPr>
        <p:spPr>
          <a:xfrm>
            <a:off x="4343400" y="5641848"/>
            <a:ext cx="3657600" cy="77724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6000"/>
              </a:srgbClr>
            </a:outerShdw>
          </a:effectLst>
        </p:spPr>
      </p:sp>
      <p:sp>
        <p:nvSpPr>
          <p:cNvPr id="70" name="Shape 68"/>
          <p:cNvSpPr/>
          <p:nvPr/>
        </p:nvSpPr>
        <p:spPr>
          <a:xfrm>
            <a:off x="4526280" y="5779008"/>
            <a:ext cx="73152" cy="73152"/>
          </a:xfrm>
          <a:prstGeom prst="rect">
            <a:avLst/>
          </a:prstGeom>
          <a:solidFill>
            <a:srgbClr val="4A6794"/>
          </a:solidFill>
          <a:ln w="12700">
            <a:solidFill>
              <a:srgbClr val="4A6794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4690872" y="5733288"/>
            <a:ext cx="31272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400" kern="0" dirty="0">
                <a:solidFill>
                  <a:srgbClr val="4A67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WE REUSE / INTEGRATE</a:t>
            </a:r>
            <a:endParaRPr lang="en-US" sz="950" dirty="0"/>
          </a:p>
        </p:txBody>
      </p:sp>
      <p:sp>
        <p:nvSpPr>
          <p:cNvPr id="72" name="Text 70"/>
          <p:cNvSpPr/>
          <p:nvPr/>
        </p:nvSpPr>
        <p:spPr>
          <a:xfrm>
            <a:off x="4526280" y="5971032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65F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AI shared services (embedding model + LLM gateway via MCP)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0B1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Enterprise DLP · Classification · Catalogue · KMS · IAM/PAM · Existing platform ingestion</a:t>
            </a:r>
            <a:endParaRPr lang="en-US" sz="950" dirty="0"/>
          </a:p>
        </p:txBody>
      </p:sp>
      <p:sp>
        <p:nvSpPr>
          <p:cNvPr id="73" name="Shape 71"/>
          <p:cNvSpPr/>
          <p:nvPr/>
        </p:nvSpPr>
        <p:spPr>
          <a:xfrm>
            <a:off x="8092440" y="5641848"/>
            <a:ext cx="3657600" cy="777240"/>
          </a:xfrm>
          <a:prstGeom prst="roundRect">
            <a:avLst>
              <a:gd name="adj" fmla="val 7059"/>
            </a:avLst>
          </a:prstGeom>
          <a:solidFill>
            <a:srgbClr val="FFFBEB"/>
          </a:solidFill>
          <a:ln w="9525">
            <a:solidFill>
              <a:srgbClr val="B45309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6000"/>
              </a:srgbClr>
            </a:outerShdw>
          </a:effectLst>
        </p:spPr>
      </p:sp>
      <p:sp>
        <p:nvSpPr>
          <p:cNvPr id="74" name="Shape 72"/>
          <p:cNvSpPr/>
          <p:nvPr/>
        </p:nvSpPr>
        <p:spPr>
          <a:xfrm>
            <a:off x="8275320" y="5779008"/>
            <a:ext cx="73152" cy="73152"/>
          </a:xfrm>
          <a:prstGeom prst="rect">
            <a:avLst/>
          </a:prstGeom>
          <a:solidFill>
            <a:srgbClr val="92400E"/>
          </a:solidFill>
          <a:ln w="12700">
            <a:solidFill>
              <a:srgbClr val="92400E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8439912" y="5733288"/>
            <a:ext cx="31272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400" kern="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PEERS / TENANTS OWN</a:t>
            </a:r>
            <a:endParaRPr lang="en-US" sz="950" dirty="0"/>
          </a:p>
        </p:txBody>
      </p:sp>
      <p:sp>
        <p:nvSpPr>
          <p:cNvPr id="76" name="Text 74"/>
          <p:cNvSpPr/>
          <p:nvPr/>
        </p:nvSpPr>
        <p:spPr>
          <a:xfrm>
            <a:off x="8275320" y="5971032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0B1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 data classification · Benchmark sets · Use-case prompt logic · Knowledge graphs · Bespoke ranking</a:t>
            </a:r>
            <a:endParaRPr lang="en-US" sz="950" dirty="0"/>
          </a:p>
        </p:txBody>
      </p:sp>
      <p:sp>
        <p:nvSpPr>
          <p:cNvPr id="77" name="Shape 75"/>
          <p:cNvSpPr/>
          <p:nvPr/>
        </p:nvSpPr>
        <p:spPr>
          <a:xfrm>
            <a:off x="594360" y="6446520"/>
            <a:ext cx="502920" cy="2286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594360" y="653796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for Tech  ·  Unstructured Data Workstream  ·  CIO briefing</a:t>
            </a:r>
            <a:endParaRPr lang="en-US" sz="900" dirty="0"/>
          </a:p>
        </p:txBody>
      </p:sp>
      <p:sp>
        <p:nvSpPr>
          <p:cNvPr id="79" name="Text 77"/>
          <p:cNvSpPr/>
          <p:nvPr/>
        </p:nvSpPr>
        <p:spPr>
          <a:xfrm>
            <a:off x="10972800" y="6537960"/>
            <a:ext cx="777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5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502920"/>
            <a:ext cx="91440" cy="9144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77240" y="420624"/>
            <a:ext cx="10972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500" kern="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 ·  TECHNICAL DEEP DIVE  ·  KEYSTONE SERVICE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594360" y="777240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B1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VectorDBaaS — how the keystone service is shaped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594360" y="1417320"/>
            <a:ext cx="11155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Hub-and-spoke architecture: one control plane, federated data planes, dual-access governance.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94360" y="2011680"/>
            <a:ext cx="11155680" cy="3246120"/>
          </a:xfrm>
          <a:prstGeom prst="roundRect">
            <a:avLst>
              <a:gd name="adj" fmla="val 1690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22960" y="2240280"/>
            <a:ext cx="73152" cy="73152"/>
          </a:xfrm>
          <a:prstGeom prst="rect">
            <a:avLst/>
          </a:prstGeom>
          <a:solidFill>
            <a:srgbClr val="94A3B8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87552" y="2194560"/>
            <a:ext cx="105338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400" kern="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CONSUMERS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822960" y="2450592"/>
            <a:ext cx="3474720" cy="3657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96112" y="2487168"/>
            <a:ext cx="33284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B1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assistants &amp; RAG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434840" y="2450592"/>
            <a:ext cx="3474720" cy="3657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507992" y="2487168"/>
            <a:ext cx="33284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B1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Agentic workflows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8046720" y="2450592"/>
            <a:ext cx="3474720" cy="3657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119872" y="2487168"/>
            <a:ext cx="33284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B1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 / data-product consumers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822960" y="3017520"/>
            <a:ext cx="73152" cy="73152"/>
          </a:xfrm>
          <a:prstGeom prst="rect">
            <a:avLst/>
          </a:prstGeom>
          <a:solidFill>
            <a:srgbClr val="94A3B8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87552" y="2971800"/>
            <a:ext cx="105338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400" kern="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ACCESS LAYER  ·  DUAL ACCESS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822960" y="3227832"/>
            <a:ext cx="5257800" cy="365760"/>
          </a:xfrm>
          <a:prstGeom prst="roundRect">
            <a:avLst>
              <a:gd name="adj" fmla="val 10000"/>
            </a:avLst>
          </a:prstGeom>
          <a:solidFill>
            <a:srgbClr val="F1F5F9"/>
          </a:solidFill>
          <a:ln w="9525">
            <a:solidFill>
              <a:srgbClr val="4A6794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96112" y="3264408"/>
            <a:ext cx="51114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B1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 runtime retrieval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263640" y="3227832"/>
            <a:ext cx="5257800" cy="365760"/>
          </a:xfrm>
          <a:prstGeom prst="roundRect">
            <a:avLst>
              <a:gd name="adj" fmla="val 10000"/>
            </a:avLst>
          </a:prstGeom>
          <a:solidFill>
            <a:srgbClr val="F1F5F9"/>
          </a:solidFill>
          <a:ln w="9525">
            <a:solidFill>
              <a:srgbClr val="4A6794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336792" y="3264408"/>
            <a:ext cx="51114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B1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Fabric semantic &amp; vector-derived products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822960" y="3749040"/>
            <a:ext cx="10698480" cy="502920"/>
          </a:xfrm>
          <a:prstGeom prst="roundRect">
            <a:avLst>
              <a:gd name="adj" fmla="val 7273"/>
            </a:avLst>
          </a:prstGeom>
          <a:solidFill>
            <a:srgbClr val="1A2B5C"/>
          </a:solidFill>
          <a:ln w="9525">
            <a:solidFill>
              <a:srgbClr val="1A2B5C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18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896112" y="3785616"/>
            <a:ext cx="10552176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 PLANE   ·   Service Registry  ·  Embedding Registry (Group AI)  ·  Lifecycle  ·  Classification  ·  Lineage  ·  Observability  ·  Policy  ·  Audit  ·  API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822960" y="4389120"/>
            <a:ext cx="3474720" cy="365760"/>
          </a:xfrm>
          <a:prstGeom prst="roundRect">
            <a:avLst>
              <a:gd name="adj" fmla="val 10000"/>
            </a:avLst>
          </a:prstGeom>
          <a:solidFill>
            <a:srgbClr val="2D4275"/>
          </a:solidFill>
          <a:ln w="9525">
            <a:solidFill>
              <a:srgbClr val="2D4275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96112" y="4425696"/>
            <a:ext cx="33284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Plane  ·  CIB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4434840" y="4389120"/>
            <a:ext cx="3474720" cy="365760"/>
          </a:xfrm>
          <a:prstGeom prst="roundRect">
            <a:avLst>
              <a:gd name="adj" fmla="val 10000"/>
            </a:avLst>
          </a:prstGeom>
          <a:solidFill>
            <a:srgbClr val="2D4275"/>
          </a:solidFill>
          <a:ln w="9525">
            <a:solidFill>
              <a:srgbClr val="2D4275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507992" y="4425696"/>
            <a:ext cx="33284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Plane  ·  WPB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8046720" y="4389120"/>
            <a:ext cx="3474720" cy="365760"/>
          </a:xfrm>
          <a:prstGeom prst="roundRect">
            <a:avLst>
              <a:gd name="adj" fmla="val 10000"/>
            </a:avLst>
          </a:prstGeom>
          <a:solidFill>
            <a:srgbClr val="2D4275"/>
          </a:solidFill>
          <a:ln w="9525">
            <a:solidFill>
              <a:srgbClr val="2D4275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119872" y="4425696"/>
            <a:ext cx="33284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Plane  ·  Other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594360" y="5440680"/>
            <a:ext cx="3657600" cy="86868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6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777240" y="5577840"/>
            <a:ext cx="73152" cy="73152"/>
          </a:xfrm>
          <a:prstGeom prst="rect">
            <a:avLst/>
          </a:prstGeom>
          <a:solidFill>
            <a:srgbClr val="1A2B5C"/>
          </a:solidFill>
          <a:ln w="12700">
            <a:solidFill>
              <a:srgbClr val="1A2B5C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941832" y="5532120"/>
            <a:ext cx="31272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400" kern="0" dirty="0">
                <a:solidFill>
                  <a:srgbClr val="1A2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 PLANE — 9 ENGINEERED COMPONENTS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777240" y="5769864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0B1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 Registry · Embedding Registry · Index Lifecycle · Classification &amp; DLP Gate · Lineage Publisher · Observability &amp; FinOps · Policy Distribution · Audit Pipeline · Public API</a:t>
            </a:r>
            <a:endParaRPr lang="en-US" sz="950" dirty="0"/>
          </a:p>
        </p:txBody>
      </p:sp>
      <p:sp>
        <p:nvSpPr>
          <p:cNvPr id="33" name="Shape 31"/>
          <p:cNvSpPr/>
          <p:nvPr/>
        </p:nvSpPr>
        <p:spPr>
          <a:xfrm>
            <a:off x="4343400" y="5440680"/>
            <a:ext cx="3657600" cy="86868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6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4526280" y="5577840"/>
            <a:ext cx="73152" cy="73152"/>
          </a:xfrm>
          <a:prstGeom prst="rect">
            <a:avLst/>
          </a:prstGeom>
          <a:solidFill>
            <a:srgbClr val="4A6794"/>
          </a:solidFill>
          <a:ln w="12700">
            <a:solidFill>
              <a:srgbClr val="4A6794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690872" y="5532120"/>
            <a:ext cx="31272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400" kern="0" dirty="0">
                <a:solidFill>
                  <a:srgbClr val="4A67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PLANES — FEDERATED, RESIDENCY-LOCAL</a:t>
            </a:r>
            <a:endParaRPr lang="en-US" sz="950" dirty="0"/>
          </a:p>
        </p:txBody>
      </p:sp>
      <p:sp>
        <p:nvSpPr>
          <p:cNvPr id="36" name="Text 34"/>
          <p:cNvSpPr/>
          <p:nvPr/>
        </p:nvSpPr>
        <p:spPr>
          <a:xfrm>
            <a:off x="4526280" y="5769864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0B1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Vector engine · embedding execution · retrieval API · runtime access enforcement · cache &amp; session — one per data platform. Vectors never leave the plane.</a:t>
            </a:r>
            <a:endParaRPr lang="en-US" sz="950" dirty="0"/>
          </a:p>
        </p:txBody>
      </p:sp>
      <p:sp>
        <p:nvSpPr>
          <p:cNvPr id="37" name="Shape 35"/>
          <p:cNvSpPr/>
          <p:nvPr/>
        </p:nvSpPr>
        <p:spPr>
          <a:xfrm>
            <a:off x="8092440" y="5440680"/>
            <a:ext cx="3657600" cy="868680"/>
          </a:xfrm>
          <a:prstGeom prst="roundRect">
            <a:avLst>
              <a:gd name="adj" fmla="val 6316"/>
            </a:avLst>
          </a:prstGeom>
          <a:solidFill>
            <a:srgbClr val="FFFBEB"/>
          </a:solidFill>
          <a:ln w="9525">
            <a:solidFill>
              <a:srgbClr val="B45309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6000"/>
              </a:srgbClr>
            </a:outerShdw>
          </a:effectLst>
        </p:spPr>
      </p:sp>
      <p:sp>
        <p:nvSpPr>
          <p:cNvPr id="38" name="Shape 36"/>
          <p:cNvSpPr/>
          <p:nvPr/>
        </p:nvSpPr>
        <p:spPr>
          <a:xfrm>
            <a:off x="8275320" y="5577840"/>
            <a:ext cx="73152" cy="73152"/>
          </a:xfrm>
          <a:prstGeom prst="rect">
            <a:avLst/>
          </a:prstGeom>
          <a:solidFill>
            <a:srgbClr val="92400E"/>
          </a:solidFill>
          <a:ln w="12700">
            <a:solidFill>
              <a:srgbClr val="92400E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8439912" y="5532120"/>
            <a:ext cx="31272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400" kern="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1 MATERIAL OUTCOME</a:t>
            </a:r>
            <a:endParaRPr lang="en-US" sz="950" dirty="0"/>
          </a:p>
        </p:txBody>
      </p:sp>
      <p:sp>
        <p:nvSpPr>
          <p:cNvPr id="40" name="Text 38"/>
          <p:cNvSpPr/>
          <p:nvPr/>
        </p:nvSpPr>
        <p:spPr>
          <a:xfrm>
            <a:off x="8275320" y="5769864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0B1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Compliance Policy Assistant live end-to-end on one data plane, under contract, with audit-grade evidence pack — model-risk artefacts, DPIA, and change-mgmt approval.</a:t>
            </a:r>
            <a:endParaRPr lang="en-US" sz="950" dirty="0"/>
          </a:p>
        </p:txBody>
      </p:sp>
      <p:sp>
        <p:nvSpPr>
          <p:cNvPr id="41" name="Shape 39"/>
          <p:cNvSpPr/>
          <p:nvPr/>
        </p:nvSpPr>
        <p:spPr>
          <a:xfrm>
            <a:off x="594360" y="6446520"/>
            <a:ext cx="502920" cy="2286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" y="653796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for Tech  ·  Unstructured Data Workstream  ·  CIO briefing</a:t>
            </a:r>
            <a:endParaRPr lang="en-US" sz="900" dirty="0"/>
          </a:p>
        </p:txBody>
      </p:sp>
      <p:sp>
        <p:nvSpPr>
          <p:cNvPr id="43" name="Text 41"/>
          <p:cNvSpPr/>
          <p:nvPr/>
        </p:nvSpPr>
        <p:spPr>
          <a:xfrm>
            <a:off x="10972800" y="6537960"/>
            <a:ext cx="777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5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502920"/>
            <a:ext cx="91440" cy="9144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77240" y="420624"/>
            <a:ext cx="10972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500" kern="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 ·  TOP 5 ASKS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594360" y="777240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B1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need from CTO and Chief Architect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594360" y="1417320"/>
            <a:ext cx="11155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ask removes a specific blocker on the path to a defensible MVP.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94360" y="2011680"/>
            <a:ext cx="11155680" cy="786384"/>
          </a:xfrm>
          <a:prstGeom prst="roundRect">
            <a:avLst>
              <a:gd name="adj" fmla="val 6977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27000" dist="12700" dir="5400000">
              <a:srgbClr val="000000">
                <a:alpha val="7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868680" y="2157984"/>
            <a:ext cx="502920" cy="502920"/>
          </a:xfrm>
          <a:prstGeom prst="ellipse">
            <a:avLst/>
          </a:prstGeom>
          <a:solidFill>
            <a:srgbClr val="1A2B5C"/>
          </a:solidFill>
          <a:ln w="12700">
            <a:solidFill>
              <a:srgbClr val="1A2B5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68680" y="2157984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1600200" y="2103120"/>
            <a:ext cx="7680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B1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 dedicated lead-architect bandwidth (≥ 80%) for Stage 0–1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1600200" y="2395728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50% allocation is the single largest velocity constraint. Reallocate to ≥ 80% for the duration of Stage 0–1 — or formally accept slower velocity and a longer Stage 0.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9555480" y="2176272"/>
            <a:ext cx="1005840" cy="256032"/>
          </a:xfrm>
          <a:prstGeom prst="roundRect">
            <a:avLst>
              <a:gd name="adj" fmla="val 50000"/>
            </a:avLst>
          </a:prstGeom>
          <a:solidFill>
            <a:srgbClr val="FFFBEB"/>
          </a:solidFill>
          <a:ln w="6350">
            <a:solidFill>
              <a:srgbClr val="92400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555480" y="2176272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300" kern="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</a:t>
            </a:r>
            <a:endParaRPr lang="en-US" sz="850" dirty="0"/>
          </a:p>
        </p:txBody>
      </p:sp>
      <p:sp>
        <p:nvSpPr>
          <p:cNvPr id="13" name="Text 11"/>
          <p:cNvSpPr/>
          <p:nvPr/>
        </p:nvSpPr>
        <p:spPr>
          <a:xfrm>
            <a:off x="10652760" y="2176272"/>
            <a:ext cx="10058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spc="300" kern="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DUE</a:t>
            </a:r>
            <a:endParaRPr lang="en-US" sz="700" dirty="0"/>
          </a:p>
        </p:txBody>
      </p:sp>
      <p:sp>
        <p:nvSpPr>
          <p:cNvPr id="14" name="Text 12"/>
          <p:cNvSpPr/>
          <p:nvPr/>
        </p:nvSpPr>
        <p:spPr>
          <a:xfrm>
            <a:off x="10652760" y="2304288"/>
            <a:ext cx="1005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B1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0 exit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594360" y="2916936"/>
            <a:ext cx="11155680" cy="786384"/>
          </a:xfrm>
          <a:prstGeom prst="roundRect">
            <a:avLst>
              <a:gd name="adj" fmla="val 6977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27000" dist="12700" dir="5400000">
              <a:srgbClr val="000000">
                <a:alpha val="7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868680" y="3063240"/>
            <a:ext cx="502920" cy="502920"/>
          </a:xfrm>
          <a:prstGeom prst="ellipse">
            <a:avLst/>
          </a:prstGeom>
          <a:solidFill>
            <a:srgbClr val="1A2B5C"/>
          </a:solidFill>
          <a:ln w="12700">
            <a:solidFill>
              <a:srgbClr val="1A2B5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68680" y="30632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1600200" y="3008376"/>
            <a:ext cx="7680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B1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 the first reference data platform and committed sponsor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1600200" y="3300984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MVP cannot begin without a named CIB / WPB / other group-platform sponsor with committed engineering capacity. CTO-level call.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9555480" y="3081528"/>
            <a:ext cx="1005840" cy="256032"/>
          </a:xfrm>
          <a:prstGeom prst="roundRect">
            <a:avLst>
              <a:gd name="adj" fmla="val 50000"/>
            </a:avLst>
          </a:prstGeom>
          <a:solidFill>
            <a:srgbClr val="FFFBEB"/>
          </a:solidFill>
          <a:ln w="6350">
            <a:solidFill>
              <a:srgbClr val="92400E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555480" y="3081528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300" kern="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10652760" y="3081528"/>
            <a:ext cx="10058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spc="300" kern="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DUE</a:t>
            </a:r>
            <a:endParaRPr lang="en-US" sz="700" dirty="0"/>
          </a:p>
        </p:txBody>
      </p:sp>
      <p:sp>
        <p:nvSpPr>
          <p:cNvPr id="23" name="Text 21"/>
          <p:cNvSpPr/>
          <p:nvPr/>
        </p:nvSpPr>
        <p:spPr>
          <a:xfrm>
            <a:off x="10652760" y="3209544"/>
            <a:ext cx="1005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B1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0 exit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594360" y="3822192"/>
            <a:ext cx="11155680" cy="786384"/>
          </a:xfrm>
          <a:prstGeom prst="roundRect">
            <a:avLst>
              <a:gd name="adj" fmla="val 6977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27000" dist="12700" dir="5400000">
              <a:srgbClr val="000000">
                <a:alpha val="7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868680" y="3968496"/>
            <a:ext cx="502920" cy="502920"/>
          </a:xfrm>
          <a:prstGeom prst="ellipse">
            <a:avLst/>
          </a:prstGeom>
          <a:solidFill>
            <a:srgbClr val="1A2B5C"/>
          </a:solidFill>
          <a:ln w="12700">
            <a:solidFill>
              <a:srgbClr val="1A2B5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68680" y="3968496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200" dirty="0"/>
          </a:p>
        </p:txBody>
      </p:sp>
      <p:sp>
        <p:nvSpPr>
          <p:cNvPr id="27" name="Text 25"/>
          <p:cNvSpPr/>
          <p:nvPr/>
        </p:nvSpPr>
        <p:spPr>
          <a:xfrm>
            <a:off x="1600200" y="3913632"/>
            <a:ext cx="7680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B1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Formalise Group AI as embedding-model lifecycle owner with MVP SLA</a:t>
            </a:r>
            <a:endParaRPr lang="en-US" sz="1350" dirty="0"/>
          </a:p>
        </p:txBody>
      </p:sp>
      <p:sp>
        <p:nvSpPr>
          <p:cNvPr id="28" name="Text 26"/>
          <p:cNvSpPr/>
          <p:nvPr/>
        </p:nvSpPr>
        <p:spPr>
          <a:xfrm>
            <a:off x="1600200" y="420624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AI confirmed as model-lifecycle owner; one approved model registered with named MCP path; refresh cadence we can plan against. Chief-Architect cross-workstream mandate.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9555480" y="3986784"/>
            <a:ext cx="1005840" cy="256032"/>
          </a:xfrm>
          <a:prstGeom prst="roundRect">
            <a:avLst>
              <a:gd name="adj" fmla="val 50000"/>
            </a:avLst>
          </a:prstGeom>
          <a:solidFill>
            <a:srgbClr val="FFFBEB"/>
          </a:solidFill>
          <a:ln w="6350">
            <a:solidFill>
              <a:srgbClr val="92400E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9555480" y="3986784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300" kern="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</a:t>
            </a:r>
            <a:endParaRPr lang="en-US" sz="850" dirty="0"/>
          </a:p>
        </p:txBody>
      </p:sp>
      <p:sp>
        <p:nvSpPr>
          <p:cNvPr id="31" name="Text 29"/>
          <p:cNvSpPr/>
          <p:nvPr/>
        </p:nvSpPr>
        <p:spPr>
          <a:xfrm>
            <a:off x="10652760" y="3986784"/>
            <a:ext cx="10058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spc="300" kern="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DUE</a:t>
            </a:r>
            <a:endParaRPr lang="en-US" sz="700" dirty="0"/>
          </a:p>
        </p:txBody>
      </p:sp>
      <p:sp>
        <p:nvSpPr>
          <p:cNvPr id="32" name="Text 30"/>
          <p:cNvSpPr/>
          <p:nvPr/>
        </p:nvSpPr>
        <p:spPr>
          <a:xfrm>
            <a:off x="10652760" y="4114800"/>
            <a:ext cx="1005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B1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0 exit</a:t>
            </a:r>
            <a:endParaRPr lang="en-US" sz="950" dirty="0"/>
          </a:p>
        </p:txBody>
      </p:sp>
      <p:sp>
        <p:nvSpPr>
          <p:cNvPr id="33" name="Shape 31"/>
          <p:cNvSpPr/>
          <p:nvPr/>
        </p:nvSpPr>
        <p:spPr>
          <a:xfrm>
            <a:off x="594360" y="4727448"/>
            <a:ext cx="11155680" cy="786384"/>
          </a:xfrm>
          <a:prstGeom prst="roundRect">
            <a:avLst>
              <a:gd name="adj" fmla="val 6977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27000" dist="12700" dir="5400000">
              <a:srgbClr val="000000">
                <a:alpha val="7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868680" y="4873752"/>
            <a:ext cx="502920" cy="502920"/>
          </a:xfrm>
          <a:prstGeom prst="ellipse">
            <a:avLst/>
          </a:prstGeom>
          <a:solidFill>
            <a:srgbClr val="1A2B5C"/>
          </a:solidFill>
          <a:ln w="12700">
            <a:solidFill>
              <a:srgbClr val="1A2B5C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868680" y="487375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200" dirty="0"/>
          </a:p>
        </p:txBody>
      </p:sp>
      <p:sp>
        <p:nvSpPr>
          <p:cNvPr id="36" name="Text 34"/>
          <p:cNvSpPr/>
          <p:nvPr/>
        </p:nvSpPr>
        <p:spPr>
          <a:xfrm>
            <a:off x="1600200" y="4818888"/>
            <a:ext cx="7680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B1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Endorse a parallel-track control-function engagement protocol</a:t>
            </a:r>
            <a:endParaRPr lang="en-US" sz="1350" dirty="0"/>
          </a:p>
        </p:txBody>
      </p:sp>
      <p:sp>
        <p:nvSpPr>
          <p:cNvPr id="37" name="Text 35"/>
          <p:cNvSpPr/>
          <p:nvPr/>
        </p:nvSpPr>
        <p:spPr>
          <a:xfrm>
            <a:off x="1600200" y="5111496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risk, privacy, security, op-res, audit and TPRM cannot be engaged sequentially. CIO-endorsed protocol that runs them in parallel from Stage 0; TPRM fast-track.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9555480" y="4892040"/>
            <a:ext cx="1005840" cy="256032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 w="6350">
            <a:solidFill>
              <a:srgbClr val="1A2B5C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9555480" y="4892040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300" kern="0" dirty="0">
                <a:solidFill>
                  <a:srgbClr val="1A2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MANDATE</a:t>
            </a:r>
            <a:endParaRPr lang="en-US" sz="850" dirty="0"/>
          </a:p>
        </p:txBody>
      </p:sp>
      <p:sp>
        <p:nvSpPr>
          <p:cNvPr id="40" name="Text 38"/>
          <p:cNvSpPr/>
          <p:nvPr/>
        </p:nvSpPr>
        <p:spPr>
          <a:xfrm>
            <a:off x="10652760" y="4892040"/>
            <a:ext cx="10058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spc="300" kern="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DUE</a:t>
            </a:r>
            <a:endParaRPr lang="en-US" sz="700" dirty="0"/>
          </a:p>
        </p:txBody>
      </p:sp>
      <p:sp>
        <p:nvSpPr>
          <p:cNvPr id="41" name="Text 39"/>
          <p:cNvSpPr/>
          <p:nvPr/>
        </p:nvSpPr>
        <p:spPr>
          <a:xfrm>
            <a:off x="10652760" y="5020056"/>
            <a:ext cx="1005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B1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0</a:t>
            </a:r>
            <a:endParaRPr lang="en-US" sz="950" dirty="0"/>
          </a:p>
        </p:txBody>
      </p:sp>
      <p:sp>
        <p:nvSpPr>
          <p:cNvPr id="42" name="Shape 40"/>
          <p:cNvSpPr/>
          <p:nvPr/>
        </p:nvSpPr>
        <p:spPr>
          <a:xfrm>
            <a:off x="594360" y="5632704"/>
            <a:ext cx="11155680" cy="786384"/>
          </a:xfrm>
          <a:prstGeom prst="roundRect">
            <a:avLst>
              <a:gd name="adj" fmla="val 6977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27000" dist="12700" dir="5400000">
              <a:srgbClr val="000000">
                <a:alpha val="7000"/>
              </a:srgbClr>
            </a:outerShdw>
          </a:effectLst>
        </p:spPr>
      </p:sp>
      <p:sp>
        <p:nvSpPr>
          <p:cNvPr id="43" name="Shape 41"/>
          <p:cNvSpPr/>
          <p:nvPr/>
        </p:nvSpPr>
        <p:spPr>
          <a:xfrm>
            <a:off x="868680" y="5779008"/>
            <a:ext cx="502920" cy="502920"/>
          </a:xfrm>
          <a:prstGeom prst="ellipse">
            <a:avLst/>
          </a:prstGeom>
          <a:solidFill>
            <a:srgbClr val="1A2B5C"/>
          </a:solidFill>
          <a:ln w="12700">
            <a:solidFill>
              <a:srgbClr val="1A2B5C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868680" y="577900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2200" dirty="0"/>
          </a:p>
        </p:txBody>
      </p:sp>
      <p:sp>
        <p:nvSpPr>
          <p:cNvPr id="45" name="Text 43"/>
          <p:cNvSpPr/>
          <p:nvPr/>
        </p:nvSpPr>
        <p:spPr>
          <a:xfrm>
            <a:off x="1600200" y="5724144"/>
            <a:ext cx="7680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B1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Endorse evidence-led delivery and MVP scope discipline</a:t>
            </a:r>
            <a:endParaRPr lang="en-US" sz="1350" dirty="0"/>
          </a:p>
        </p:txBody>
      </p:sp>
      <p:sp>
        <p:nvSpPr>
          <p:cNvPr id="46" name="Text 44"/>
          <p:cNvSpPr/>
          <p:nvPr/>
        </p:nvSpPr>
        <p:spPr>
          <a:xfrm>
            <a:off x="1600200" y="6016752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platform / one tenant / one use case; explicit non-scope; progression gated by evidence, not calendar dates. Senior endorsement protects against scope creep and date pressure.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>
            <a:off x="9555480" y="5797296"/>
            <a:ext cx="1005840" cy="256032"/>
          </a:xfrm>
          <a:prstGeom prst="roundRect">
            <a:avLst>
              <a:gd name="adj" fmla="val 50000"/>
            </a:avLst>
          </a:prstGeom>
          <a:solidFill>
            <a:srgbClr val="ECFDF5"/>
          </a:solidFill>
          <a:ln w="6350">
            <a:solidFill>
              <a:srgbClr val="065F46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9555480" y="5797296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300" kern="0" dirty="0">
                <a:solidFill>
                  <a:srgbClr val="065F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ENDORSE</a:t>
            </a:r>
            <a:endParaRPr lang="en-US" sz="850" dirty="0"/>
          </a:p>
        </p:txBody>
      </p:sp>
      <p:sp>
        <p:nvSpPr>
          <p:cNvPr id="49" name="Text 47"/>
          <p:cNvSpPr/>
          <p:nvPr/>
        </p:nvSpPr>
        <p:spPr>
          <a:xfrm>
            <a:off x="10652760" y="5797296"/>
            <a:ext cx="10058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spc="300" kern="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DUE</a:t>
            </a:r>
            <a:endParaRPr lang="en-US" sz="700" dirty="0"/>
          </a:p>
        </p:txBody>
      </p:sp>
      <p:sp>
        <p:nvSpPr>
          <p:cNvPr id="50" name="Text 48"/>
          <p:cNvSpPr/>
          <p:nvPr/>
        </p:nvSpPr>
        <p:spPr>
          <a:xfrm>
            <a:off x="10652760" y="5925312"/>
            <a:ext cx="1005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B1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Working group</a:t>
            </a:r>
            <a:endParaRPr lang="en-US" sz="950" dirty="0"/>
          </a:p>
        </p:txBody>
      </p:sp>
      <p:sp>
        <p:nvSpPr>
          <p:cNvPr id="51" name="Shape 49"/>
          <p:cNvSpPr/>
          <p:nvPr/>
        </p:nvSpPr>
        <p:spPr>
          <a:xfrm>
            <a:off x="594360" y="6446520"/>
            <a:ext cx="502920" cy="2286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594360" y="653796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for Tech  ·  Unstructured Data Workstream  ·  CIO briefing</a:t>
            </a:r>
            <a:endParaRPr lang="en-US" sz="900" dirty="0"/>
          </a:p>
        </p:txBody>
      </p:sp>
      <p:sp>
        <p:nvSpPr>
          <p:cNvPr id="53" name="Text 51"/>
          <p:cNvSpPr/>
          <p:nvPr/>
        </p:nvSpPr>
        <p:spPr>
          <a:xfrm>
            <a:off x="10972800" y="6537960"/>
            <a:ext cx="777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/ 5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Unstructured Data Workstream — CIO Briefing</dc:title>
  <dc:subject>PptxGenJS Presentation</dc:subject>
  <dc:creator>AI for Tech — Unstructured Data Workstream</dc:creator>
  <cp:lastModifiedBy>AI for Tech — Unstructured Data Workstream</cp:lastModifiedBy>
  <cp:revision>1</cp:revision>
  <dcterms:created xsi:type="dcterms:W3CDTF">2026-05-06T00:32:47Z</dcterms:created>
  <dcterms:modified xsi:type="dcterms:W3CDTF">2026-05-06T00:32:47Z</dcterms:modified>
</cp:coreProperties>
</file>