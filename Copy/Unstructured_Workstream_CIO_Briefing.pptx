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05840" y="3657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MUST DELIVER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77724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2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building blocks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02920" y="14173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 — and what we deliberately won't do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1874520"/>
            <a:ext cx="5349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2148840"/>
            <a:ext cx="5349240" cy="20116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240280"/>
            <a:ext cx="4983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enterprise capability for unstructured-data → AI, federated by data platform.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AI–owned embedding-model registry; one model lifecycle for the bank.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Standardised contracts, classification, lineage, residency, audit across every use case.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measured in weeks, not months.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Defensible enterprise position under audit and supervisory review.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4343400"/>
            <a:ext cx="5349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GUARDRAILS — NOT IN SERVICE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4617720"/>
            <a:ext cx="5349240" cy="169164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4709160"/>
            <a:ext cx="49834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capability and governance only — not retrieval logic or use-case ranking.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central vector store; vectors stay in their data plane.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use-case-specific prompt orchestration or business rules in the service.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bypass of model risk, TPRM, change management, or privacy governance.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external commitment to calendar dates — evidence-led progression.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263640" y="1874520"/>
            <a:ext cx="5760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2E6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ARCHITECTURE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63640" y="2148840"/>
            <a:ext cx="576072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46520" y="2331720"/>
            <a:ext cx="1293876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19672" y="2368296"/>
            <a:ext cx="11475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813548" y="2331720"/>
            <a:ext cx="1293876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86700" y="2368296"/>
            <a:ext cx="11475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· DLP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9180576" y="2331720"/>
            <a:ext cx="1293876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53728" y="2368296"/>
            <a:ext cx="11475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· Chunk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0547604" y="2331720"/>
            <a:ext cx="1293876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20756" y="2368296"/>
            <a:ext cx="11475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 · Mask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46520" y="2880360"/>
            <a:ext cx="2633472" cy="457200"/>
          </a:xfrm>
          <a:prstGeom prst="rect">
            <a:avLst/>
          </a:prstGeom>
          <a:solidFill>
            <a:srgbClr val="EFF4FA"/>
          </a:solidFill>
          <a:ln w="9525">
            <a:solidFill>
              <a:srgbClr val="2E6F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19672" y="2916936"/>
            <a:ext cx="2487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2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Model Registry  (Group AI)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208008" y="2880360"/>
            <a:ext cx="2633472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81160" y="2916936"/>
            <a:ext cx="2487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2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representation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46520" y="3429000"/>
            <a:ext cx="5394960" cy="640080"/>
          </a:xfrm>
          <a:prstGeom prst="rect">
            <a:avLst/>
          </a:prstGeom>
          <a:solidFill>
            <a:srgbClr val="0F2950"/>
          </a:solidFill>
          <a:ln w="9525">
            <a:solidFill>
              <a:srgbClr val="0F29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19672" y="3465576"/>
            <a:ext cx="5248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VectorDBaaS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446520" y="3840480"/>
            <a:ext cx="5394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plane (centrally owned) + federated data planes — hub-and-spoke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446520" y="4160520"/>
            <a:ext cx="53949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19672" y="4197096"/>
            <a:ext cx="5248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integration  (MCP / LLM gateway)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46520" y="4709160"/>
            <a:ext cx="2633472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2E6FA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519672" y="4745736"/>
            <a:ext cx="2487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2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retrieval  (RAG · agentic · search)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208008" y="4709160"/>
            <a:ext cx="2633472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2E6FA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281160" y="4745736"/>
            <a:ext cx="2487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2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semantic &amp; vector-derived products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46520" y="5257800"/>
            <a:ext cx="1725168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19672" y="5294376"/>
            <a:ext cx="1578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 · Audit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8281416" y="5257800"/>
            <a:ext cx="1725168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54568" y="5294376"/>
            <a:ext cx="1578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· FinOps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10116312" y="5257800"/>
            <a:ext cx="1725168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189464" y="5294376"/>
            <a:ext cx="1578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Residency · RTBF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02920" y="6492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for Tech  ·  Unstructured Data Workstream  ·  CIO briefing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0972800" y="649224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05840" y="3657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&amp; DEPENDENCIES — HONEST VIEW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77724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2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stands between us and a defensible MVP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02920" y="14173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decisions and one active workstream item — the items that move the workstream forward</a:t>
            </a:r>
            <a:endParaRPr lang="en-US" sz="1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920240"/>
          <a:ext cx="111556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2331720"/>
                <a:gridCol w="2697480"/>
                <a:gridCol w="1874520"/>
                <a:gridCol w="1097280"/>
                <a:gridCol w="146304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9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Root cause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9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Solution / dependency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9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 helps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9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Deadline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9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95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F29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Lead-architect bandwidth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architect at 50% — bottleneck on every governance call.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 dedicated lead ≥ 80% for Stage 0–1.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Removes single-point dependency.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0 exit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3A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F29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AI embedding-model commitment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for Tech doesn't own the embedding model.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AI as model-lifecycle owner; one approved model + MCP path.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Defines embedding governance SLA.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0 exit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3A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 of Group AI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F29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reference data platform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platform sponsor confirmed; Stage 1 cannot begin.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 CIB / WPB / other; named sponsor + engineering capacity.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Establishes the reference data plane.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0 exit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3A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CTO + Platform CTOs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F29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Control-function engagement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Six control functions queued; serial gating delays MVP by quarters.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CIO-mandated parallel-track protocol; TPRM fast-track.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Compresses control-function lead time.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3A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CIO sponsor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F29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Funding cycle alignment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Bank annual planning vs build cycle; risk of stop-start funding.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Protected MVP funding; multi-year envelope for Stages 1–2.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Removes drift in shared-service builds.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planning cycle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3A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CTO + Finance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F29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Source-data classification readiness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Tenant corpora often unclassified at source.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BA-led pre-onboarding readiness review; tenant-side remediation.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Prevents Stage 1 stalling on data hygiene.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flight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3A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Workstream BA + Tenant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6080760"/>
            <a:ext cx="164592" cy="164592"/>
          </a:xfrm>
          <a:prstGeom prst="rect">
            <a:avLst/>
          </a:prstGeom>
          <a:solidFill>
            <a:srgbClr val="FEF3C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06247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needed from CIO / Chief Architect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663440" y="6080760"/>
            <a:ext cx="164592" cy="164592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873752" y="606247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motion — needs visibility, not decision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02920" y="6492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for Tech  ·  Unstructured Data Workstream  ·  CIO briefing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0972800" y="649224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05840" y="3657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DEEP DIVE  ·  WORKSTREAM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77724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2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Unstructured data — end-to-end reference architecture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02920" y="14173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workstream covers, what we reuse, where peer services and tenants own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2920" y="1874520"/>
            <a:ext cx="11155680" cy="352044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2057400"/>
            <a:ext cx="1722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0F2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INGEST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85800" y="2350008"/>
            <a:ext cx="1722120" cy="1325880"/>
          </a:xfrm>
          <a:prstGeom prst="rect">
            <a:avLst/>
          </a:prstGeom>
          <a:solidFill>
            <a:srgbClr val="FEF3C7"/>
          </a:solidFill>
          <a:ln w="9525">
            <a:solidFill>
              <a:srgbClr val="D9770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0664" y="2386584"/>
            <a:ext cx="16123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85800" y="3749040"/>
            <a:ext cx="172212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2E6F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0664" y="3785616"/>
            <a:ext cx="16123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2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(batch / event)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412492" y="3337560"/>
            <a:ext cx="9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499360" y="2057400"/>
            <a:ext cx="1722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0F2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PRE-PROCESS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499360" y="2350008"/>
            <a:ext cx="1722120" cy="626364"/>
          </a:xfrm>
          <a:prstGeom prst="rect">
            <a:avLst/>
          </a:prstGeom>
          <a:solidFill>
            <a:srgbClr val="FFFFFF"/>
          </a:solidFill>
          <a:ln w="9525">
            <a:solidFill>
              <a:srgbClr val="2E6F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54224" y="2386584"/>
            <a:ext cx="1612392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2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· DLP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499360" y="3049524"/>
            <a:ext cx="1722120" cy="626364"/>
          </a:xfrm>
          <a:prstGeom prst="rect">
            <a:avLst/>
          </a:prstGeom>
          <a:solidFill>
            <a:srgbClr val="FFFFFF"/>
          </a:solidFill>
          <a:ln w="9525">
            <a:solidFill>
              <a:srgbClr val="0F29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54224" y="3086100"/>
            <a:ext cx="1612392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2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 · Mask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499360" y="3749040"/>
            <a:ext cx="1722120" cy="626364"/>
          </a:xfrm>
          <a:prstGeom prst="rect">
            <a:avLst/>
          </a:prstGeom>
          <a:solidFill>
            <a:srgbClr val="FFFFFF"/>
          </a:solidFill>
          <a:ln w="9525">
            <a:solidFill>
              <a:srgbClr val="2E6FA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54224" y="3785616"/>
            <a:ext cx="1612392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2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· OCR · ASR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499360" y="4448556"/>
            <a:ext cx="1722120" cy="626364"/>
          </a:xfrm>
          <a:prstGeom prst="rect">
            <a:avLst/>
          </a:prstGeom>
          <a:solidFill>
            <a:srgbClr val="FFFFFF"/>
          </a:solidFill>
          <a:ln w="9525">
            <a:solidFill>
              <a:srgbClr val="0F29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54224" y="4485132"/>
            <a:ext cx="1612392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2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226052" y="3337560"/>
            <a:ext cx="9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312920" y="2057400"/>
            <a:ext cx="1722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0F2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ENRICH &amp; EMBED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12920" y="2350008"/>
            <a:ext cx="172212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2E6FA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67784" y="2386584"/>
            <a:ext cx="16123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2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enrichment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312920" y="3749040"/>
            <a:ext cx="1722120" cy="1325880"/>
          </a:xfrm>
          <a:prstGeom prst="rect">
            <a:avLst/>
          </a:prstGeom>
          <a:solidFill>
            <a:srgbClr val="EFF4FA"/>
          </a:solidFill>
          <a:ln w="9525">
            <a:solidFill>
              <a:srgbClr val="2E6FA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367784" y="3785616"/>
            <a:ext cx="16123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2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registry · MCP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039612" y="3337560"/>
            <a:ext cx="9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126480" y="2057400"/>
            <a:ext cx="1722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0F2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STORE &amp; RETRIEVE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126480" y="2350008"/>
            <a:ext cx="1722120" cy="2724912"/>
          </a:xfrm>
          <a:prstGeom prst="rect">
            <a:avLst/>
          </a:prstGeom>
          <a:solidFill>
            <a:srgbClr val="0F2950"/>
          </a:solidFill>
          <a:ln w="19050">
            <a:solidFill>
              <a:srgbClr val="0F29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81344" y="2386584"/>
            <a:ext cx="161239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VECTORDBAAS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853172" y="3337560"/>
            <a:ext cx="9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7940040" y="2057400"/>
            <a:ext cx="1722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0F2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AI INTEGRATION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940040" y="2350008"/>
            <a:ext cx="1722120" cy="1325880"/>
          </a:xfrm>
          <a:prstGeom prst="rect">
            <a:avLst/>
          </a:prstGeom>
          <a:solidFill>
            <a:srgbClr val="F8FAFC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994904" y="2386584"/>
            <a:ext cx="16123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representation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7940040" y="3749040"/>
            <a:ext cx="1722120" cy="1325880"/>
          </a:xfrm>
          <a:prstGeom prst="rect">
            <a:avLst/>
          </a:prstGeom>
          <a:solidFill>
            <a:srgbClr val="EFF4FA"/>
          </a:solidFill>
          <a:ln w="9525">
            <a:solidFill>
              <a:srgbClr val="2E6FA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94904" y="3785616"/>
            <a:ext cx="16123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2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/ LLM gateway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9666732" y="3337560"/>
            <a:ext cx="9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9753600" y="2057400"/>
            <a:ext cx="1722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0F2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CONSUME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9753600" y="2350008"/>
            <a:ext cx="172212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0F29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808464" y="2386584"/>
            <a:ext cx="16123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2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retrieval (RAG · agentic)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9753600" y="3749040"/>
            <a:ext cx="172212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0F295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808464" y="3785616"/>
            <a:ext cx="16123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2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semantic / vector products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85800" y="4937760"/>
            <a:ext cx="10789920" cy="292608"/>
          </a:xfrm>
          <a:prstGeom prst="rect">
            <a:avLst/>
          </a:prstGeom>
          <a:solidFill>
            <a:srgbClr val="1E3A66"/>
          </a:solidFill>
          <a:ln w="12700">
            <a:solidFill>
              <a:srgbClr val="1E3A6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9377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CROSS-CUTTING  ·  Lineage  ·  Audit  ·  Observability  ·  FinOps  ·  IAM / PAM  ·  KMS  ·  Residency  ·  Model Risk  ·  TPRM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94360" y="5532120"/>
            <a:ext cx="182880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0F295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22960" y="5486400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Workstream-built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514600" y="5532120"/>
            <a:ext cx="182880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2E6FA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743200" y="5486400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/ integrate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434840" y="5532120"/>
            <a:ext cx="182880" cy="164592"/>
          </a:xfrm>
          <a:prstGeom prst="rect">
            <a:avLst/>
          </a:prstGeom>
          <a:solidFill>
            <a:srgbClr val="EFF4FA"/>
          </a:solidFill>
          <a:ln w="9525">
            <a:solidFill>
              <a:srgbClr val="2E6FA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663440" y="5486400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AI–owned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355080" y="5532120"/>
            <a:ext cx="182880" cy="164592"/>
          </a:xfrm>
          <a:prstGeom prst="rect">
            <a:avLst/>
          </a:prstGeom>
          <a:solidFill>
            <a:srgbClr val="F8FAFC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583680" y="5486400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service / future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8275320" y="5532120"/>
            <a:ext cx="182880" cy="164592"/>
          </a:xfrm>
          <a:prstGeom prst="rect">
            <a:avLst/>
          </a:prstGeom>
          <a:solidFill>
            <a:srgbClr val="FEF3C7"/>
          </a:solidFill>
          <a:ln w="9525">
            <a:solidFill>
              <a:srgbClr val="D97706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503920" y="5486400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Tenant-owned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10195560" y="5532120"/>
            <a:ext cx="182880" cy="164592"/>
          </a:xfrm>
          <a:prstGeom prst="rect">
            <a:avLst/>
          </a:prstGeom>
          <a:solidFill>
            <a:srgbClr val="0F2950"/>
          </a:solidFill>
          <a:ln w="9525">
            <a:solidFill>
              <a:srgbClr val="0F295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424160" y="5486400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Keystone — VectorDBaaS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02920" y="5852160"/>
            <a:ext cx="36576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67512" y="5907024"/>
            <a:ext cx="3328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F2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INVEST FIRST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667512" y="6144768"/>
            <a:ext cx="3328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VectorDBaaS · Embedding registry integration · Collection contract · Onboarding · Retrieval API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4251960" y="5852160"/>
            <a:ext cx="36576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416552" y="5907024"/>
            <a:ext cx="3328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2E6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REUSE / INTEGRATE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4416552" y="6144768"/>
            <a:ext cx="3328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DLP · Classification · Catalogue · KMS · IAM/PAM · Group AI MCP · Existing platform ingestion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8001000" y="5852160"/>
            <a:ext cx="3657600" cy="640080"/>
          </a:xfrm>
          <a:prstGeom prst="rect">
            <a:avLst/>
          </a:prstGeom>
          <a:solidFill>
            <a:srgbClr val="FEF3C7"/>
          </a:solidFill>
          <a:ln w="9525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165592" y="5907024"/>
            <a:ext cx="3328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PEERS / TENANTS OWN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8165592" y="6144768"/>
            <a:ext cx="3328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data classification · Benchmark sets · Use-case prompt logic · Knowledge graphs · Bespoke ranking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502920" y="6492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for Tech  ·  Unstructured Data Workstream  ·  CIO briefing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10972800" y="649224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05840" y="3657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DEEP DIVE  ·  KEYSTONE SERVICE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77724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2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VectorDBaaS — how the keystone service is shaped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02920" y="14173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Hub-and-spoke: one control plane, federated data planes, dual access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2920" y="1965960"/>
            <a:ext cx="11155680" cy="324612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2404872"/>
            <a:ext cx="34747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2441448"/>
            <a:ext cx="3328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assistants &amp; RAG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2404872"/>
            <a:ext cx="34747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16552" y="2441448"/>
            <a:ext cx="3328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workflows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955280" y="2404872"/>
            <a:ext cx="34747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28432" y="2441448"/>
            <a:ext cx="3328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 / data-product consumers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990088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LAYER  ·  DUAL ACCESS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1520" y="3246120"/>
            <a:ext cx="5257800" cy="384048"/>
          </a:xfrm>
          <a:prstGeom prst="rect">
            <a:avLst/>
          </a:prstGeom>
          <a:solidFill>
            <a:srgbClr val="EFF4FA"/>
          </a:solidFill>
          <a:ln w="9525">
            <a:solidFill>
              <a:srgbClr val="2E6F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" y="3282696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runtime retrieval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3246120"/>
            <a:ext cx="5257800" cy="384048"/>
          </a:xfrm>
          <a:prstGeom prst="rect">
            <a:avLst/>
          </a:prstGeom>
          <a:solidFill>
            <a:srgbClr val="EFF4FA"/>
          </a:solidFill>
          <a:ln w="9525">
            <a:solidFill>
              <a:srgbClr val="2E6F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45352" y="3282696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semantic &amp; vector-derived products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" y="3831336"/>
            <a:ext cx="10698480" cy="530352"/>
          </a:xfrm>
          <a:prstGeom prst="rect">
            <a:avLst/>
          </a:prstGeom>
          <a:solidFill>
            <a:srgbClr val="0F2950"/>
          </a:solidFill>
          <a:ln w="9525">
            <a:solidFill>
              <a:srgbClr val="0F29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4672" y="3867912"/>
            <a:ext cx="10552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PLANE  ·  registry · contracts · model registry · lifecycle · classification · lineage · observability · policy · audit · API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31520" y="4489704"/>
            <a:ext cx="3447288" cy="384048"/>
          </a:xfrm>
          <a:prstGeom prst="rect">
            <a:avLst/>
          </a:prstGeom>
          <a:solidFill>
            <a:srgbClr val="1E3A66"/>
          </a:solidFill>
          <a:ln w="9525">
            <a:solidFill>
              <a:srgbClr val="1E3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" y="4526280"/>
            <a:ext cx="3300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Plane  ·  CIB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361688" y="4489704"/>
            <a:ext cx="3447288" cy="384048"/>
          </a:xfrm>
          <a:prstGeom prst="rect">
            <a:avLst/>
          </a:prstGeom>
          <a:solidFill>
            <a:srgbClr val="1E3A66"/>
          </a:solidFill>
          <a:ln w="9525">
            <a:solidFill>
              <a:srgbClr val="1E3A6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34840" y="4526280"/>
            <a:ext cx="3300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Plane  ·  WPB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991856" y="4489704"/>
            <a:ext cx="3447288" cy="384048"/>
          </a:xfrm>
          <a:prstGeom prst="rect">
            <a:avLst/>
          </a:prstGeom>
          <a:solidFill>
            <a:srgbClr val="1E3A66"/>
          </a:solidFill>
          <a:ln w="9525">
            <a:solidFill>
              <a:srgbClr val="1E3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65008" y="4526280"/>
            <a:ext cx="3300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Plane  ·  Other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02920" y="5349240"/>
            <a:ext cx="36576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7512" y="5440680"/>
            <a:ext cx="3328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2E6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PLANE — 9 ENGINEERED COMPONENTS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512" y="5733288"/>
            <a:ext cx="33284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Registry · Embedding Registry · Index Lifecycle · Classification &amp; DLP Gate · Lineage Publisher · Observability &amp; FinOps · Policy Distribution · Audit Pipeline · Public API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51960" y="5349240"/>
            <a:ext cx="36576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16552" y="5440680"/>
            <a:ext cx="3328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2E6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PLANES — FEDERATED, RESIDENCY-LOCAL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416552" y="5733288"/>
            <a:ext cx="33284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engine, embedding execution, retrieval API, runtime access enforcement, cache &amp; session — one per data platform. Vectors never leave the plane.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001000" y="5349240"/>
            <a:ext cx="3657600" cy="1097280"/>
          </a:xfrm>
          <a:prstGeom prst="rect">
            <a:avLst/>
          </a:prstGeom>
          <a:solidFill>
            <a:srgbClr val="FEF3C7"/>
          </a:solidFill>
          <a:ln w="9525">
            <a:solidFill>
              <a:srgbClr val="D9770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165592" y="5440680"/>
            <a:ext cx="3328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MATERIAL OUTCOME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8165592" y="5733288"/>
            <a:ext cx="33284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tenant (Group Compliance Policy Assistant) live end-to-end on one data plane, under contract, with audit-grade evidence pack including model-risk artefacts, DPIA, and change-mgmt approval.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02920" y="6492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for Tech  ·  Unstructured Data Workstream  ·  CIO briefing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972800" y="649224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05840" y="3657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 ASKS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77724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2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CTO and Chief Architect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02920" y="14173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ask removes a specific blocker on the path to a defensible MVP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1115568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920240"/>
            <a:ext cx="91440" cy="804672"/>
          </a:xfrm>
          <a:prstGeom prst="rect">
            <a:avLst/>
          </a:prstGeom>
          <a:solidFill>
            <a:srgbClr val="0F2950"/>
          </a:solidFill>
          <a:ln w="12700">
            <a:solidFill>
              <a:srgbClr val="0F29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920240"/>
            <a:ext cx="914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F2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91640" y="1993392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dedicated lead-architect bandwidth (≥ 80%) for Stage 0–1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91640" y="2304288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allocation is the single largest velocity constraint. Either reallocate to ≥ 80% for the duration of Stage 0–1, or formally accept slower velocity and a longer Stage 0.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0561320" y="2194560"/>
            <a:ext cx="1005840" cy="256032"/>
          </a:xfrm>
          <a:prstGeom prst="rect">
            <a:avLst/>
          </a:prstGeom>
          <a:solidFill>
            <a:srgbClr val="FEF3C7"/>
          </a:solidFill>
          <a:ln w="9525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61320" y="219456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02920" y="2816352"/>
            <a:ext cx="1115568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2816352"/>
            <a:ext cx="91440" cy="804672"/>
          </a:xfrm>
          <a:prstGeom prst="rect">
            <a:avLst/>
          </a:prstGeom>
          <a:solidFill>
            <a:srgbClr val="0F2950"/>
          </a:solidFill>
          <a:ln w="12700">
            <a:solidFill>
              <a:srgbClr val="0F29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816352"/>
            <a:ext cx="914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F2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1691640" y="2889504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first reference data platform and committed sponsor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91640" y="320040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cannot begin without a named CIB / WPB / other group-platform sponsor and engineering capacity. CTO-level call — no individual workstream can secure platform sponsorship alone.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561320" y="3090672"/>
            <a:ext cx="1005840" cy="256032"/>
          </a:xfrm>
          <a:prstGeom prst="rect">
            <a:avLst/>
          </a:prstGeom>
          <a:solidFill>
            <a:srgbClr val="FEF3C7"/>
          </a:solidFill>
          <a:ln w="9525">
            <a:solidFill>
              <a:srgbClr val="D9770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61320" y="30906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02920" y="3712464"/>
            <a:ext cx="1115568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2920" y="3712464"/>
            <a:ext cx="91440" cy="804672"/>
          </a:xfrm>
          <a:prstGeom prst="rect">
            <a:avLst/>
          </a:prstGeom>
          <a:solidFill>
            <a:srgbClr val="0F2950"/>
          </a:solidFill>
          <a:ln w="12700">
            <a:solidFill>
              <a:srgbClr val="0F295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3712464"/>
            <a:ext cx="914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F2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1691640" y="378561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Formalise Group AI as embedding-model lifecycle owner with MVP SLA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691640" y="4096512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AI confirmed as model-lifecycle owner; one approved model registered with named MCP path; refresh cadence we can plan against. Chief-Architect-level cross-workstream mandate.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0561320" y="3986784"/>
            <a:ext cx="1005840" cy="256032"/>
          </a:xfrm>
          <a:prstGeom prst="rect">
            <a:avLst/>
          </a:prstGeom>
          <a:solidFill>
            <a:srgbClr val="FEF3C7"/>
          </a:solidFill>
          <a:ln w="9525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561320" y="398678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4608576"/>
            <a:ext cx="1115568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4608576"/>
            <a:ext cx="91440" cy="804672"/>
          </a:xfrm>
          <a:prstGeom prst="rect">
            <a:avLst/>
          </a:prstGeom>
          <a:solidFill>
            <a:srgbClr val="0F2950"/>
          </a:solidFill>
          <a:ln w="12700">
            <a:solidFill>
              <a:srgbClr val="0F295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4608576"/>
            <a:ext cx="914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F2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1691640" y="468172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Endorse a parallel-track control-function engagement protocol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691640" y="4992624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risk, privacy, security, op-res, audit and TPRM cannot be engaged sequentially without pushing the MVP out by quarters. CIO-endorsed protocol that runs them in parallel from Stage 0; TPRM fast-track.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10561320" y="4882896"/>
            <a:ext cx="1005840" cy="256032"/>
          </a:xfrm>
          <a:prstGeom prst="rect">
            <a:avLst/>
          </a:prstGeom>
          <a:solidFill>
            <a:srgbClr val="FEF3C7"/>
          </a:solidFill>
          <a:ln w="9525">
            <a:solidFill>
              <a:srgbClr val="D9770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561320" y="488289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02920" y="5504688"/>
            <a:ext cx="1115568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504688"/>
            <a:ext cx="91440" cy="804672"/>
          </a:xfrm>
          <a:prstGeom prst="rect">
            <a:avLst/>
          </a:prstGeom>
          <a:solidFill>
            <a:srgbClr val="0F2950"/>
          </a:solidFill>
          <a:ln w="12700">
            <a:solidFill>
              <a:srgbClr val="0F295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1520" y="5504688"/>
            <a:ext cx="914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F2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4000" dirty="0"/>
          </a:p>
        </p:txBody>
      </p:sp>
      <p:sp>
        <p:nvSpPr>
          <p:cNvPr id="37" name="Text 35"/>
          <p:cNvSpPr/>
          <p:nvPr/>
        </p:nvSpPr>
        <p:spPr>
          <a:xfrm>
            <a:off x="1691640" y="557784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Endorse evidence-led delivery and MVP scope discipline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691640" y="5888736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 / one tenant / one use case; explicit non-scope; progression gated by evidence packs, not calendar dates. Senior endorsement protects against scope creep and date pressure.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0561320" y="5779008"/>
            <a:ext cx="1005840" cy="256032"/>
          </a:xfrm>
          <a:prstGeom prst="rect">
            <a:avLst/>
          </a:prstGeom>
          <a:solidFill>
            <a:srgbClr val="FEF3C7"/>
          </a:solidFill>
          <a:ln w="9525">
            <a:solidFill>
              <a:srgbClr val="D9770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561320" y="57790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ENDORSE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02920" y="6492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for Tech  ·  Unstructured Data Workstream  ·  CIO briefing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0972800" y="649224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Unstructured Data Workstream — CIO Briefing</dc:title>
  <dc:subject>PptxGenJS Presentation</dc:subject>
  <dc:creator>AI for Tech — Unstructured Data Workstream</dc:creator>
  <cp:lastModifiedBy>AI for Tech — Unstructured Data Workstream</cp:lastModifiedBy>
  <cp:revision>1</cp:revision>
  <dcterms:created xsi:type="dcterms:W3CDTF">2026-05-05T11:31:11Z</dcterms:created>
  <dcterms:modified xsi:type="dcterms:W3CDTF">2026-05-05T11:31:11Z</dcterms:modified>
</cp:coreProperties>
</file>