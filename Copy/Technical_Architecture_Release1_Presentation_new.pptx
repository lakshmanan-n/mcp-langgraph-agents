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743200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Technical Architecture — Release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Unstructured Data Processing · Policy Re-Authoring Use Case</a:t>
            </a:r>
            <a:br/>
            <a:r>
              <a:t>Reference Architecture Aligned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12064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RELEASE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7132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April 2026 · Architecture Working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457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Unstructured Data Processing —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Enterprise framework · 8 lifecycle layers · 3 planes · Cross-cutting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658368"/>
            <a:ext cx="347472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6583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INTELLIGENCE PLANE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SERVICE PLANE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896112"/>
            <a:ext cx="137160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0" y="84124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Calibri"/>
              </a:defRPr>
            </a:pPr>
            <a:r>
              <a:t>FLOW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87552"/>
            <a:ext cx="1568196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01 · SOURCE DOMAINS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756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" y="1325880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Internal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Documents · Wikis · Policies · SOPs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" y="1865376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Operational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Tickets · CRM · BPM · Incidents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" y="2404872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Email · Chat · Meetings · Forums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" y="2944368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Media &amp; Interaction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Audio · Video · Transcripts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" y="3483864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External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Web · Partner feeds · Regulatory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" y="399592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" y="4023360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01421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Enterprise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15137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SharePoint · S3 · NAS · Git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" y="453542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896" y="4562856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55371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Structured Augment.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69087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Metadata · Reference data · MDM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10s–100s sources · TB-scale</a:t>
            </a:r>
          </a:p>
        </p:txBody>
      </p:sp>
      <p:sp>
        <p:nvSpPr>
          <p:cNvPr id="48" name="Chevron 47"/>
          <p:cNvSpPr/>
          <p:nvPr/>
        </p:nvSpPr>
        <p:spPr>
          <a:xfrm>
            <a:off x="1879092" y="3867912"/>
            <a:ext cx="146304" cy="1828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61972" y="987552"/>
            <a:ext cx="1568196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061972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6197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02 · INGESTION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64408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9854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98548" y="1325880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7170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Source Registration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7170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Access · Steward assign · Trust tier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9854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98548" y="1865376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7170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Intake Connectors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7170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API · Batch · Event · Stream · Crawler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9854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98548" y="2404872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7170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Landing &amp; Validation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7170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Schema check · DQ gate · Quarantine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98548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98548" y="2944368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71700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Policy-Aware Routing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71700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Sensitivity · Trust · Residency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90672" y="2935224"/>
            <a:ext cx="475488" cy="118872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90672" y="2935224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563EB"/>
                </a:solidFill>
                <a:latin typeface="Calibri"/>
              </a:defRPr>
            </a:pPr>
            <a:r>
              <a:t>KEY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61972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&lt; 5 min · at-least-once · idempotent</a:t>
            </a:r>
          </a:p>
        </p:txBody>
      </p:sp>
      <p:sp>
        <p:nvSpPr>
          <p:cNvPr id="72" name="Chevron 71"/>
          <p:cNvSpPr/>
          <p:nvPr/>
        </p:nvSpPr>
        <p:spPr>
          <a:xfrm>
            <a:off x="3666744" y="3867912"/>
            <a:ext cx="146304" cy="182880"/>
          </a:xfrm>
          <a:prstGeom prst="chevr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49624" y="987552"/>
            <a:ext cx="1568196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49624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962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03 · PREPARATION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52060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8620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886200" y="1325880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5935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Format Detection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5935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Document · Audio · Chat · Image · Code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8620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86200" y="1865376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5935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Extraction Services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5935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Parsing · OCR · STT · Table extract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86200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886200" y="2404872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59352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Normalise &amp; Dedupe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59352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Canonicalise · Clean · MinHash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86200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86200" y="2944368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59352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Metadata Enrichment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59352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Provenance · Auto-tag · Sensitivity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86200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886200" y="3483864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59352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59669"/>
                </a:solidFill>
                <a:latin typeface="Calibri"/>
              </a:defRPr>
            </a:pPr>
            <a:r>
              <a:t>Redaction &amp; PII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59352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PII detect · DLP · Masking · Token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78324" y="3474720"/>
            <a:ext cx="475488" cy="118872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78324" y="3474720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059669"/>
                </a:solidFill>
                <a:latin typeface="Calibri"/>
              </a:defRPr>
            </a:pPr>
            <a:r>
              <a:t>KEY CONTROL</a:t>
            </a:r>
          </a:p>
        </p:txBody>
      </p:sp>
      <p:sp>
        <p:nvSpPr>
          <p:cNvPr id="99" name="Chevron 98"/>
          <p:cNvSpPr/>
          <p:nvPr/>
        </p:nvSpPr>
        <p:spPr>
          <a:xfrm>
            <a:off x="5454396" y="3867912"/>
            <a:ext cx="146304" cy="182880"/>
          </a:xfrm>
          <a:prstGeom prst="chevron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637276" y="987552"/>
            <a:ext cx="1568196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637276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37276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04 · ORCHESTRATION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39712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673852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673852" y="1325880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47004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Deterministic Engine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47004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DAG · Rules · Replay · Retry · HITL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673852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673852" y="1865376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47004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97706"/>
                </a:solidFill>
                <a:latin typeface="Calibri"/>
              </a:defRPr>
            </a:pPr>
            <a:r>
              <a:t>Stateful Agents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47004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Multi-step reasoning · Tool use · Memory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65976" y="1856232"/>
            <a:ext cx="475488" cy="118872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65976" y="1856232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D97706"/>
                </a:solidFill>
                <a:latin typeface="Calibri"/>
              </a:defRPr>
            </a:pPr>
            <a:r>
              <a:t>AGENTIC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673852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73852" y="2404872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47004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Chunking &amp; Embedding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47004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Semantic chunk · Entity extract · Embed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673852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73852" y="2944368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747004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KG Enrichment &amp; Build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47004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Relations · Ontology · Graph materialise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73852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673852" y="3483864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47004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QA &amp; Validation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47004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Output verify · Hallucination · Confidence</a:t>
            </a:r>
          </a:p>
        </p:txBody>
      </p:sp>
      <p:sp>
        <p:nvSpPr>
          <p:cNvPr id="126" name="Chevron 125"/>
          <p:cNvSpPr/>
          <p:nvPr/>
        </p:nvSpPr>
        <p:spPr>
          <a:xfrm>
            <a:off x="7242048" y="3867912"/>
            <a:ext cx="146304" cy="18288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24928" y="987552"/>
            <a:ext cx="1568196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424928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24928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05 · AI INTEGRATION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27364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61504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461504" y="1325880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534656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Client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534656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Tool access · Discovery · Capability match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453628" y="1316736"/>
            <a:ext cx="475488" cy="118872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453628" y="1316736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7C3AED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461504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461504" y="1865376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534656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Gateway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34656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Mediation · Context prop. · OTel tracing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461504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461504" y="2404872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534656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C3AED"/>
                </a:solidFill>
                <a:latin typeface="Calibri"/>
              </a:defRPr>
            </a:pPr>
            <a:r>
              <a:t>Shared AI Platform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534656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LLMs · Embedding · Moderation · Guard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453628" y="2395728"/>
            <a:ext cx="475488" cy="118872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453628" y="2395728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7C3AED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461504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461504" y="2944368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534656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AI Observability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34656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Token meter · Drift detect · Model reg.</a:t>
            </a:r>
          </a:p>
        </p:txBody>
      </p:sp>
      <p:sp>
        <p:nvSpPr>
          <p:cNvPr id="151" name="Chevron 150"/>
          <p:cNvSpPr/>
          <p:nvPr/>
        </p:nvSpPr>
        <p:spPr>
          <a:xfrm>
            <a:off x="9029700" y="3867912"/>
            <a:ext cx="146304" cy="182880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212580" y="987552"/>
            <a:ext cx="1568196" cy="3657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9212580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21258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C2626"/>
                </a:solidFill>
                <a:latin typeface="Calibri"/>
              </a:defRPr>
            </a:pPr>
            <a:r>
              <a:t>06 · PERSISTENCE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415016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24915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249156" y="1325880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32230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Content Stores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2230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Object storage · Blob · Immutable archive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4915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249156" y="1865376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230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Metadata &amp; Lineage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32230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Catalogue · Audit trail · Contracts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249156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9156" y="2404872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322308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Analytical Store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322308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SQL · Materialised views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249156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249156" y="2944368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322308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322308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Embeddings · Semantic index · ANN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249156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49156" y="3483864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322308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Graph Store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322308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Entity graph · KG · Ontology store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249156" y="399592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249156" y="4023360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322308" y="401421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C2626"/>
                </a:solidFill>
                <a:latin typeface="Calibri"/>
              </a:defRPr>
            </a:pPr>
            <a:r>
              <a:t>Session &amp; Cache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322308" y="415137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Agent state · Context · Memory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12580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POLYGLOT — choose per workload</a:t>
            </a:r>
          </a:p>
        </p:txBody>
      </p:sp>
      <p:sp>
        <p:nvSpPr>
          <p:cNvPr id="181" name="Chevron 180"/>
          <p:cNvSpPr/>
          <p:nvPr/>
        </p:nvSpPr>
        <p:spPr>
          <a:xfrm>
            <a:off x="10817352" y="3867912"/>
            <a:ext cx="146304" cy="182880"/>
          </a:xfrm>
          <a:prstGeom prst="chevron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1000232" y="987552"/>
            <a:ext cx="1568196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11000232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00023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891B2"/>
                </a:solidFill>
                <a:latin typeface="Calibri"/>
              </a:defRPr>
            </a:pPr>
            <a:r>
              <a:t>07 · FABRIC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202668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103680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1036808" y="1325880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10996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Structured Products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10996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SQL views · Mat. tables · BI-ready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103680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1036808" y="1865376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10996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KG Products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110996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Graph views · Entity APIs · Rel. queries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103680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036808" y="2404872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110996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Unstructured Products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10996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Retrieval views · Metadata access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1036808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036808" y="2944368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109960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91B2"/>
                </a:solidFill>
                <a:latin typeface="Calibri"/>
              </a:defRPr>
            </a:pPr>
            <a:r>
              <a:t>Federation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1109960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Logical federation · Cross-cluster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2028932" y="2935224"/>
            <a:ext cx="475488" cy="118872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028932" y="2935224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0891B2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1036808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1036808" y="3483864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109960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Product Governance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109960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Contracts · SLAs · Versioning</a:t>
            </a:r>
          </a:p>
        </p:txBody>
      </p:sp>
      <p:sp>
        <p:nvSpPr>
          <p:cNvPr id="208" name="Chevron 207"/>
          <p:cNvSpPr/>
          <p:nvPr/>
        </p:nvSpPr>
        <p:spPr>
          <a:xfrm>
            <a:off x="12605004" y="3867912"/>
            <a:ext cx="146304" cy="1828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2787884" y="987552"/>
            <a:ext cx="1568196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2787884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278788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45309"/>
                </a:solidFill>
                <a:latin typeface="Calibri"/>
              </a:defRPr>
            </a:pPr>
            <a:r>
              <a:t>08 · CONSUMPTION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990320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282446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2824460" y="1325880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89761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Hybrid Search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289761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Vector · BM25 · Graph · Rerank · Fusion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282446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2824460" y="1865376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289761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45309"/>
                </a:solidFill>
                <a:latin typeface="Calibri"/>
              </a:defRPr>
            </a:pPr>
            <a:r>
              <a:t>Retrieval Governance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289761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Entitlement · Policy · Provenance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816584" y="1856232"/>
            <a:ext cx="475488" cy="118872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63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3816584" y="1856232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B45309"/>
                </a:solidFill>
                <a:latin typeface="Calibri"/>
              </a:defRPr>
            </a:pPr>
            <a:r>
              <a:t>KEY CONTROL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2824460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2824460" y="2404872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2897612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Content &amp; Query APIs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2897612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REST · GraphQL · gRPC · WebSocket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2824460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2824460" y="2944368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2897612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RAG &amp; Agentic UX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2897612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Chatbots · Copilots · Multi-turn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12824460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2824460" y="3483864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2897612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Enterprise Apps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2897612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BI · Data products · Integrations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2787884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P99 &lt; 200ms · &lt; 2s RAG · 99.9%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74320" y="7004304"/>
            <a:ext cx="14081760" cy="2743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274320" y="7031736"/>
            <a:ext cx="14081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65760" y="705002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Calibri"/>
              </a:defRPr>
            </a:pPr>
            <a:r>
              <a:t>09 — CROSS-CUTTING: SECURITY, GOVERNANCE &amp; OPERATIONS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47472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74904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Identity &amp; Access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74904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RBAC · OAuth2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619319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646751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Policy &amp; DLP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646751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Controls · Classif.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2891166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918598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Lineage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918598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Catalogue · Contracts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4163013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4190445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Audit &amp; Obs.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190445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SLOs · SIEM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5434861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62293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462293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At-rest · In-transit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706708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734140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Legal &amp; Trust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734140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IP · Licensing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7978555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005987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Sovereignty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005987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GDPR · On-prem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9250402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277834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Runtime Entitle.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277834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Query-time gov.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10522250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549682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549682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Bias · Safety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11794097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1821529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IaC &amp; Change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821529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GitOps · Pipelines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3065944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3093376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HITL Gate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3093376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Mandatory review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74320" y="7589520"/>
            <a:ext cx="14081760" cy="18288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4572000" y="7479792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← FEEDBACK, REPROCESSING &amp; INCREMENTAL UPDATE LOOP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4572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Codify — Reference Architecture Scoped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Release 1 scope highlighted · Manual ingestion only · Fabric deferred to Release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0" y="182880"/>
            <a:ext cx="731520" cy="32004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0" y="2011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9CA3A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658368"/>
            <a:ext cx="347472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6583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9CA3AF"/>
                </a:solidFill>
                <a:latin typeface="Calibri"/>
              </a:defRPr>
            </a:pPr>
            <a:r>
              <a:t>INTELLIGENCE PLANE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9CA3AF"/>
                </a:solidFill>
                <a:latin typeface="Calibri"/>
              </a:defRPr>
            </a:pPr>
            <a:r>
              <a:t>SERVICE 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896112"/>
            <a:ext cx="137160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987552"/>
            <a:ext cx="1568196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01 ·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756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" y="1325880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Policy &amp; Procedure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Appiant system · AWS 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" y="1865376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Policy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BQ authorised 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" y="2404872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Ontology 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OWL format · Git PR 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Codify-specific sources only</a:t>
            </a:r>
          </a:p>
        </p:txBody>
      </p:sp>
      <p:sp>
        <p:nvSpPr>
          <p:cNvPr id="33" name="Chevron 32"/>
          <p:cNvSpPr/>
          <p:nvPr/>
        </p:nvSpPr>
        <p:spPr>
          <a:xfrm>
            <a:off x="1879092" y="3547872"/>
            <a:ext cx="146304" cy="1828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61972" y="987552"/>
            <a:ext cx="1568196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61972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6197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02 · INGESTION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9854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98548" y="1325880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170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Manual Upload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170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Manual document intake via UI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90672" y="1316736"/>
            <a:ext cx="475488" cy="118872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0672" y="1316736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563EB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9854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98548" y="1865376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170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OWL → JSON-LD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170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Ontology format conversion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9854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98548" y="2404872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7170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Landing Zone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170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Raw data · BQ metadata · Ontology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61972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Manual ingestion — no automation yet</a:t>
            </a:r>
          </a:p>
        </p:txBody>
      </p:sp>
      <p:sp>
        <p:nvSpPr>
          <p:cNvPr id="53" name="Chevron 52"/>
          <p:cNvSpPr/>
          <p:nvPr/>
        </p:nvSpPr>
        <p:spPr>
          <a:xfrm>
            <a:off x="3666744" y="3547872"/>
            <a:ext cx="146304" cy="182880"/>
          </a:xfrm>
          <a:prstGeom prst="chevr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49624" y="987552"/>
            <a:ext cx="1568196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849624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962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03 · PREPARATION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52060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8620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86200" y="1325880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935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5935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Raw → chapter → structured markdown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8620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86200" y="1865376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5935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Chunking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935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Chapter → retrieval-ready chunks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9624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Triggered by LangGraph Runner</a:t>
            </a:r>
          </a:p>
        </p:txBody>
      </p:sp>
      <p:sp>
        <p:nvSpPr>
          <p:cNvPr id="67" name="Chevron 66"/>
          <p:cNvSpPr/>
          <p:nvPr/>
        </p:nvSpPr>
        <p:spPr>
          <a:xfrm>
            <a:off x="5454396" y="3547872"/>
            <a:ext cx="146304" cy="182880"/>
          </a:xfrm>
          <a:prstGeom prst="chevron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37276" y="987552"/>
            <a:ext cx="1568196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637276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37276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04 · ORCHESTRATION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9712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3852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73852" y="1325880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47004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LangGraph Runner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47004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Deterministic · Stateful · HITL gate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73852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73852" y="1865376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47004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ReAuthor Workflow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47004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Structure, rewrite, simplify, merge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3852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73852" y="2404872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47004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Validation Workflow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47004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Precision/recall · Judge lanes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73852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73852" y="2944368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47004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KG &amp; Vector Engine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47004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KG build · Embedding · Vector upsert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37276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3 distinct agentic workflows</a:t>
            </a:r>
          </a:p>
        </p:txBody>
      </p:sp>
      <p:sp>
        <p:nvSpPr>
          <p:cNvPr id="89" name="Chevron 88"/>
          <p:cNvSpPr/>
          <p:nvPr/>
        </p:nvSpPr>
        <p:spPr>
          <a:xfrm>
            <a:off x="7242048" y="3547872"/>
            <a:ext cx="146304" cy="18288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24928" y="987552"/>
            <a:ext cx="1568196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24928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24928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05 · MCP GATEWAY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27364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461504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61504" y="1325880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34656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Client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34656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Typed tool wrappers · Auth retries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61504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461504" y="1865376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34656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34656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Tool mediation · OTel tracing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24928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Mediates all agent ↔ service calls</a:t>
            </a:r>
          </a:p>
        </p:txBody>
      </p:sp>
      <p:sp>
        <p:nvSpPr>
          <p:cNvPr id="103" name="Chevron 102"/>
          <p:cNvSpPr/>
          <p:nvPr/>
        </p:nvSpPr>
        <p:spPr>
          <a:xfrm>
            <a:off x="9029700" y="3547872"/>
            <a:ext cx="146304" cy="18288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12580" y="987552"/>
            <a:ext cx="1568196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212580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1258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06 · AI SERVICES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15016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24915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49156" y="1325880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230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LLM Service Adapter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2230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SDK for model access · Routing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4915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49156" y="1865376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2230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Group AI Platform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2230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LLM · Embedding · Moderation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12580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Shared Group service</a:t>
            </a:r>
          </a:p>
        </p:txBody>
      </p:sp>
      <p:sp>
        <p:nvSpPr>
          <p:cNvPr id="117" name="Chevron 116"/>
          <p:cNvSpPr/>
          <p:nvPr/>
        </p:nvSpPr>
        <p:spPr>
          <a:xfrm>
            <a:off x="10817352" y="3547872"/>
            <a:ext cx="146304" cy="182880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000232" y="987552"/>
            <a:ext cx="1568196" cy="3657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1000232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0023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C2626"/>
                </a:solidFill>
                <a:latin typeface="Calibri"/>
              </a:defRPr>
            </a:pPr>
            <a:r>
              <a:t>07 · PERSISTENCE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202668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103680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36808" y="1325880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0996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Object Storage (GCS)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0996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Markdown · Drafts · KG artefacts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03680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036808" y="1865376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10996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Operational Meta (BQ)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10996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Workflow status · Lineage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03680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08" y="2404872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10996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10996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Embedding indexes · Semantic search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1036808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036808" y="2944368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109960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109960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Neo4j / FalkorDB · On-premise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00232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Polyglot per workload</a:t>
            </a:r>
          </a:p>
        </p:txBody>
      </p:sp>
      <p:sp>
        <p:nvSpPr>
          <p:cNvPr id="139" name="Chevron 138"/>
          <p:cNvSpPr/>
          <p:nvPr/>
        </p:nvSpPr>
        <p:spPr>
          <a:xfrm>
            <a:off x="12605004" y="3547872"/>
            <a:ext cx="146304" cy="1828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787884" y="987552"/>
            <a:ext cx="1568196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2787884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278788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45309"/>
                </a:solidFill>
                <a:latin typeface="Calibri"/>
              </a:defRPr>
            </a:pPr>
            <a:r>
              <a:t>08 · CONSUMPTION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990320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82446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824460" y="1325880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89761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89761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Spring Boot · REST · GKE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282446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824460" y="1865376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89761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Frontend SPA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89761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React · HITL review · KG-RAG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824460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2824460" y="2404872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897612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Actors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897612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Reviewers · Approvers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787884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HITL mandatory before publish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74320" y="6364224"/>
            <a:ext cx="14081760" cy="2743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274320" y="6391656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5760" y="6409944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Calibri"/>
              </a:defRPr>
            </a:pPr>
            <a:r>
              <a:t>09 — CROSS-CUTTING PLATFORM SERVICES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20040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20040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Auth &amp; Identity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066544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066544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API Integration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13048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813048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Session &amp; Cache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559552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559552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306056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306056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Platform Infra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052560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052560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799064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799064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HITL Gate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2545568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545568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274320" y="7406640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63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7200" y="7452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2400E"/>
                </a:solidFill>
                <a:latin typeface="Calibri"/>
              </a:defRPr>
            </a:pPr>
            <a:r>
              <a:t>⚠  SCOPE NOTE: Ingestion is currently manual upload only (no event-driven connectors). Fabric / Data Product Access layer is deferred to Release 2. Knowledge Graph is on-premise due to data residency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408176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4081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DESIGN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11827"/>
                </a:solidFill>
                <a:latin typeface="Calibri"/>
              </a:defRPr>
            </a:pPr>
            <a:r>
              <a:t>Architecture Principles &amp; Key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 governing principles + 4 critical architecture decision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22960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59536"/>
            <a:ext cx="36576" cy="47548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914400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87782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Source-agnostic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09728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Any format, any system — unified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822960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859536"/>
            <a:ext cx="36576" cy="47548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914400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91440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87782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Modality-aware processing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09728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Document, audio, image — right pipeline per 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1426464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1463040"/>
            <a:ext cx="36576" cy="47548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1517904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15179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481328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Canonical content before AI consumption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700784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Normalise then process — never raw into LLMs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1426464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1463040"/>
            <a:ext cx="36576" cy="475488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37760" y="1517904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5179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1481328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Shared controls across full lifecycle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1700784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Security, lineage and audit at every stage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2029968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066544"/>
            <a:ext cx="36576" cy="4754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" y="2121408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12140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2084832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Polyglot persistence with clear roles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30428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Right store for right workload — graph, vector, blob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029968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46320" y="2066544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37760" y="2121408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212140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2084832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Governed AI interaction via MCP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230428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No direct model calls — all through managed gateway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2633472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2670048"/>
            <a:ext cx="36576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5760" y="2724912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272491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2688336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Deterministic + agentic execution modes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290779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DAGs for infra, LangGraph for agent orchestration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2633472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46320" y="2670048"/>
            <a:ext cx="36576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937760" y="2724912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272491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2688336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Retrieval is governed and auditable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290779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Entitlement filters — zero unfiltered access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3236976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3273552"/>
            <a:ext cx="36576" cy="475488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65760" y="3328416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332841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291840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Federated deployment expected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351129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Hybrid, multi-cloud, on-prem optionality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46320" y="3236976"/>
            <a:ext cx="4434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46320" y="3273552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937760" y="3328416"/>
            <a:ext cx="292608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0" y="332841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0" y="3291840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Responsible AI at every 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0" y="351129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Bias, explainability, safety — built in not bolted 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389534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Calibri"/>
              </a:defRPr>
            </a:pPr>
            <a:r>
              <a:t>ARCHITECTURE DECISION RECORDS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" y="4096512"/>
            <a:ext cx="3438144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" y="4096512"/>
            <a:ext cx="3438144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47472" y="4187952"/>
            <a:ext cx="640080" cy="20116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4187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ADR-001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" y="4443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Decouple ingestion from processing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" y="4736592"/>
            <a:ext cx="3291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Async event-driven handoff via Pub/Sub. Independent scaling and fault isolation.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22192" y="4096512"/>
            <a:ext cx="3438144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22192" y="4096512"/>
            <a:ext cx="3438144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95344" y="4187952"/>
            <a:ext cx="640080" cy="201168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95344" y="4187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ADR-002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95344" y="4443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AI accessed only via MCP gateway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95344" y="4736592"/>
            <a:ext cx="3291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No direct model calls. All LLM/embedding requests go through governed MCP server.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70064" y="4096512"/>
            <a:ext cx="3438144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70064" y="4096512"/>
            <a:ext cx="3438144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443216" y="4187952"/>
            <a:ext cx="640080" cy="201168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63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43216" y="4187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45309"/>
                </a:solidFill>
                <a:latin typeface="Calibri"/>
              </a:defRPr>
            </a:pPr>
            <a:r>
              <a:t>ADR-003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43216" y="4443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All retrieval passes through entitlement filter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43216" y="4736592"/>
            <a:ext cx="3291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Zero bypass policy. Every query validates access rights at runtime.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917936" y="4096512"/>
            <a:ext cx="3438144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917936" y="4096512"/>
            <a:ext cx="3438144" cy="3657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991088" y="4187952"/>
            <a:ext cx="640080" cy="201168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91088" y="41879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C2626"/>
                </a:solidFill>
                <a:latin typeface="Calibri"/>
              </a:defRPr>
            </a:pPr>
            <a:r>
              <a:t>ADR-004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91088" y="4443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Redaction pre-embedding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91088" y="4736592"/>
            <a:ext cx="3291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PII never reaches the vector store. Redaction happens before embedding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408176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4081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11827"/>
                </a:solidFill>
                <a:latin typeface="Calibri"/>
              </a:defRPr>
            </a:pPr>
            <a:r>
              <a:t>Codify — Key Design Choices &amp; Technical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Critical engineering decisions driving the Codify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22960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4480560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914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9326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Agentic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LangGraph for stateful agent workflows — retries, branching, parallelism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72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Cloud Composer for batch DAG scheduling — separation of concerns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8836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ReAuthor → Validate → HITL → KG Build as composable pipeline stages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9472" y="822960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9472" y="822960"/>
            <a:ext cx="448056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914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C3AED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9326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MCP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12618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Model Context Protocol decouples agents from infrastructure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1572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Typed tool wrappers ensure schema validation on every LLM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8836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Full OpenTelemetry tracing through MCP gateway for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2194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Single adapter SDK manages auth, rate limiting, model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64624" y="822960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64624" y="822960"/>
            <a:ext cx="4480560" cy="3657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914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2626"/>
                </a:solidFill>
                <a:latin typeface="Calibri"/>
              </a:defRPr>
            </a:pPr>
            <a:r>
              <a:t>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6104" y="9326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Human-in-the-Loop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12618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Mandatory SME approval before AI output enters KG or Vector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1572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Rejection loops back to ReAuthor — iterative refinement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18836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Addresses regulatory requirement for human oversight of AI content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035808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035808"/>
            <a:ext cx="4480560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127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5966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1455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Ontology-Governed KG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474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OWL ontology (Git PR-governed) constrains all entity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785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Cross-document linkage enables structural policy traversal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0965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Neo4j on-premise for data sovereignty (UK data center requirement)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9472" y="3035808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19472" y="3035808"/>
            <a:ext cx="4480560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3127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0952" y="31455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Multi-Lane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2" y="3474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A/B/C lane evaluation: Added, Changed, Unchanged 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2" y="3785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Precision + Recall scoring per lane with LLM-as-Judge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6632" y="40965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Automated confidence thresholds — only high-confidence to HITL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64624" y="3035808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64624" y="3035808"/>
            <a:ext cx="448056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4352" y="3127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5309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76104" y="31455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Hybrid KG-RAG Retrieval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3474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Vector search (semantic) + Graph traversal (structural) + Reranking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3785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Enables queries like: 'Show all escalation paths affecting UK retail'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01784" y="40965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Vertex AI Vector Search (GCP) + Neo4j graph queries combined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321808"/>
            <a:ext cx="4620768" cy="5029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535838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97706"/>
                </a:solidFill>
                <a:latin typeface="Calibri"/>
              </a:defRPr>
            </a:pPr>
            <a:r>
              <a:t>R1 SCOPE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5376672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ReAuthor + Validation + HITL + KG Build + KG-RAG · ~3,500 P&amp;P docs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04816" y="5321808"/>
            <a:ext cx="4620768" cy="50292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7968" y="535838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91B2"/>
                </a:solidFill>
                <a:latin typeface="Calibri"/>
              </a:defRPr>
            </a:pPr>
            <a:r>
              <a:t>R2 PLANNED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9216" y="5376672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Multi-jurisdictional expansion · RegChange Mgmt · Auto-lineage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35312" y="5321808"/>
            <a:ext cx="4620768" cy="502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8464" y="535838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49712" y="5376672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GCP europe-west2 · On-prem Neo4j UK DC · GKE dual-NIC · Shared VPC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Calibri"/>
              </a:defRPr>
            </a:pPr>
            <a:r>
              <a:t>Reference Architecture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How Release 1 maps to the enterprise UDL reference architecture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92608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3502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Reference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80467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33502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Codify Release 1 Implementation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1440" y="1280160"/>
            <a:ext cx="219456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31168" y="133502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01 · Source Domains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88366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Policy &amp; Procedure (AWS) · Policy History (BQ) · Ontology Schema (Git)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1440" y="182880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31168" y="188366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3230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02 · Ingestion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37744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43230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Manual upload via UI · OWL→JSON-LD conversion · Landing zone (manual — no connectors)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21440" y="237744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31168" y="243230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⚠ Manual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8094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03 · Preparation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92608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298094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Preprocessing + Chunking microservices (triggered by LangGraph Runner)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521440" y="292608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31168" y="298094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7472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2958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04 · Orchestration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47472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352958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LangGraph Runner · ReAuthor + Validation + KG/Vector workflows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21440" y="347472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31168" y="352958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07822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05 · AI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02336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4448" y="407822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LLM Service Adapter · Group AI Platform · MCP Client/Server gateway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521440" y="402336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31168" y="407822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7200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62686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06 · Persistence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457200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84448" y="462686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GCS · BigQuery Metadata · Vector DB · Knowledge Graph (Neo4j on-prem)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521440" y="457200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31168" y="462686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12064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17550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07 · Fabric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12064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84448" y="517550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Not in scope — governed data product exposure deferred to Release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521440" y="512064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31168" y="517550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⏳ Release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6928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72414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08 · Consumption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566928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84448" y="572414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Spring Boot Backend · React SPA · HITL Review · KG-RAG retriever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521440" y="566928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31168" y="572414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21792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27278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09 · Cross-Cutting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0" y="621792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84448" y="627278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Auth · Observability · CI/CD · HITL Gate · Responsible AI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521440" y="621792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31168" y="627278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