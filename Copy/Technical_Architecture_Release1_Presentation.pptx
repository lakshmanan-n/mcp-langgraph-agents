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743200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Technical Architecture — Release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Unstructured Data Processing · Policy Re-Authoring Use Case</a:t>
            </a:r>
            <a:br/>
            <a:r>
              <a:t>Reference Architecture Aligned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12064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38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RELEASE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7132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April 2026 · Architecture Working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457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Unstructured Data Processing — 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Enterprise framework · 8 lifecycle layers · 3 planes · Cross-cutting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658368"/>
            <a:ext cx="347472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6583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INTELLIGENCE PLANE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9CA3AF"/>
                </a:solidFill>
                <a:latin typeface="Calibri"/>
              </a:defRPr>
            </a:pPr>
            <a:r>
              <a:t>SERVICE PLANE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896112"/>
            <a:ext cx="137160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0" y="841248"/>
            <a:ext cx="5486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AF"/>
                </a:solidFill>
                <a:latin typeface="Calibri"/>
              </a:defRPr>
            </a:pPr>
            <a:r>
              <a:t>FLOW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87552"/>
            <a:ext cx="1568196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01 · SOURCE DOMAINS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756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" y="1325880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Internal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Documents · Wikis · Policies · SOPs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" y="1865376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Operational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Tickets · CRM · BPM · Incidents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" y="2404872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Email · Chat · Meetings · Forums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" y="2944368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Media &amp; Interaction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Audio · Video · Transcripts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" y="3483864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External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Web · Partner feeds · Regulatory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" y="399592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" y="4023360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01421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Enterprise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15137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SharePoint · S3 · NAS · Git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" y="453542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896" y="4562856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55371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Structured Augment.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69087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Metadata · Reference data · MDM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10s–100s sources · TB-scale</a:t>
            </a:r>
          </a:p>
        </p:txBody>
      </p:sp>
      <p:sp>
        <p:nvSpPr>
          <p:cNvPr id="48" name="Chevron 47"/>
          <p:cNvSpPr/>
          <p:nvPr/>
        </p:nvSpPr>
        <p:spPr>
          <a:xfrm>
            <a:off x="1879092" y="3867912"/>
            <a:ext cx="146304" cy="1828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61972" y="987552"/>
            <a:ext cx="1568196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061972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6197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02 · INGESTION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64408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9854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98548" y="1325880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7170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Source Registration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7170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Access · Steward assign · Trust tier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9854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98548" y="1865376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7170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Intake Connectors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7170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API · Batch · Event · Stream · Crawler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9854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98548" y="2404872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7170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Landing &amp; Validation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7170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Schema check · DQ gate · Quarantine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98548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098548" y="2944368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71700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Policy-Aware Routing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71700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Sensitivity · Trust · Residency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90672" y="2935224"/>
            <a:ext cx="475488" cy="118872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90672" y="2935224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563EB"/>
                </a:solidFill>
                <a:latin typeface="Calibri"/>
              </a:defRPr>
            </a:pPr>
            <a:r>
              <a:t>KEY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61972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&lt; 5 min · at-least-once · idempotent</a:t>
            </a:r>
          </a:p>
        </p:txBody>
      </p:sp>
      <p:sp>
        <p:nvSpPr>
          <p:cNvPr id="72" name="Chevron 71"/>
          <p:cNvSpPr/>
          <p:nvPr/>
        </p:nvSpPr>
        <p:spPr>
          <a:xfrm>
            <a:off x="3666744" y="3867912"/>
            <a:ext cx="146304" cy="182880"/>
          </a:xfrm>
          <a:prstGeom prst="chevr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49624" y="987552"/>
            <a:ext cx="1568196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49624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4962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03 · PREPARATION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52060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8620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886200" y="1325880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5935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Format Detection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5935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Document · Audio · Chat · Image · Code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8620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86200" y="1865376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5935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Extraction Services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5935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Parsing · OCR · STT · Table extract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86200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886200" y="2404872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959352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Normalise &amp; Dedupe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59352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Canonicalise · Clean · MinHash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86200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86200" y="2944368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59352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Metadata Enrichment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59352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Provenance · Auto-tag · Sensitivity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86200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886200" y="3483864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59352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59669"/>
                </a:solidFill>
                <a:latin typeface="Calibri"/>
              </a:defRPr>
            </a:pPr>
            <a:r>
              <a:t>Redaction &amp; PII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59352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PII detect · DLP · Masking · Token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78324" y="3474720"/>
            <a:ext cx="475488" cy="118872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78324" y="3474720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059669"/>
                </a:solidFill>
                <a:latin typeface="Calibri"/>
              </a:defRPr>
            </a:pPr>
            <a:r>
              <a:t>KEY CONTROL</a:t>
            </a:r>
          </a:p>
        </p:txBody>
      </p:sp>
      <p:sp>
        <p:nvSpPr>
          <p:cNvPr id="99" name="Chevron 98"/>
          <p:cNvSpPr/>
          <p:nvPr/>
        </p:nvSpPr>
        <p:spPr>
          <a:xfrm>
            <a:off x="5454396" y="3867912"/>
            <a:ext cx="146304" cy="182880"/>
          </a:xfrm>
          <a:prstGeom prst="chevron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637276" y="987552"/>
            <a:ext cx="1568196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637276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37276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04 · ORCHESTRATION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39712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673852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673852" y="1325880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47004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Deterministic Engine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47004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DAG · Rules · Replay · Retry · HITL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673852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673852" y="1865376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47004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97706"/>
                </a:solidFill>
                <a:latin typeface="Calibri"/>
              </a:defRPr>
            </a:pPr>
            <a:r>
              <a:t>Stateful Agents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47004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Multi-step reasoning · Tool use · Memory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65976" y="1856232"/>
            <a:ext cx="475488" cy="118872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65976" y="1856232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D97706"/>
                </a:solidFill>
                <a:latin typeface="Calibri"/>
              </a:defRPr>
            </a:pPr>
            <a:r>
              <a:t>AGENTIC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673852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73852" y="2404872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47004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Chunking &amp; Embedding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47004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Semantic chunk · Entity extract · Embed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673852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73852" y="2944368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747004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KG Enrichment &amp; Build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47004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Relations · Ontology · Graph materialise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73852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673852" y="3483864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47004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QA &amp; Validation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47004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Output verify · Hallucination · Confidence</a:t>
            </a:r>
          </a:p>
        </p:txBody>
      </p:sp>
      <p:sp>
        <p:nvSpPr>
          <p:cNvPr id="126" name="Chevron 125"/>
          <p:cNvSpPr/>
          <p:nvPr/>
        </p:nvSpPr>
        <p:spPr>
          <a:xfrm>
            <a:off x="7242048" y="3867912"/>
            <a:ext cx="146304" cy="18288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24928" y="987552"/>
            <a:ext cx="1568196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424928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24928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05 · AI INTEGRATION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27364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61504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461504" y="1325880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534656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Client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534656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Tool access · Discovery · Capability match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453628" y="1316736"/>
            <a:ext cx="475488" cy="118872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453628" y="1316736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7C3AED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461504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461504" y="1865376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534656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Gateway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34656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Mediation · Context prop. · OTel tracing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461504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461504" y="2404872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534656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C3AED"/>
                </a:solidFill>
                <a:latin typeface="Calibri"/>
              </a:defRPr>
            </a:pPr>
            <a:r>
              <a:t>Shared AI Platform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534656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LLMs · Embedding · Moderation · Guard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453628" y="2395728"/>
            <a:ext cx="475488" cy="118872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453628" y="2395728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7C3AED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461504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461504" y="2944368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534656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AI Observability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34656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Token meter · Drift detect · Model reg.</a:t>
            </a:r>
          </a:p>
        </p:txBody>
      </p:sp>
      <p:sp>
        <p:nvSpPr>
          <p:cNvPr id="151" name="Chevron 150"/>
          <p:cNvSpPr/>
          <p:nvPr/>
        </p:nvSpPr>
        <p:spPr>
          <a:xfrm>
            <a:off x="9029700" y="3867912"/>
            <a:ext cx="146304" cy="182880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212580" y="987552"/>
            <a:ext cx="1568196" cy="3657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9212580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21258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C2626"/>
                </a:solidFill>
                <a:latin typeface="Calibri"/>
              </a:defRPr>
            </a:pPr>
            <a:r>
              <a:t>06 · PERSISTENCE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415016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24915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249156" y="1325880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32230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Content Stores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2230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Object storage · Blob · Immutable archive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4915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249156" y="1865376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230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Metadata &amp; Lineage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32230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Catalogue · Audit trail · Contracts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249156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9156" y="2404872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322308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Analytical Store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322308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SQL · Materialised views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249156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249156" y="2944368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322308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322308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Embeddings · Semantic index · ANN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249156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49156" y="3483864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322308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Graph Store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322308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Entity graph · KG · Ontology store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249156" y="399592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249156" y="4023360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322308" y="401421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DC2626"/>
                </a:solidFill>
                <a:latin typeface="Calibri"/>
              </a:defRPr>
            </a:pPr>
            <a:r>
              <a:t>Session &amp; Cache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322308" y="415137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Agent state · Context · Memory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12580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POLYGLOT — choose per workload</a:t>
            </a:r>
          </a:p>
        </p:txBody>
      </p:sp>
      <p:sp>
        <p:nvSpPr>
          <p:cNvPr id="181" name="Chevron 180"/>
          <p:cNvSpPr/>
          <p:nvPr/>
        </p:nvSpPr>
        <p:spPr>
          <a:xfrm>
            <a:off x="10817352" y="3867912"/>
            <a:ext cx="146304" cy="182880"/>
          </a:xfrm>
          <a:prstGeom prst="chevron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1000232" y="987552"/>
            <a:ext cx="1568196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11000232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100023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891B2"/>
                </a:solidFill>
                <a:latin typeface="Calibri"/>
              </a:defRPr>
            </a:pPr>
            <a:r>
              <a:t>07 · FABRIC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202668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103680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1036808" y="1325880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10996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Structured Products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10996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SQL views · Mat. tables · BI-ready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103680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1036808" y="1865376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110996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KG Products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110996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Graph views · Entity APIs · Rel. queries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103680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036808" y="2404872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110996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Unstructured Products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10996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Retrieval views · Metadata access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1036808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036808" y="2944368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109960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91B2"/>
                </a:solidFill>
                <a:latin typeface="Calibri"/>
              </a:defRPr>
            </a:pPr>
            <a:r>
              <a:t>Federation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1109960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Logical federation · Cross-cluster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2028932" y="2935224"/>
            <a:ext cx="475488" cy="118872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028932" y="2935224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0891B2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1036808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1036808" y="3483864"/>
            <a:ext cx="27432" cy="42062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109960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Product Governance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109960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Contracts · SLAs · Versioning</a:t>
            </a:r>
          </a:p>
        </p:txBody>
      </p:sp>
      <p:sp>
        <p:nvSpPr>
          <p:cNvPr id="208" name="Chevron 207"/>
          <p:cNvSpPr/>
          <p:nvPr/>
        </p:nvSpPr>
        <p:spPr>
          <a:xfrm>
            <a:off x="12605004" y="3867912"/>
            <a:ext cx="146304" cy="1828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2787884" y="987552"/>
            <a:ext cx="1568196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2787884" y="1024128"/>
            <a:ext cx="1568196" cy="5907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278788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45309"/>
                </a:solidFill>
                <a:latin typeface="Calibri"/>
              </a:defRPr>
            </a:pPr>
            <a:r>
              <a:t>08 · CONSUMPTION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3990320" y="66568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282446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2824460" y="1325880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89761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Hybrid Search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289761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Vector · BM25 · Graph · Rerank · Fusion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282446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2824460" y="1865376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289761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45309"/>
                </a:solidFill>
                <a:latin typeface="Calibri"/>
              </a:defRPr>
            </a:pPr>
            <a:r>
              <a:t>Retrieval Governance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289761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Entitlement · Policy · Provenance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816584" y="1856232"/>
            <a:ext cx="475488" cy="118872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63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3816584" y="1856232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B45309"/>
                </a:solidFill>
                <a:latin typeface="Calibri"/>
              </a:defRPr>
            </a:pPr>
            <a:r>
              <a:t>KEY CONTROL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2824460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2824460" y="2404872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2897612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Content &amp; Query APIs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2897612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REST · GraphQL · gRPC · WebSocket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2824460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2824460" y="2944368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2897612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RAG &amp; Agentic UX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2897612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Chatbots · Copilots · Multi-turn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12824460" y="3456432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2824460" y="3483864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2897612" y="347472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Enterprise Apps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2897612" y="3611880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BI · Data products · Integrations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2787884" y="674827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P99 &lt; 200ms · &lt; 2s RAG · 99.9%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74320" y="7004304"/>
            <a:ext cx="14081760" cy="2743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274320" y="7031736"/>
            <a:ext cx="140817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65760" y="705002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Calibri"/>
              </a:defRPr>
            </a:pPr>
            <a:r>
              <a:t>09 — CROSS-CUTTING: SECURITY, GOVERNANCE &amp; OPERATIONS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47472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74904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Identity &amp; Access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74904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RBAC · OAuth2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619319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646751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Policy &amp; DLP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646751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Controls · Classif.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2891166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918598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Lineage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918598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Catalogue · Contracts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4163013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4190445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Audit &amp; Obs.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190445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SLOs · SIEM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5434861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462293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462293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At-rest · In-transit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706708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734140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Legal &amp; Trust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734140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IP · Licensing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7978555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005987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Sovereignty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005987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GDPR · On-prem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9250402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277834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Runtime Entitle.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277834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Query-time gov.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10522250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549682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549682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Bias · Safety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11794097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1821529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IaC &amp; Change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1821529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GitOps · Pipelines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13065944" y="7242048"/>
            <a:ext cx="1216983" cy="25603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3093376" y="7260336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111827"/>
                </a:solidFill>
                <a:latin typeface="Calibri"/>
              </a:defRPr>
            </a:pPr>
            <a:r>
              <a:t>HITL Gate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3093376" y="7370064"/>
            <a:ext cx="11621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0">
                <a:solidFill>
                  <a:srgbClr val="6B7280"/>
                </a:solidFill>
                <a:latin typeface="Calibri"/>
              </a:defRPr>
            </a:pPr>
            <a:r>
              <a:t>Mandatory review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274320" y="7589520"/>
            <a:ext cx="14081760" cy="18288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4572000" y="7479792"/>
            <a:ext cx="5486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Calibri"/>
              </a:defRPr>
            </a:pPr>
            <a:r>
              <a:t>← FEEDBACK, REPROCESSING &amp; INCREMENTAL UPDATE LOOP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4572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Codify — Reference Architecture Scoped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Release 1 scope highlighted · Manual ingestion only · Fabric deferred to Release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0" y="182880"/>
            <a:ext cx="731520" cy="32004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0" y="2011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9CA3A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658368"/>
            <a:ext cx="347472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6583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9CA3AF"/>
                </a:solidFill>
                <a:latin typeface="Calibri"/>
              </a:defRPr>
            </a:pPr>
            <a:r>
              <a:t>INTELLIGENCE PLANE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658368"/>
            <a:ext cx="5212080" cy="18288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65836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9CA3AF"/>
                </a:solidFill>
                <a:latin typeface="Calibri"/>
              </a:defRPr>
            </a:pPr>
            <a:r>
              <a:t>SERVICE 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896112"/>
            <a:ext cx="137160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987552"/>
            <a:ext cx="1568196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01 ·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756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" y="1325880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Policy &amp; Procedure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Appiant system · AWS 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" y="1865376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Policy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BQ authorised 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" y="2404872"/>
            <a:ext cx="27432" cy="4206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Ontology 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OWL format · Git PR 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Codify-specific sources only</a:t>
            </a:r>
          </a:p>
        </p:txBody>
      </p:sp>
      <p:sp>
        <p:nvSpPr>
          <p:cNvPr id="33" name="Chevron 32"/>
          <p:cNvSpPr/>
          <p:nvPr/>
        </p:nvSpPr>
        <p:spPr>
          <a:xfrm>
            <a:off x="1879092" y="3547872"/>
            <a:ext cx="146304" cy="182880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61972" y="987552"/>
            <a:ext cx="1568196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61972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6197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563EB"/>
                </a:solidFill>
                <a:latin typeface="Calibri"/>
              </a:defRPr>
            </a:pPr>
            <a:r>
              <a:t>02 · INGESTION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9854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98548" y="1325880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170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  <a:latin typeface="Calibri"/>
              </a:defRPr>
            </a:pPr>
            <a:r>
              <a:t>Manual Upload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170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Manual document intake via UI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90672" y="1316736"/>
            <a:ext cx="475488" cy="118872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0672" y="1316736"/>
            <a:ext cx="475488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563EB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9854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98548" y="1865376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170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OWL → JSON-LD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170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Ontology format conversion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9854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98548" y="2404872"/>
            <a:ext cx="27432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7170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Landing Zone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170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Raw data · BQ metadata · Ontology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61972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Manual ingestion — no automation yet</a:t>
            </a:r>
          </a:p>
        </p:txBody>
      </p:sp>
      <p:sp>
        <p:nvSpPr>
          <p:cNvPr id="53" name="Chevron 52"/>
          <p:cNvSpPr/>
          <p:nvPr/>
        </p:nvSpPr>
        <p:spPr>
          <a:xfrm>
            <a:off x="3666744" y="3547872"/>
            <a:ext cx="146304" cy="182880"/>
          </a:xfrm>
          <a:prstGeom prst="chevr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49624" y="987552"/>
            <a:ext cx="1568196" cy="3657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849624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962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59669"/>
                </a:solidFill>
                <a:latin typeface="Calibri"/>
              </a:defRPr>
            </a:pPr>
            <a:r>
              <a:t>03 · PREPARATION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52060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8620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86200" y="1325880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935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5935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Raw → chapter → structured markdown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8620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86200" y="1865376"/>
            <a:ext cx="27432" cy="42062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5935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Chunking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935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Chapter → retrieval-ready chunks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9624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Triggered by LangGraph Runner</a:t>
            </a:r>
          </a:p>
        </p:txBody>
      </p:sp>
      <p:sp>
        <p:nvSpPr>
          <p:cNvPr id="67" name="Chevron 66"/>
          <p:cNvSpPr/>
          <p:nvPr/>
        </p:nvSpPr>
        <p:spPr>
          <a:xfrm>
            <a:off x="5454396" y="3547872"/>
            <a:ext cx="146304" cy="182880"/>
          </a:xfrm>
          <a:prstGeom prst="chevron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37276" y="987552"/>
            <a:ext cx="1568196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637276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37276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7706"/>
                </a:solidFill>
                <a:latin typeface="Calibri"/>
              </a:defRPr>
            </a:pPr>
            <a:r>
              <a:t>04 · ORCHESTRATION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9712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3852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73852" y="1325880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47004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LangGraph Runner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47004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Deterministic · Stateful · HITL gate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73852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73852" y="1865376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47004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ReAuthor Workflow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47004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Structure, rewrite, simplify, merge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3852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73852" y="2404872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47004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Validation Workflow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47004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Precision/recall · Judge lanes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73852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73852" y="2944368"/>
            <a:ext cx="27432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47004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KG &amp; Vector Engine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47004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KG build · Embedding · Vector upsert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37276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3 distinct agentic workflows</a:t>
            </a:r>
          </a:p>
        </p:txBody>
      </p:sp>
      <p:sp>
        <p:nvSpPr>
          <p:cNvPr id="89" name="Chevron 88"/>
          <p:cNvSpPr/>
          <p:nvPr/>
        </p:nvSpPr>
        <p:spPr>
          <a:xfrm>
            <a:off x="7242048" y="3547872"/>
            <a:ext cx="146304" cy="18288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24928" y="987552"/>
            <a:ext cx="1568196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24928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24928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05 · MCP GATEWAY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27364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461504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61504" y="1325880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34656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Client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34656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Typed tool wrappers · Auth retries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61504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461504" y="1865376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34656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34656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Tool mediation · OTel tracing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24928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Mediates all agent ↔ service calls</a:t>
            </a:r>
          </a:p>
        </p:txBody>
      </p:sp>
      <p:sp>
        <p:nvSpPr>
          <p:cNvPr id="103" name="Chevron 102"/>
          <p:cNvSpPr/>
          <p:nvPr/>
        </p:nvSpPr>
        <p:spPr>
          <a:xfrm>
            <a:off x="9029700" y="3547872"/>
            <a:ext cx="146304" cy="18288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12580" y="987552"/>
            <a:ext cx="1568196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212580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12580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C3AED"/>
                </a:solidFill>
                <a:latin typeface="Calibri"/>
              </a:defRPr>
            </a:pPr>
            <a:r>
              <a:t>06 · AI SERVICES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15016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249156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49156" y="1325880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2308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LLM Service Adapter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22308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SDK for model access · Routing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49156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49156" y="1865376"/>
            <a:ext cx="27432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22308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Group AI Platform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22308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LLM · Embedding · Moderation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12580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Shared Group service</a:t>
            </a:r>
          </a:p>
        </p:txBody>
      </p:sp>
      <p:sp>
        <p:nvSpPr>
          <p:cNvPr id="117" name="Chevron 116"/>
          <p:cNvSpPr/>
          <p:nvPr/>
        </p:nvSpPr>
        <p:spPr>
          <a:xfrm>
            <a:off x="10817352" y="3547872"/>
            <a:ext cx="146304" cy="182880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000232" y="987552"/>
            <a:ext cx="1568196" cy="3657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1000232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00232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C2626"/>
                </a:solidFill>
                <a:latin typeface="Calibri"/>
              </a:defRPr>
            </a:pPr>
            <a:r>
              <a:t>07 · PERSISTENCE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202668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1036808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036808" y="1325880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09960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Object Storage (GCS)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09960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Markdown · Drafts · KG artefacts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036808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036808" y="1865376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109960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Operational Meta (BQ)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109960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Workflow status · Lineage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036808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08" y="2404872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109960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109960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Embedding indexes · Semantic search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1036808" y="2916936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036808" y="2944368"/>
            <a:ext cx="27432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109960" y="293522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109960" y="3072384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Neo4j / FalkorDB · On-premise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00232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Polyglot per workload</a:t>
            </a:r>
          </a:p>
        </p:txBody>
      </p:sp>
      <p:sp>
        <p:nvSpPr>
          <p:cNvPr id="139" name="Chevron 138"/>
          <p:cNvSpPr/>
          <p:nvPr/>
        </p:nvSpPr>
        <p:spPr>
          <a:xfrm>
            <a:off x="12605004" y="3547872"/>
            <a:ext cx="146304" cy="18288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787884" y="987552"/>
            <a:ext cx="1568196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2787884" y="1024128"/>
            <a:ext cx="1568196" cy="5266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2787884" y="1042416"/>
            <a:ext cx="15681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45309"/>
                </a:solidFill>
                <a:latin typeface="Calibri"/>
              </a:defRPr>
            </a:pPr>
            <a:r>
              <a:t>08 · CONSUMPTION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990320" y="6016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824460" y="1298448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824460" y="1325880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897612" y="131673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897612" y="1453896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Spring Boot · REST · GKE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2824460" y="1837944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824460" y="1865376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897612" y="185623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Frontend SPA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897612" y="1993392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React · HITL review · KG-RAG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824460" y="2377440"/>
            <a:ext cx="1495044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2824460" y="2404872"/>
            <a:ext cx="27432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897612" y="239572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Calibri"/>
              </a:defRPr>
            </a:pPr>
            <a:r>
              <a:t>Actors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897612" y="2532888"/>
            <a:ext cx="136702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B5563"/>
                </a:solidFill>
                <a:latin typeface="Calibri"/>
              </a:defRPr>
            </a:pPr>
            <a:r>
              <a:t>Reviewers · Approvers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787884" y="6108192"/>
            <a:ext cx="15681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CA3AF"/>
                </a:solidFill>
                <a:latin typeface="Calibri"/>
              </a:defRPr>
            </a:pPr>
            <a:r>
              <a:t>HITL mandatory before publish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74320" y="6364224"/>
            <a:ext cx="14081760" cy="2743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274320" y="6391656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5760" y="6409944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Calibri"/>
              </a:defRPr>
            </a:pPr>
            <a:r>
              <a:t>09 — CROSS-CUTTING PLATFORM SERVICES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20040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20040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Auth &amp; Identity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066544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066544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API Integration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13048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813048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Session &amp; Cache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559552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559552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306056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306056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Platform Infra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052560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052560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799064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799064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HITL Gate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2545568" y="6565392"/>
            <a:ext cx="1691640" cy="2377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545568" y="65836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274320" y="7406640"/>
            <a:ext cx="14081760" cy="4572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63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7200" y="7452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2400E"/>
                </a:solidFill>
                <a:latin typeface="Calibri"/>
              </a:defRPr>
            </a:pPr>
            <a:r>
              <a:t>⚠  SCOPE NOTE: Ingestion is currently manual upload only (no event-driven connectors). Fabric / Data Product Access layer is deferred to Release 2. Knowledge Graph is on-premise due to data residency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Foundational principles governing all unstructured data processing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45720" cy="1307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128016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28930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28016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Deterministic-First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Default to deterministic workflows (LangGraph). Stateful agents reserved for complex reasoning. Ensures reproducibility, compliance traceability, and operational predictability.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243584"/>
            <a:ext cx="45720" cy="1307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43216" y="128016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128930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128016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Ontology-Anchored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157276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Entity extraction and mapping grounded in formally maintained ontology. Prevents semantic drift and ensures cross-domain consistency.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9748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52344"/>
            <a:ext cx="45720" cy="1307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278892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79806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278892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Governed AI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08152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LLM/embedding access routed through shared service adapter with token metering, prompt governance, and moderation. No direct model calls from application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69748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752344"/>
            <a:ext cx="45720" cy="1307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43216" y="278892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3216" y="279806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278892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Immutable Lineage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308152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Every artefact carries traceable lineage from source through processing to consumption. Lineage is system-assigned, not optional metadata.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261104"/>
            <a:ext cx="45720" cy="13075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656" y="429768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63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30682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5309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429768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HITL as Regulatory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459028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AI-generated content must pass mandatory human review before persistence or publication. Non-negotiable regulatory requirement for banking-context re-authoring.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420624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4261104"/>
            <a:ext cx="45720" cy="1307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43216" y="429768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430682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429768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MCP as Tool Mediation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59028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All agent-to-service calls mediated via MCP Client/Server. Typed tool wrappers, context propagation, auth retries, and OpenTelemetry tracing.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500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769864"/>
            <a:ext cx="45720" cy="1307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76656" y="580644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81558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91B2"/>
                </a:solidFill>
                <a:latin typeface="Calibri"/>
              </a:defRPr>
            </a:pPr>
            <a:r>
              <a:t>P7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" y="580644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Separation of Fabric &amp; Retrieval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609904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Fabric exposes governed analytical data products. Retrieval serves latency-sensitive interactive consumption. Complementary layers, not interchangeable.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571500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0" y="5769864"/>
            <a:ext cx="45720" cy="1307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43216" y="5806440"/>
            <a:ext cx="411480" cy="237744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3216" y="581558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5806440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Source-Agnostic Onboarding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3216" y="609904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Ingestion supports any source type through self-service connector registration. Source-specific logic belongs in connectors, not downstream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Decisions and rationale for senior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45720" cy="1307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Deterministic-First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LangGraph is the default workflow engine. Stateful agents reserved for complex reasoning. Ensures reproducibility, replay, and auditability.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8872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243584"/>
            <a:ext cx="45720" cy="1307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280160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Three Distinct Agentic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572768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ReAuthor, Validation, KG/Vector workflows separated by concern. Independently testable, versionable, and deployable.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15768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70632"/>
            <a:ext cx="45720" cy="1307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07208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MCP as Tool Mediation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99816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All agent-to-service calls mediated through MCP Client/Server. Typed wrappers, context propagation, OpenTelemetry tracing.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715768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770632"/>
            <a:ext cx="45720" cy="1307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2807208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HITL as Mandatory Regulatory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099816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Human review enforced before AI content is persisted. Non-negotiable banking regulatory requirement.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42816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45720" cy="1307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334256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Dual Persistence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626864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Cloud stores (GCS, BQ, Vector DB) for operational workloads. KG on-premise for data residency requirements.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242816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4297680"/>
            <a:ext cx="45720" cy="1307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334256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Calibri"/>
              </a:defRPr>
            </a:pPr>
            <a:r>
              <a:t>Fabric Deferred to Release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4626864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Data product exposure consciously deferred. Release 1 focuses on end-to-end processing. Fabric governs products in Release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Calibri"/>
              </a:defRPr>
            </a:pPr>
            <a:r>
              <a:t>Reference Architecture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How Release 1 maps to the enterprise UDL reference architecture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92608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3502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Reference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80467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33502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Codify Release 1 Implementation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1440" y="1280160"/>
            <a:ext cx="219456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31168" y="133502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8366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01 · Source Domains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88366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Policy &amp; Procedure (AWS) · Policy History (BQ) · Ontology Schema (Git)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1440" y="182880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31168" y="188366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3230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02 · Ingestion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37744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43230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Manual upload via UI · OWL→JSON-LD conversion · Landing zone (manual — no connectors)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21440" y="237744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31168" y="243230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⚠ Manual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2608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8094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03 · Preparation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92608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298094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Preprocessing + Chunking microservices (triggered by LangGraph Runner)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521440" y="292608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31168" y="298094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7472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2958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04 · Orchestration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47472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352958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LangGraph Runner · ReAuthor + Validation + KG/Vector workflows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21440" y="347472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31168" y="352958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07822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05 · AI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02336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4448" y="407822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LLM Service Adapter · Group AI Platform · MCP Client/Server gateway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521440" y="402336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31168" y="407822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7200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62686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06 · Persistence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457200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84448" y="462686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GCS · BigQuery Metadata · Vector DB · Knowledge Graph (Neo4j on-prem)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521440" y="457200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31168" y="462686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12064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17550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07 · Fabric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12064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84448" y="517550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Not in scope — governed data product exposure deferred to Release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521440" y="512064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31168" y="517550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⏳ Release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69280"/>
            <a:ext cx="29260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72414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08 · Consumption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5669280"/>
            <a:ext cx="80467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84448" y="572414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Spring Boot Backend · React SPA · HITL Review · KG-RAG retriever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521440" y="5669280"/>
            <a:ext cx="21945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631168" y="572414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21792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272784"/>
            <a:ext cx="27066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09 · Cross-Cutting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0" y="621792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84448" y="6272784"/>
            <a:ext cx="7827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Auth · Observability · CI/CD · HITL Gate · Responsible AI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521440" y="621792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31168" y="6272784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Calibri"/>
              </a:defRPr>
            </a:pPr>
            <a:r>
              <a:t>✅ Implemented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