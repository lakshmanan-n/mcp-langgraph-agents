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2743200"/>
            <a:ext cx="914400" cy="54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926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Technical Architecture — Release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319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Unstructured Data Processing · Policy Re-Authoring Use Case</a:t>
            </a:r>
            <a:br/>
            <a:r>
              <a:t>Reference Architecture Aligned 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120640"/>
            <a:ext cx="1828800" cy="41148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138928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RELEASE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71323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4748B"/>
                </a:solidFill>
                <a:latin typeface="Calibri"/>
              </a:defRPr>
            </a:pPr>
            <a:r>
              <a:t>April 2026 · Architecture Working Group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37160"/>
            <a:ext cx="14081760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7160"/>
            <a:ext cx="4572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5448"/>
            <a:ext cx="7315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11827"/>
                </a:solidFill>
                <a:latin typeface="Calibri"/>
              </a:defRPr>
            </a:pPr>
            <a:r>
              <a:t>Unstructured Data Processing — Reference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011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Enterprise framework · 8 lifecycle layers · 3 planes · Cross-cutting governance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658368"/>
            <a:ext cx="5212080" cy="182880"/>
          </a:xfrm>
          <a:prstGeom prst="roundRect">
            <a:avLst>
              <a:gd name="adj" fmla="val 5000"/>
            </a:avLst>
          </a:prstGeom>
          <a:noFill/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8368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9CA3AF"/>
                </a:solidFill>
                <a:latin typeface="Calibri"/>
              </a:defRPr>
            </a:pPr>
            <a:r>
              <a:t>DATA PLANE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658368"/>
            <a:ext cx="3474720" cy="182880"/>
          </a:xfrm>
          <a:prstGeom prst="roundRect">
            <a:avLst>
              <a:gd name="adj" fmla="val 5000"/>
            </a:avLst>
          </a:prstGeom>
          <a:noFill/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658368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9CA3AF"/>
                </a:solidFill>
                <a:latin typeface="Calibri"/>
              </a:defRPr>
            </a:pPr>
            <a:r>
              <a:t>INTELLIGENCE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658368"/>
            <a:ext cx="5212080" cy="182880"/>
          </a:xfrm>
          <a:prstGeom prst="roundRect">
            <a:avLst>
              <a:gd name="adj" fmla="val 5000"/>
            </a:avLst>
          </a:prstGeom>
          <a:noFill/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658368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9CA3AF"/>
                </a:solidFill>
                <a:latin typeface="Calibri"/>
              </a:defRPr>
            </a:pPr>
            <a:r>
              <a:t>SERVICE PLANE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896112"/>
            <a:ext cx="13716000" cy="27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90320" y="841248"/>
            <a:ext cx="54864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9CA3AF"/>
                </a:solidFill>
                <a:latin typeface="Calibri"/>
              </a:defRPr>
            </a:pPr>
            <a:r>
              <a:t>FLOW 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987552"/>
            <a:ext cx="1568196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4320" y="1024128"/>
            <a:ext cx="1568196" cy="5907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1042416"/>
            <a:ext cx="15681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B7280"/>
                </a:solidFill>
                <a:latin typeface="Calibri"/>
              </a:defRPr>
            </a:pPr>
            <a:r>
              <a:t>01 · SOURCE DOMAINS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76756" y="6656832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1F5F9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" y="129844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0896" y="1325880"/>
            <a:ext cx="27432" cy="274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131673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Internal Knowledge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145389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Documents · Wikis · Policies · SOPs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0896" y="1655064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10896" y="1682496"/>
            <a:ext cx="27432" cy="274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4048" y="167335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Operational Workflow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181051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Tickets · CRM · BPM · Incidents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0896" y="2011680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" y="2039112"/>
            <a:ext cx="27432" cy="274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202996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Communication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216712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Email · Chat · Meetings · Forums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0896" y="2368296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896" y="2395728"/>
            <a:ext cx="27432" cy="274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4048" y="238658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Media &amp; Interaction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" y="252374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Audio · Video · Transcripts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0896" y="2724912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10896" y="2752344"/>
            <a:ext cx="27432" cy="274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4048" y="2743200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External Content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" y="2880360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Web · Partner feeds · Regulatory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10896" y="308152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0896" y="3108960"/>
            <a:ext cx="27432" cy="274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4048" y="309981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Enterprise Storage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048" y="323697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SharePoint · S3 · NAS · Git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0896" y="3438144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0896" y="3465576"/>
            <a:ext cx="27432" cy="274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4048" y="345643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Structured Augment.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" y="359359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Metadata · Reference data · MDM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" y="6748272"/>
            <a:ext cx="15681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9CA3AF"/>
                </a:solidFill>
                <a:latin typeface="Calibri"/>
              </a:defRPr>
            </a:pPr>
            <a:r>
              <a:t>10s–100s sources · TB-scale</a:t>
            </a:r>
          </a:p>
        </p:txBody>
      </p:sp>
      <p:sp>
        <p:nvSpPr>
          <p:cNvPr id="48" name="Chevron 47"/>
          <p:cNvSpPr/>
          <p:nvPr/>
        </p:nvSpPr>
        <p:spPr>
          <a:xfrm>
            <a:off x="1879092" y="3867912"/>
            <a:ext cx="146304" cy="18288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061972" y="987552"/>
            <a:ext cx="1568196" cy="3657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061972" y="1024128"/>
            <a:ext cx="1568196" cy="5907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61972" y="1042416"/>
            <a:ext cx="15681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563EB"/>
                </a:solidFill>
                <a:latin typeface="Calibri"/>
              </a:defRPr>
            </a:pPr>
            <a:r>
              <a:t>02 · INGESTION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64408" y="6656832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1F5F9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098548" y="129844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098548" y="1325880"/>
            <a:ext cx="27432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171700" y="131673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Source Registration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171700" y="145389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Access · Steward assign · Trust tier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098548" y="1655064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098548" y="1682496"/>
            <a:ext cx="27432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171700" y="167335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Intake Connectors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71700" y="181051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API · Batch · Event · Stream · Crawler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98548" y="2011680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098548" y="2039112"/>
            <a:ext cx="27432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171700" y="202996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Landing &amp; Validation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71700" y="216712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Schema check · DQ gate · Quarantine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98548" y="2368296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098548" y="2395728"/>
            <a:ext cx="27432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171700" y="238658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  <a:latin typeface="Calibri"/>
              </a:defRPr>
            </a:pPr>
            <a:r>
              <a:t>Policy-Aware Routing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171700" y="252374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Sensitivity · Trust · Residency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090672" y="2386584"/>
            <a:ext cx="475488" cy="118872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090672" y="2386584"/>
            <a:ext cx="47548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>
                <a:solidFill>
                  <a:srgbClr val="2563EB"/>
                </a:solidFill>
                <a:latin typeface="Calibri"/>
              </a:defRPr>
            </a:pPr>
            <a:r>
              <a:t>KEY CONTROL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061972" y="6748272"/>
            <a:ext cx="15681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9CA3AF"/>
                </a:solidFill>
                <a:latin typeface="Calibri"/>
              </a:defRPr>
            </a:pPr>
            <a:r>
              <a:t>&lt; 5 min · at-least-once · idempotent</a:t>
            </a:r>
          </a:p>
        </p:txBody>
      </p:sp>
      <p:sp>
        <p:nvSpPr>
          <p:cNvPr id="72" name="Chevron 71"/>
          <p:cNvSpPr/>
          <p:nvPr/>
        </p:nvSpPr>
        <p:spPr>
          <a:xfrm>
            <a:off x="3666744" y="3867912"/>
            <a:ext cx="146304" cy="182880"/>
          </a:xfrm>
          <a:prstGeom prst="chevron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849624" y="987552"/>
            <a:ext cx="1568196" cy="3657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849624" y="1024128"/>
            <a:ext cx="1568196" cy="5907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849624" y="1042416"/>
            <a:ext cx="15681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59669"/>
                </a:solidFill>
                <a:latin typeface="Calibri"/>
              </a:defRPr>
            </a:pPr>
            <a:r>
              <a:t>03 · PREPARATION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52060" y="6656832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1F5F9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886200" y="129844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886200" y="1325880"/>
            <a:ext cx="27432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59352" y="131673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Format Detection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959352" y="145389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Document · Audio · Chat · Image · Code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886200" y="1655064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886200" y="1682496"/>
            <a:ext cx="27432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959352" y="167335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Extraction Services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959352" y="181051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Parsing · OCR · STT · Table extract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886200" y="2011680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886200" y="2039112"/>
            <a:ext cx="27432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959352" y="202996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Normalise &amp; Dedupe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959352" y="216712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Canonicalise · Clean · MinHash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886200" y="2368296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886200" y="2395728"/>
            <a:ext cx="27432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959352" y="238658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Metadata Enrichment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59352" y="252374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Provenance · Auto-tag · Sensitivity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886200" y="2724912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886200" y="2752344"/>
            <a:ext cx="27432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959352" y="2743200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59669"/>
                </a:solidFill>
                <a:latin typeface="Calibri"/>
              </a:defRPr>
            </a:pPr>
            <a:r>
              <a:t>Redaction &amp; PII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959352" y="2880360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PII detect · DLP · Masking · Token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878324" y="2743200"/>
            <a:ext cx="475488" cy="118872"/>
          </a:xfrm>
          <a:prstGeom prst="roundRect">
            <a:avLst>
              <a:gd name="adj" fmla="val 5000"/>
            </a:avLst>
          </a:prstGeom>
          <a:solidFill>
            <a:srgbClr val="D1FAE5"/>
          </a:solidFill>
          <a:ln w="63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78324" y="2743200"/>
            <a:ext cx="47548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>
                <a:solidFill>
                  <a:srgbClr val="059669"/>
                </a:solidFill>
                <a:latin typeface="Calibri"/>
              </a:defRPr>
            </a:pPr>
            <a:r>
              <a:t>KEY CONTROL</a:t>
            </a:r>
          </a:p>
        </p:txBody>
      </p:sp>
      <p:sp>
        <p:nvSpPr>
          <p:cNvPr id="99" name="Chevron 98"/>
          <p:cNvSpPr/>
          <p:nvPr/>
        </p:nvSpPr>
        <p:spPr>
          <a:xfrm>
            <a:off x="5454396" y="3867912"/>
            <a:ext cx="146304" cy="182880"/>
          </a:xfrm>
          <a:prstGeom prst="chevron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637276" y="987552"/>
            <a:ext cx="1568196" cy="3657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5637276" y="1024128"/>
            <a:ext cx="1568196" cy="5907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637276" y="1042416"/>
            <a:ext cx="15681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D97706"/>
                </a:solidFill>
                <a:latin typeface="Calibri"/>
              </a:defRPr>
            </a:pPr>
            <a:r>
              <a:t>04 · ORCHESTRATION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39712" y="6656832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1F5F9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673852" y="129844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673852" y="1325880"/>
            <a:ext cx="27432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747004" y="131673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Deterministic Engine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747004" y="145389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DAG · Rules · Replay · Retry · HITL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5673852" y="1655064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673852" y="1682496"/>
            <a:ext cx="27432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747004" y="167335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D97706"/>
                </a:solidFill>
                <a:latin typeface="Calibri"/>
              </a:defRPr>
            </a:pPr>
            <a:r>
              <a:t>Stateful Agents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747004" y="181051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Multi-step reasoning · Tool use · Memory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665976" y="1673352"/>
            <a:ext cx="475488" cy="118872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665976" y="1673352"/>
            <a:ext cx="47548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>
                <a:solidFill>
                  <a:srgbClr val="D97706"/>
                </a:solidFill>
                <a:latin typeface="Calibri"/>
              </a:defRPr>
            </a:pPr>
            <a:r>
              <a:t>AGENTIC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673852" y="2011680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673852" y="2039112"/>
            <a:ext cx="27432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47004" y="202996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Chunking &amp; Embedding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47004" y="216712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Semantic chunk · Entity extract · Embed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673852" y="2368296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673852" y="2395728"/>
            <a:ext cx="27432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747004" y="238658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KG Enrichment &amp; Build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747004" y="252374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Relations · Ontology · Graph materialise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5673852" y="2724912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673852" y="2752344"/>
            <a:ext cx="27432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747004" y="2743200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QA &amp; Validation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747004" y="2880360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Output verify · Hallucination · Confidence</a:t>
            </a:r>
          </a:p>
        </p:txBody>
      </p:sp>
      <p:sp>
        <p:nvSpPr>
          <p:cNvPr id="126" name="Chevron 125"/>
          <p:cNvSpPr/>
          <p:nvPr/>
        </p:nvSpPr>
        <p:spPr>
          <a:xfrm>
            <a:off x="7242048" y="3867912"/>
            <a:ext cx="146304" cy="182880"/>
          </a:xfrm>
          <a:prstGeom prst="chevron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424928" y="987552"/>
            <a:ext cx="1568196" cy="365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7424928" y="1024128"/>
            <a:ext cx="1568196" cy="5907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424928" y="1042416"/>
            <a:ext cx="15681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7C3AED"/>
                </a:solidFill>
                <a:latin typeface="Calibri"/>
              </a:defRPr>
            </a:pPr>
            <a:r>
              <a:t>05 · AI INTEGRATION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627364" y="6656832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1F5F9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7461504" y="129844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461504" y="1325880"/>
            <a:ext cx="27432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34656" y="131673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MCP Client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534656" y="145389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Tool access · Discovery · Capability match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453628" y="1316736"/>
            <a:ext cx="475488" cy="118872"/>
          </a:xfrm>
          <a:prstGeom prst="roundRect">
            <a:avLst>
              <a:gd name="adj" fmla="val 5000"/>
            </a:avLst>
          </a:prstGeom>
          <a:solidFill>
            <a:srgbClr val="EDE9FE"/>
          </a:solidFill>
          <a:ln w="63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453628" y="1316736"/>
            <a:ext cx="47548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>
                <a:solidFill>
                  <a:srgbClr val="7C3AED"/>
                </a:solidFill>
                <a:latin typeface="Calibri"/>
              </a:defRPr>
            </a:pPr>
            <a:r>
              <a:t>MCP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7461504" y="1655064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7461504" y="1682496"/>
            <a:ext cx="27432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534656" y="167335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MCP Gateway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534656" y="181051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Mediation · Context prop. · OTel tracing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7461504" y="2011680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EDE9FE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461504" y="2039112"/>
            <a:ext cx="27432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534656" y="202996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7C3AED"/>
                </a:solidFill>
                <a:latin typeface="Calibri"/>
              </a:defRPr>
            </a:pPr>
            <a:r>
              <a:t>Shared AI Platform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534656" y="216712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LLMs · Embedding · Moderation · Guard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453628" y="2029968"/>
            <a:ext cx="475488" cy="118872"/>
          </a:xfrm>
          <a:prstGeom prst="roundRect">
            <a:avLst>
              <a:gd name="adj" fmla="val 5000"/>
            </a:avLst>
          </a:prstGeom>
          <a:solidFill>
            <a:srgbClr val="EDE9FE"/>
          </a:solidFill>
          <a:ln w="63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453628" y="2029968"/>
            <a:ext cx="47548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>
                <a:solidFill>
                  <a:srgbClr val="7C3AED"/>
                </a:solidFill>
                <a:latin typeface="Calibri"/>
              </a:defRPr>
            </a:pPr>
            <a:r>
              <a:t>SHARED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7461504" y="2368296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7461504" y="2395728"/>
            <a:ext cx="27432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534656" y="238658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AI Observability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534656" y="252374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Token meter · Drift detect · Model reg.</a:t>
            </a:r>
          </a:p>
        </p:txBody>
      </p:sp>
      <p:sp>
        <p:nvSpPr>
          <p:cNvPr id="151" name="Chevron 150"/>
          <p:cNvSpPr/>
          <p:nvPr/>
        </p:nvSpPr>
        <p:spPr>
          <a:xfrm>
            <a:off x="9029700" y="3867912"/>
            <a:ext cx="146304" cy="182880"/>
          </a:xfrm>
          <a:prstGeom prst="chevron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9212580" y="987552"/>
            <a:ext cx="1568196" cy="3657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9212580" y="1024128"/>
            <a:ext cx="1568196" cy="5907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212580" y="1042416"/>
            <a:ext cx="15681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DC2626"/>
                </a:solidFill>
                <a:latin typeface="Calibri"/>
              </a:defRPr>
            </a:pPr>
            <a:r>
              <a:t>06 · PERSISTENCE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415016" y="6656832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1F5F9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9249156" y="129844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9249156" y="1325880"/>
            <a:ext cx="27432" cy="274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9322308" y="131673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Content Stores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22308" y="145389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Object storage · Blob · Immutable archive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9249156" y="1655064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9249156" y="1682496"/>
            <a:ext cx="27432" cy="274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322308" y="167335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Metadata &amp; Lineage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322308" y="181051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Catalogue · Audit trail · Contracts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9249156" y="2011680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9249156" y="2039112"/>
            <a:ext cx="27432" cy="274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9322308" y="202996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Analytical Store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322308" y="216712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SQL · Materialised views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9249156" y="2368296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9249156" y="2395728"/>
            <a:ext cx="27432" cy="274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322308" y="238658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Vector Store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9322308" y="252374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Embeddings · Semantic index · ANN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9249156" y="2724912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249156" y="2752344"/>
            <a:ext cx="27432" cy="274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322308" y="2743200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Graph Store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9322308" y="2880360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Entity graph · KG · Ontology store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249156" y="308152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EE2E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249156" y="3108960"/>
            <a:ext cx="27432" cy="274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322308" y="309981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DC2626"/>
                </a:solidFill>
                <a:latin typeface="Calibri"/>
              </a:defRPr>
            </a:pPr>
            <a:r>
              <a:t>Session &amp; Cache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322308" y="323697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Agent state · Context · Memory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212580" y="6748272"/>
            <a:ext cx="15681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9CA3AF"/>
                </a:solidFill>
                <a:latin typeface="Calibri"/>
              </a:defRPr>
            </a:pPr>
            <a:r>
              <a:t>POLYGLOT — choose per workload</a:t>
            </a:r>
          </a:p>
        </p:txBody>
      </p:sp>
      <p:sp>
        <p:nvSpPr>
          <p:cNvPr id="181" name="Chevron 180"/>
          <p:cNvSpPr/>
          <p:nvPr/>
        </p:nvSpPr>
        <p:spPr>
          <a:xfrm>
            <a:off x="10817352" y="3867912"/>
            <a:ext cx="146304" cy="182880"/>
          </a:xfrm>
          <a:prstGeom prst="chevron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1000232" y="987552"/>
            <a:ext cx="1568196" cy="3657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ounded Rectangle 182"/>
          <p:cNvSpPr/>
          <p:nvPr/>
        </p:nvSpPr>
        <p:spPr>
          <a:xfrm>
            <a:off x="11000232" y="1024128"/>
            <a:ext cx="1568196" cy="5907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11000232" y="1042416"/>
            <a:ext cx="15681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891B2"/>
                </a:solidFill>
                <a:latin typeface="Calibri"/>
              </a:defRPr>
            </a:pPr>
            <a:r>
              <a:t>07 · FABRIC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2202668" y="6656832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1F5F9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11036808" y="129844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1036808" y="1325880"/>
            <a:ext cx="27432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11109960" y="131673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Structured Products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1109960" y="145389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SQL views · Mat. tables · BI-ready</a:t>
            </a:r>
          </a:p>
        </p:txBody>
      </p:sp>
      <p:sp>
        <p:nvSpPr>
          <p:cNvPr id="190" name="Rounded Rectangle 189"/>
          <p:cNvSpPr/>
          <p:nvPr/>
        </p:nvSpPr>
        <p:spPr>
          <a:xfrm>
            <a:off x="11036808" y="1655064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1036808" y="1682496"/>
            <a:ext cx="27432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1109960" y="167335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KG Products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11109960" y="181051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Graph views · Entity APIs · Rel. queries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11036808" y="2011680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Rectangle 194"/>
          <p:cNvSpPr/>
          <p:nvPr/>
        </p:nvSpPr>
        <p:spPr>
          <a:xfrm>
            <a:off x="11036808" y="2039112"/>
            <a:ext cx="27432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11109960" y="202996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Unstructured Products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1109960" y="216712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Retrieval views · Metadata access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1036808" y="2368296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ECFE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11036808" y="2395728"/>
            <a:ext cx="27432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1109960" y="238658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891B2"/>
                </a:solidFill>
                <a:latin typeface="Calibri"/>
              </a:defRPr>
            </a:pPr>
            <a:r>
              <a:t>Federation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1109960" y="252374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Logical federation · Cross-cluster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12028932" y="2386584"/>
            <a:ext cx="475488" cy="118872"/>
          </a:xfrm>
          <a:prstGeom prst="roundRect">
            <a:avLst>
              <a:gd name="adj" fmla="val 5000"/>
            </a:avLst>
          </a:prstGeom>
          <a:solidFill>
            <a:srgbClr val="ECFEFF"/>
          </a:solidFill>
          <a:ln w="635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12028932" y="2386584"/>
            <a:ext cx="47548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>
                <a:solidFill>
                  <a:srgbClr val="0891B2"/>
                </a:solidFill>
                <a:latin typeface="Calibri"/>
              </a:defRPr>
            </a:pPr>
            <a:r>
              <a:t>ENTERPRISE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11036808" y="2724912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11036808" y="2752344"/>
            <a:ext cx="27432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1109960" y="2743200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Product Governance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1109960" y="2880360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Contracts · SLAs · Versioning</a:t>
            </a:r>
          </a:p>
        </p:txBody>
      </p:sp>
      <p:sp>
        <p:nvSpPr>
          <p:cNvPr id="208" name="Chevron 207"/>
          <p:cNvSpPr/>
          <p:nvPr/>
        </p:nvSpPr>
        <p:spPr>
          <a:xfrm>
            <a:off x="12605004" y="3867912"/>
            <a:ext cx="146304" cy="182880"/>
          </a:xfrm>
          <a:prstGeom prst="chevron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12787884" y="987552"/>
            <a:ext cx="1568196" cy="3657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ounded Rectangle 209"/>
          <p:cNvSpPr/>
          <p:nvPr/>
        </p:nvSpPr>
        <p:spPr>
          <a:xfrm>
            <a:off x="12787884" y="1024128"/>
            <a:ext cx="1568196" cy="59070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12787884" y="1042416"/>
            <a:ext cx="15681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B45309"/>
                </a:solidFill>
                <a:latin typeface="Calibri"/>
              </a:defRPr>
            </a:pPr>
            <a:r>
              <a:t>08 · CONSUMPTION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3990320" y="6656832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1F5F9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12824460" y="129844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12824460" y="1325880"/>
            <a:ext cx="27432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2897612" y="131673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Hybrid Search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2897612" y="145389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Vector · BM25 · Graph · Rerank · Fusion</a:t>
            </a:r>
          </a:p>
        </p:txBody>
      </p:sp>
      <p:sp>
        <p:nvSpPr>
          <p:cNvPr id="217" name="Rounded Rectangle 216"/>
          <p:cNvSpPr/>
          <p:nvPr/>
        </p:nvSpPr>
        <p:spPr>
          <a:xfrm>
            <a:off x="12824460" y="1655064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EDD5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12824460" y="1682496"/>
            <a:ext cx="27432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12897612" y="167335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B45309"/>
                </a:solidFill>
                <a:latin typeface="Calibri"/>
              </a:defRPr>
            </a:pPr>
            <a:r>
              <a:t>Retrieval Governance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2897612" y="181051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Entitlement · Policy · Provenance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13816584" y="1673352"/>
            <a:ext cx="475488" cy="118872"/>
          </a:xfrm>
          <a:prstGeom prst="roundRect">
            <a:avLst>
              <a:gd name="adj" fmla="val 5000"/>
            </a:avLst>
          </a:prstGeom>
          <a:solidFill>
            <a:srgbClr val="FFEDD5"/>
          </a:solidFill>
          <a:ln w="63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13816584" y="1673352"/>
            <a:ext cx="47548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>
                <a:solidFill>
                  <a:srgbClr val="B45309"/>
                </a:solidFill>
                <a:latin typeface="Calibri"/>
              </a:defRPr>
            </a:pPr>
            <a:r>
              <a:t>KEY CONTROL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12824460" y="2011680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12824460" y="2039112"/>
            <a:ext cx="27432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12897612" y="202996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Content &amp; Query APIs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12897612" y="216712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REST · GraphQL · gRPC · WebSocket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12824460" y="2368296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Rectangle 227"/>
          <p:cNvSpPr/>
          <p:nvPr/>
        </p:nvSpPr>
        <p:spPr>
          <a:xfrm>
            <a:off x="12824460" y="2395728"/>
            <a:ext cx="27432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2897612" y="238658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RAG &amp; Agentic UX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2897612" y="252374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Chatbots · Copilots · Multi-turn</a:t>
            </a:r>
          </a:p>
        </p:txBody>
      </p:sp>
      <p:sp>
        <p:nvSpPr>
          <p:cNvPr id="231" name="Rounded Rectangle 230"/>
          <p:cNvSpPr/>
          <p:nvPr/>
        </p:nvSpPr>
        <p:spPr>
          <a:xfrm>
            <a:off x="12824460" y="2724912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12824460" y="2752344"/>
            <a:ext cx="27432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12897612" y="2743200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Enterprise Apps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2897612" y="2880360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BI · Data products · Integrations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2787884" y="6748272"/>
            <a:ext cx="15681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9CA3AF"/>
                </a:solidFill>
                <a:latin typeface="Calibri"/>
              </a:defRPr>
            </a:pPr>
            <a:r>
              <a:t>P99 &lt; 200ms · &lt; 2s RAG · 99.9%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274320" y="7004304"/>
            <a:ext cx="14081760" cy="27432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Rounded Rectangle 236"/>
          <p:cNvSpPr/>
          <p:nvPr/>
        </p:nvSpPr>
        <p:spPr>
          <a:xfrm>
            <a:off x="274320" y="7031736"/>
            <a:ext cx="14081760" cy="502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365760" y="7050024"/>
            <a:ext cx="91440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Calibri"/>
              </a:defRPr>
            </a:pPr>
            <a:r>
              <a:t>09 — CROSS-CUTTING: SECURITY, GOVERNANCE &amp; OPERATIONS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347472" y="7242048"/>
            <a:ext cx="1216983" cy="25603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374904" y="7260336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>
                <a:solidFill>
                  <a:srgbClr val="111827"/>
                </a:solidFill>
                <a:latin typeface="Calibri"/>
              </a:defRPr>
            </a:pPr>
            <a:r>
              <a:t>Identity &amp; Access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374904" y="7370064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50" b="0">
                <a:solidFill>
                  <a:srgbClr val="6B7280"/>
                </a:solidFill>
                <a:latin typeface="Calibri"/>
              </a:defRPr>
            </a:pPr>
            <a:r>
              <a:t>RBAC · OAuth2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1619319" y="7242048"/>
            <a:ext cx="1216983" cy="25603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646751" y="7260336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>
                <a:solidFill>
                  <a:srgbClr val="111827"/>
                </a:solidFill>
                <a:latin typeface="Calibri"/>
              </a:defRPr>
            </a:pPr>
            <a:r>
              <a:t>Policy &amp; DLP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1646751" y="7370064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50" b="0">
                <a:solidFill>
                  <a:srgbClr val="6B7280"/>
                </a:solidFill>
                <a:latin typeface="Calibri"/>
              </a:defRPr>
            </a:pPr>
            <a:r>
              <a:t>Controls · Classif.</a:t>
            </a:r>
          </a:p>
        </p:txBody>
      </p:sp>
      <p:sp>
        <p:nvSpPr>
          <p:cNvPr id="245" name="Rounded Rectangle 244"/>
          <p:cNvSpPr/>
          <p:nvPr/>
        </p:nvSpPr>
        <p:spPr>
          <a:xfrm>
            <a:off x="2891166" y="7242048"/>
            <a:ext cx="1216983" cy="25603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918598" y="7260336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>
                <a:solidFill>
                  <a:srgbClr val="111827"/>
                </a:solidFill>
                <a:latin typeface="Calibri"/>
              </a:defRPr>
            </a:pPr>
            <a:r>
              <a:t>Lineage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2918598" y="7370064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50" b="0">
                <a:solidFill>
                  <a:srgbClr val="6B7280"/>
                </a:solidFill>
                <a:latin typeface="Calibri"/>
              </a:defRPr>
            </a:pPr>
            <a:r>
              <a:t>Catalogue · Contracts</a:t>
            </a:r>
          </a:p>
        </p:txBody>
      </p:sp>
      <p:sp>
        <p:nvSpPr>
          <p:cNvPr id="248" name="Rounded Rectangle 247"/>
          <p:cNvSpPr/>
          <p:nvPr/>
        </p:nvSpPr>
        <p:spPr>
          <a:xfrm>
            <a:off x="4163013" y="7242048"/>
            <a:ext cx="1216983" cy="25603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4190445" y="7260336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>
                <a:solidFill>
                  <a:srgbClr val="111827"/>
                </a:solidFill>
                <a:latin typeface="Calibri"/>
              </a:defRPr>
            </a:pPr>
            <a:r>
              <a:t>Audit &amp; Obs.</a:t>
            </a:r>
          </a:p>
        </p:txBody>
      </p:sp>
      <p:sp>
        <p:nvSpPr>
          <p:cNvPr id="250" name="TextBox 249"/>
          <p:cNvSpPr txBox="1"/>
          <p:nvPr/>
        </p:nvSpPr>
        <p:spPr>
          <a:xfrm>
            <a:off x="4190445" y="7370064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50" b="0">
                <a:solidFill>
                  <a:srgbClr val="6B7280"/>
                </a:solidFill>
                <a:latin typeface="Calibri"/>
              </a:defRPr>
            </a:pPr>
            <a:r>
              <a:t>SLOs · SIEM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5434861" y="7242048"/>
            <a:ext cx="1216983" cy="25603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62293" y="7260336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>
                <a:solidFill>
                  <a:srgbClr val="111827"/>
                </a:solidFill>
                <a:latin typeface="Calibri"/>
              </a:defRPr>
            </a:pPr>
            <a:r>
              <a:t>Encryption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5462293" y="7370064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50" b="0">
                <a:solidFill>
                  <a:srgbClr val="6B7280"/>
                </a:solidFill>
                <a:latin typeface="Calibri"/>
              </a:defRPr>
            </a:pPr>
            <a:r>
              <a:t>At-rest · In-transit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6706708" y="7242048"/>
            <a:ext cx="1216983" cy="25603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6734140" y="7260336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>
                <a:solidFill>
                  <a:srgbClr val="111827"/>
                </a:solidFill>
                <a:latin typeface="Calibri"/>
              </a:defRPr>
            </a:pPr>
            <a:r>
              <a:t>Legal &amp; Trust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734140" y="7370064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50" b="0">
                <a:solidFill>
                  <a:srgbClr val="6B7280"/>
                </a:solidFill>
                <a:latin typeface="Calibri"/>
              </a:defRPr>
            </a:pPr>
            <a:r>
              <a:t>IP · Licensing</a:t>
            </a:r>
          </a:p>
        </p:txBody>
      </p:sp>
      <p:sp>
        <p:nvSpPr>
          <p:cNvPr id="257" name="Rounded Rectangle 256"/>
          <p:cNvSpPr/>
          <p:nvPr/>
        </p:nvSpPr>
        <p:spPr>
          <a:xfrm>
            <a:off x="7978555" y="7242048"/>
            <a:ext cx="1216983" cy="25603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005987" y="7260336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>
                <a:solidFill>
                  <a:srgbClr val="111827"/>
                </a:solidFill>
                <a:latin typeface="Calibri"/>
              </a:defRPr>
            </a:pPr>
            <a:r>
              <a:t>Sovereignty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8005987" y="7370064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50" b="0">
                <a:solidFill>
                  <a:srgbClr val="6B7280"/>
                </a:solidFill>
                <a:latin typeface="Calibri"/>
              </a:defRPr>
            </a:pPr>
            <a:r>
              <a:t>GDPR · On-prem</a:t>
            </a:r>
          </a:p>
        </p:txBody>
      </p:sp>
      <p:sp>
        <p:nvSpPr>
          <p:cNvPr id="260" name="Rounded Rectangle 259"/>
          <p:cNvSpPr/>
          <p:nvPr/>
        </p:nvSpPr>
        <p:spPr>
          <a:xfrm>
            <a:off x="9250402" y="7242048"/>
            <a:ext cx="1216983" cy="25603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9277834" y="7260336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>
                <a:solidFill>
                  <a:srgbClr val="111827"/>
                </a:solidFill>
                <a:latin typeface="Calibri"/>
              </a:defRPr>
            </a:pPr>
            <a:r>
              <a:t>Runtime Entitle.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9277834" y="7370064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50" b="0">
                <a:solidFill>
                  <a:srgbClr val="6B7280"/>
                </a:solidFill>
                <a:latin typeface="Calibri"/>
              </a:defRPr>
            </a:pPr>
            <a:r>
              <a:t>Query-time gov.</a:t>
            </a:r>
          </a:p>
        </p:txBody>
      </p:sp>
      <p:sp>
        <p:nvSpPr>
          <p:cNvPr id="263" name="Rounded Rectangle 262"/>
          <p:cNvSpPr/>
          <p:nvPr/>
        </p:nvSpPr>
        <p:spPr>
          <a:xfrm>
            <a:off x="10522250" y="7242048"/>
            <a:ext cx="1216983" cy="25603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10549682" y="7260336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>
                <a:solidFill>
                  <a:srgbClr val="111827"/>
                </a:solidFill>
                <a:latin typeface="Calibri"/>
              </a:defRPr>
            </a:pPr>
            <a:r>
              <a:t>Responsible AI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10549682" y="7370064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50" b="0">
                <a:solidFill>
                  <a:srgbClr val="6B7280"/>
                </a:solidFill>
                <a:latin typeface="Calibri"/>
              </a:defRPr>
            </a:pPr>
            <a:r>
              <a:t>Bias · Safety</a:t>
            </a:r>
          </a:p>
        </p:txBody>
      </p:sp>
      <p:sp>
        <p:nvSpPr>
          <p:cNvPr id="266" name="Rounded Rectangle 265"/>
          <p:cNvSpPr/>
          <p:nvPr/>
        </p:nvSpPr>
        <p:spPr>
          <a:xfrm>
            <a:off x="11794097" y="7242048"/>
            <a:ext cx="1216983" cy="25603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11821529" y="7260336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>
                <a:solidFill>
                  <a:srgbClr val="111827"/>
                </a:solidFill>
                <a:latin typeface="Calibri"/>
              </a:defRPr>
            </a:pPr>
            <a:r>
              <a:t>IaC &amp; Change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11821529" y="7370064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50" b="0">
                <a:solidFill>
                  <a:srgbClr val="6B7280"/>
                </a:solidFill>
                <a:latin typeface="Calibri"/>
              </a:defRPr>
            </a:pPr>
            <a:r>
              <a:t>GitOps · Pipelines</a:t>
            </a:r>
          </a:p>
        </p:txBody>
      </p:sp>
      <p:sp>
        <p:nvSpPr>
          <p:cNvPr id="269" name="Rounded Rectangle 268"/>
          <p:cNvSpPr/>
          <p:nvPr/>
        </p:nvSpPr>
        <p:spPr>
          <a:xfrm>
            <a:off x="13065944" y="7242048"/>
            <a:ext cx="1216983" cy="256032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3093376" y="7260336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50" b="1">
                <a:solidFill>
                  <a:srgbClr val="111827"/>
                </a:solidFill>
                <a:latin typeface="Calibri"/>
              </a:defRPr>
            </a:pPr>
            <a:r>
              <a:t>HITL Gate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13093376" y="7370064"/>
            <a:ext cx="1162119" cy="109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50" b="0">
                <a:solidFill>
                  <a:srgbClr val="6B7280"/>
                </a:solidFill>
                <a:latin typeface="Calibri"/>
              </a:defRPr>
            </a:pPr>
            <a:r>
              <a:t>Mandatory review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274320" y="7589520"/>
            <a:ext cx="14081760" cy="18288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4572000" y="7479792"/>
            <a:ext cx="54864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B7280"/>
                </a:solidFill>
                <a:latin typeface="Calibri"/>
              </a:defRPr>
            </a:pPr>
            <a:r>
              <a:t>← FEEDBACK, REPROCESSING &amp; INCREMENTAL UPDATE LOOP 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37160"/>
            <a:ext cx="14081760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37160"/>
            <a:ext cx="45720" cy="457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5448"/>
            <a:ext cx="73152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11827"/>
                </a:solidFill>
                <a:latin typeface="Calibri"/>
              </a:defRPr>
            </a:pPr>
            <a:r>
              <a:t>Codify — Reference Architecture Scoped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0116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Calibri"/>
              </a:defRPr>
            </a:pPr>
            <a:r>
              <a:t>Release 1 scope highlighted · Manual ingestion only · Fabric deferred to Release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533120" y="182880"/>
            <a:ext cx="731520" cy="320040"/>
          </a:xfrm>
          <a:prstGeom prst="roundRect">
            <a:avLst>
              <a:gd name="adj" fmla="val 5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0" y="20116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658368"/>
            <a:ext cx="5212080" cy="182880"/>
          </a:xfrm>
          <a:prstGeom prst="roundRect">
            <a:avLst>
              <a:gd name="adj" fmla="val 5000"/>
            </a:avLst>
          </a:prstGeom>
          <a:noFill/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8368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50" b="1">
                <a:solidFill>
                  <a:srgbClr val="9CA3AF"/>
                </a:solidFill>
                <a:latin typeface="Calibri"/>
              </a:defRPr>
            </a:pPr>
            <a:r>
              <a:t>DATA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658368"/>
            <a:ext cx="3474720" cy="182880"/>
          </a:xfrm>
          <a:prstGeom prst="roundRect">
            <a:avLst>
              <a:gd name="adj" fmla="val 5000"/>
            </a:avLst>
          </a:prstGeom>
          <a:noFill/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0" y="658368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50" b="1">
                <a:solidFill>
                  <a:srgbClr val="9CA3AF"/>
                </a:solidFill>
                <a:latin typeface="Calibri"/>
              </a:defRPr>
            </a:pPr>
            <a:r>
              <a:t>INTELLIGENCE PLANE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658368"/>
            <a:ext cx="5212080" cy="182880"/>
          </a:xfrm>
          <a:prstGeom prst="roundRect">
            <a:avLst>
              <a:gd name="adj" fmla="val 5000"/>
            </a:avLst>
          </a:prstGeom>
          <a:noFill/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658368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50" b="1">
                <a:solidFill>
                  <a:srgbClr val="9CA3AF"/>
                </a:solidFill>
                <a:latin typeface="Calibri"/>
              </a:defRPr>
            </a:pPr>
            <a:r>
              <a:t>SERVICE PLANE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896112"/>
            <a:ext cx="13716000" cy="27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987552"/>
            <a:ext cx="1568196" cy="36576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4320" y="1024128"/>
            <a:ext cx="1568196" cy="5266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1042416"/>
            <a:ext cx="15681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B7280"/>
                </a:solidFill>
                <a:latin typeface="Calibri"/>
              </a:defRPr>
            </a:pPr>
            <a:r>
              <a:t>01 ·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76756" y="6016752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1F5F9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" y="129844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0896" y="1325880"/>
            <a:ext cx="27432" cy="274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131673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Policy &amp; Procedure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145389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Appiant system · AWS Cloud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0896" y="1655064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10896" y="1682496"/>
            <a:ext cx="27432" cy="274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167335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Policy History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181051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BQ authorised views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0896" y="2011680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0896" y="2039112"/>
            <a:ext cx="27432" cy="27432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4048" y="202996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Ontology Schema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216712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OWL format · Git PR trigger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108192"/>
            <a:ext cx="15681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9CA3AF"/>
                </a:solidFill>
                <a:latin typeface="Calibri"/>
              </a:defRPr>
            </a:pPr>
            <a:r>
              <a:t>Codify-specific sources only</a:t>
            </a:r>
          </a:p>
        </p:txBody>
      </p:sp>
      <p:sp>
        <p:nvSpPr>
          <p:cNvPr id="33" name="Chevron 32"/>
          <p:cNvSpPr/>
          <p:nvPr/>
        </p:nvSpPr>
        <p:spPr>
          <a:xfrm>
            <a:off x="1879092" y="3547872"/>
            <a:ext cx="146304" cy="182880"/>
          </a:xfrm>
          <a:prstGeom prst="chevron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61972" y="987552"/>
            <a:ext cx="1568196" cy="3657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061972" y="1024128"/>
            <a:ext cx="1568196" cy="5266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61972" y="1042416"/>
            <a:ext cx="15681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2563EB"/>
                </a:solidFill>
                <a:latin typeface="Calibri"/>
              </a:defRPr>
            </a:pPr>
            <a:r>
              <a:t>02 · INGESTION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64408" y="6016752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1F5F9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98548" y="129844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098548" y="1325880"/>
            <a:ext cx="27432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71700" y="131673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2563EB"/>
                </a:solidFill>
                <a:latin typeface="Calibri"/>
              </a:defRPr>
            </a:pPr>
            <a:r>
              <a:t>Manual Upload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71700" y="145389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Manual document intake via UI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090672" y="1316736"/>
            <a:ext cx="475488" cy="118872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90672" y="1316736"/>
            <a:ext cx="475488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1">
                <a:solidFill>
                  <a:srgbClr val="2563EB"/>
                </a:solidFill>
                <a:latin typeface="Calibri"/>
              </a:defRPr>
            </a:pPr>
            <a:r>
              <a:t>MANUAL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098548" y="1655064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098548" y="1682496"/>
            <a:ext cx="27432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71700" y="167335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OWL → JSON-LD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71700" y="181051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Ontology format conversion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098548" y="2011680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098548" y="2039112"/>
            <a:ext cx="27432" cy="274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71700" y="202996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Landing Zone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1700" y="216712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Raw data · BQ metadata · Ontology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61972" y="6108192"/>
            <a:ext cx="15681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9CA3AF"/>
                </a:solidFill>
                <a:latin typeface="Calibri"/>
              </a:defRPr>
            </a:pPr>
            <a:r>
              <a:t>Manual ingestion — no automation yet</a:t>
            </a:r>
          </a:p>
        </p:txBody>
      </p:sp>
      <p:sp>
        <p:nvSpPr>
          <p:cNvPr id="53" name="Chevron 52"/>
          <p:cNvSpPr/>
          <p:nvPr/>
        </p:nvSpPr>
        <p:spPr>
          <a:xfrm>
            <a:off x="3666744" y="3547872"/>
            <a:ext cx="146304" cy="182880"/>
          </a:xfrm>
          <a:prstGeom prst="chevron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849624" y="987552"/>
            <a:ext cx="1568196" cy="3657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3849624" y="1024128"/>
            <a:ext cx="1568196" cy="5266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49624" y="1042416"/>
            <a:ext cx="15681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059669"/>
                </a:solidFill>
                <a:latin typeface="Calibri"/>
              </a:defRPr>
            </a:pPr>
            <a:r>
              <a:t>03 · PREPARATION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52060" y="6016752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1F5F9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886200" y="129844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886200" y="1325880"/>
            <a:ext cx="27432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59352" y="131673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Preprocessing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59352" y="145389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Raw → chapter → structured markdown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886200" y="1655064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886200" y="1682496"/>
            <a:ext cx="27432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59352" y="167335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Chunking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59352" y="181051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Chapter → retrieval-ready chunks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9624" y="6108192"/>
            <a:ext cx="15681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9CA3AF"/>
                </a:solidFill>
                <a:latin typeface="Calibri"/>
              </a:defRPr>
            </a:pPr>
            <a:r>
              <a:t>Triggered by LangGraph Runner</a:t>
            </a:r>
          </a:p>
        </p:txBody>
      </p:sp>
      <p:sp>
        <p:nvSpPr>
          <p:cNvPr id="67" name="Chevron 66"/>
          <p:cNvSpPr/>
          <p:nvPr/>
        </p:nvSpPr>
        <p:spPr>
          <a:xfrm>
            <a:off x="5454396" y="3547872"/>
            <a:ext cx="146304" cy="182880"/>
          </a:xfrm>
          <a:prstGeom prst="chevron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637276" y="987552"/>
            <a:ext cx="1568196" cy="3657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5637276" y="1024128"/>
            <a:ext cx="1568196" cy="5266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37276" y="1042416"/>
            <a:ext cx="15681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D97706"/>
                </a:solidFill>
                <a:latin typeface="Calibri"/>
              </a:defRPr>
            </a:pPr>
            <a:r>
              <a:t>04 · ORCHESTRATION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39712" y="6016752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1F5F9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673852" y="129844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5673852" y="1325880"/>
            <a:ext cx="27432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747004" y="131673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LangGraph Runner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47004" y="145389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Deterministic · Stateful · HITL gate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73852" y="1655064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73852" y="1682496"/>
            <a:ext cx="27432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747004" y="167335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ReAuthor Workflow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747004" y="181051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Structure, rewrite, simplify, merge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673852" y="2011680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673852" y="2039112"/>
            <a:ext cx="27432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747004" y="202996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Validation Workflow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47004" y="216712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Precision/recall · Judge lanes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673852" y="2368296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673852" y="2395728"/>
            <a:ext cx="27432" cy="2743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747004" y="238658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KG &amp; Vector Engine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747004" y="252374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KG build · Embedding · Vector upsert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37276" y="6108192"/>
            <a:ext cx="15681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9CA3AF"/>
                </a:solidFill>
                <a:latin typeface="Calibri"/>
              </a:defRPr>
            </a:pPr>
            <a:r>
              <a:t>3 distinct agentic workflows</a:t>
            </a:r>
          </a:p>
        </p:txBody>
      </p:sp>
      <p:sp>
        <p:nvSpPr>
          <p:cNvPr id="89" name="Chevron 88"/>
          <p:cNvSpPr/>
          <p:nvPr/>
        </p:nvSpPr>
        <p:spPr>
          <a:xfrm>
            <a:off x="7242048" y="3547872"/>
            <a:ext cx="146304" cy="182880"/>
          </a:xfrm>
          <a:prstGeom prst="chevron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424928" y="987552"/>
            <a:ext cx="1568196" cy="365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424928" y="1024128"/>
            <a:ext cx="1568196" cy="5266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424928" y="1042416"/>
            <a:ext cx="15681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7C3AED"/>
                </a:solidFill>
                <a:latin typeface="Calibri"/>
              </a:defRPr>
            </a:pPr>
            <a:r>
              <a:t>05 · MCP GATEWAY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627364" y="6016752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1F5F9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461504" y="129844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461504" y="1325880"/>
            <a:ext cx="27432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534656" y="131673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MCP Client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534656" y="145389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Typed tool wrappers · Auth retries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461504" y="1655064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7461504" y="1682496"/>
            <a:ext cx="27432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34656" y="167335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MCP Server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534656" y="181051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Tool mediation · OTel tracing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424928" y="6108192"/>
            <a:ext cx="15681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9CA3AF"/>
                </a:solidFill>
                <a:latin typeface="Calibri"/>
              </a:defRPr>
            </a:pPr>
            <a:r>
              <a:t>Mediates all agent ↔ service calls</a:t>
            </a:r>
          </a:p>
        </p:txBody>
      </p:sp>
      <p:sp>
        <p:nvSpPr>
          <p:cNvPr id="103" name="Chevron 102"/>
          <p:cNvSpPr/>
          <p:nvPr/>
        </p:nvSpPr>
        <p:spPr>
          <a:xfrm>
            <a:off x="9029700" y="3547872"/>
            <a:ext cx="146304" cy="182880"/>
          </a:xfrm>
          <a:prstGeom prst="chevron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212580" y="987552"/>
            <a:ext cx="1568196" cy="365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9212580" y="1024128"/>
            <a:ext cx="1568196" cy="5266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212580" y="1042416"/>
            <a:ext cx="15681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7C3AED"/>
                </a:solidFill>
                <a:latin typeface="Calibri"/>
              </a:defRPr>
            </a:pPr>
            <a:r>
              <a:t>06 · AI SERVICES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415016" y="6016752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1F5F9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249156" y="129844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49156" y="1325880"/>
            <a:ext cx="27432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322308" y="131673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LLM Service Adapter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322308" y="145389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SDK for model access · Routing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9249156" y="1655064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249156" y="1682496"/>
            <a:ext cx="27432" cy="274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322308" y="167335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Group AI Platform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322308" y="181051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LLM · Embedding · Moderation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212580" y="6108192"/>
            <a:ext cx="15681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9CA3AF"/>
                </a:solidFill>
                <a:latin typeface="Calibri"/>
              </a:defRPr>
            </a:pPr>
            <a:r>
              <a:t>Shared Group service</a:t>
            </a:r>
          </a:p>
        </p:txBody>
      </p:sp>
      <p:sp>
        <p:nvSpPr>
          <p:cNvPr id="117" name="Chevron 116"/>
          <p:cNvSpPr/>
          <p:nvPr/>
        </p:nvSpPr>
        <p:spPr>
          <a:xfrm>
            <a:off x="10817352" y="3547872"/>
            <a:ext cx="146304" cy="182880"/>
          </a:xfrm>
          <a:prstGeom prst="chevron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1000232" y="987552"/>
            <a:ext cx="1568196" cy="36576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11000232" y="1024128"/>
            <a:ext cx="1568196" cy="5266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000232" y="1042416"/>
            <a:ext cx="15681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DC2626"/>
                </a:solidFill>
                <a:latin typeface="Calibri"/>
              </a:defRPr>
            </a:pPr>
            <a:r>
              <a:t>07 · PERSISTENCE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2202668" y="6016752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1F5F9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11036808" y="129844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1036808" y="1325880"/>
            <a:ext cx="27432" cy="274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1109960" y="131673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Object Storage (GCS)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1109960" y="145389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Markdown · Drafts · KG artefacts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1036808" y="1655064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1036808" y="1682496"/>
            <a:ext cx="27432" cy="274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1109960" y="167335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Operational Meta (BQ)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1109960" y="181051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Workflow status · Lineage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1036808" y="2011680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08" y="2039112"/>
            <a:ext cx="27432" cy="274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1109960" y="202996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Vector DB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109960" y="216712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Embedding indexes · Semantic search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1036808" y="2368296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036808" y="2395728"/>
            <a:ext cx="27432" cy="274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109960" y="238658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Knowledge Graph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109960" y="2523744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Neo4j / FalkorDB · On-premise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000232" y="6108192"/>
            <a:ext cx="15681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9CA3AF"/>
                </a:solidFill>
                <a:latin typeface="Calibri"/>
              </a:defRPr>
            </a:pPr>
            <a:r>
              <a:t>Polyglot per workload</a:t>
            </a:r>
          </a:p>
        </p:txBody>
      </p:sp>
      <p:sp>
        <p:nvSpPr>
          <p:cNvPr id="139" name="Chevron 138"/>
          <p:cNvSpPr/>
          <p:nvPr/>
        </p:nvSpPr>
        <p:spPr>
          <a:xfrm>
            <a:off x="12605004" y="3547872"/>
            <a:ext cx="146304" cy="182880"/>
          </a:xfrm>
          <a:prstGeom prst="chevron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12787884" y="987552"/>
            <a:ext cx="1568196" cy="3657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12787884" y="1024128"/>
            <a:ext cx="1568196" cy="52669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787884" y="1042416"/>
            <a:ext cx="15681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B45309"/>
                </a:solidFill>
                <a:latin typeface="Calibri"/>
              </a:defRPr>
            </a:pPr>
            <a:r>
              <a:t>08 · CONSUMPTION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3990320" y="6016752"/>
            <a:ext cx="320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800" b="1">
                <a:solidFill>
                  <a:srgbClr val="F1F5F9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12824460" y="1298448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2824460" y="1325880"/>
            <a:ext cx="27432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2897612" y="131673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Backend API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897612" y="1453896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Spring Boot · REST · GKE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2824460" y="1655064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12824460" y="1682496"/>
            <a:ext cx="27432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2897612" y="167335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Frontend SPA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897612" y="1810512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React · HITL review · KG-RAG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12824460" y="2011680"/>
            <a:ext cx="1495044" cy="329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2824460" y="2039112"/>
            <a:ext cx="27432" cy="2743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2897612" y="202996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Calibri"/>
              </a:defRPr>
            </a:pPr>
            <a:r>
              <a:t>Actors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2897612" y="2167128"/>
            <a:ext cx="1367028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4B5563"/>
                </a:solidFill>
                <a:latin typeface="Calibri"/>
              </a:defRPr>
            </a:pPr>
            <a:r>
              <a:t>Reviewers · Approvers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2787884" y="6108192"/>
            <a:ext cx="1568196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" b="0">
                <a:solidFill>
                  <a:srgbClr val="9CA3AF"/>
                </a:solidFill>
                <a:latin typeface="Calibri"/>
              </a:defRPr>
            </a:pPr>
            <a:r>
              <a:t>HITL mandatory before publish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274320" y="6364224"/>
            <a:ext cx="14081760" cy="27432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274320" y="6391656"/>
            <a:ext cx="14081760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5760" y="6409944"/>
            <a:ext cx="9144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Calibri"/>
              </a:defRPr>
            </a:pPr>
            <a:r>
              <a:t>09 — CROSS-CUTTING PLATFORM SERVICES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320040" y="6565392"/>
            <a:ext cx="1691640" cy="237744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320040" y="6583680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50" b="0">
                <a:solidFill>
                  <a:srgbClr val="111827"/>
                </a:solidFill>
                <a:latin typeface="Calibri"/>
              </a:defRPr>
            </a:pPr>
            <a:r>
              <a:t>Auth &amp; Identity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066544" y="6565392"/>
            <a:ext cx="1691640" cy="237744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066544" y="6583680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50" b="0">
                <a:solidFill>
                  <a:srgbClr val="111827"/>
                </a:solidFill>
                <a:latin typeface="Calibri"/>
              </a:defRPr>
            </a:pPr>
            <a:r>
              <a:t>API Integration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3813048" y="6565392"/>
            <a:ext cx="1691640" cy="237744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813048" y="6583680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50" b="0">
                <a:solidFill>
                  <a:srgbClr val="111827"/>
                </a:solidFill>
                <a:latin typeface="Calibri"/>
              </a:defRPr>
            </a:pPr>
            <a:r>
              <a:t>Session &amp; Cache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559552" y="6565392"/>
            <a:ext cx="1691640" cy="237744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559552" y="6583680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50" b="0">
                <a:solidFill>
                  <a:srgbClr val="111827"/>
                </a:solidFill>
                <a:latin typeface="Calibri"/>
              </a:defRPr>
            </a:pPr>
            <a:r>
              <a:t>Observability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7306056" y="6565392"/>
            <a:ext cx="1691640" cy="237744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7306056" y="6583680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50" b="0">
                <a:solidFill>
                  <a:srgbClr val="111827"/>
                </a:solidFill>
                <a:latin typeface="Calibri"/>
              </a:defRPr>
            </a:pPr>
            <a:r>
              <a:t>Platform Infra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9052560" y="6565392"/>
            <a:ext cx="1691640" cy="237744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9052560" y="6583680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50" b="0">
                <a:solidFill>
                  <a:srgbClr val="111827"/>
                </a:solidFill>
                <a:latin typeface="Calibri"/>
              </a:defRPr>
            </a:pPr>
            <a:r>
              <a:t>CI/CD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10799064" y="6565392"/>
            <a:ext cx="1691640" cy="237744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10799064" y="6583680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50" b="0">
                <a:solidFill>
                  <a:srgbClr val="111827"/>
                </a:solidFill>
                <a:latin typeface="Calibri"/>
              </a:defRPr>
            </a:pPr>
            <a:r>
              <a:t>HITL Gate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12545568" y="6565392"/>
            <a:ext cx="1691640" cy="237744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2545568" y="6583680"/>
            <a:ext cx="1691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50" b="0">
                <a:solidFill>
                  <a:srgbClr val="111827"/>
                </a:solidFill>
                <a:latin typeface="Calibri"/>
              </a:defRPr>
            </a:pPr>
            <a:r>
              <a:t>Responsible AI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274320" y="7406640"/>
            <a:ext cx="14081760" cy="457200"/>
          </a:xfrm>
          <a:prstGeom prst="roundRect">
            <a:avLst>
              <a:gd name="adj" fmla="val 5000"/>
            </a:avLst>
          </a:prstGeom>
          <a:solidFill>
            <a:srgbClr val="FFFBEB"/>
          </a:solidFill>
          <a:ln w="635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457200" y="74523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2400E"/>
                </a:solidFill>
                <a:latin typeface="Calibri"/>
              </a:defRPr>
            </a:pPr>
            <a:r>
              <a:t>⚠  SCOPE NOTE: Ingestion is currently manual upload only (no event-driven connectors). Fabric / Data Product Access layer is deferred to Release 2. Knowledge Graph is on-premise due to data residency requirements.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11827"/>
                </a:solidFill>
                <a:latin typeface="Calibri"/>
              </a:defRPr>
            </a:pPr>
            <a:r>
              <a:t>Design 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04672"/>
            <a:ext cx="1188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Foundational principles governing all unstructured data processing capabilities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658368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43584"/>
            <a:ext cx="45720" cy="1307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76656" y="1280160"/>
            <a:ext cx="411480" cy="237744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63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" y="1289304"/>
            <a:ext cx="411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D97706"/>
                </a:solidFill>
                <a:latin typeface="Calibri"/>
              </a:defRPr>
            </a:pPr>
            <a: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280160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Calibri"/>
              </a:defRPr>
            </a:pPr>
            <a:r>
              <a:t>Deterministic-First 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Calibri"/>
              </a:defRPr>
            </a:pPr>
            <a:r>
              <a:t>Default to deterministic workflows (LangGraph). Stateful agents reserved for complex reasoning. Ensures reproducibility, compliance traceability, and operational predictability.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188720"/>
            <a:ext cx="658368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0" y="1243584"/>
            <a:ext cx="45720" cy="1307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3216" y="1280160"/>
            <a:ext cx="411480" cy="237744"/>
          </a:xfrm>
          <a:prstGeom prst="roundRect">
            <a:avLst>
              <a:gd name="adj" fmla="val 5000"/>
            </a:avLst>
          </a:prstGeom>
          <a:solidFill>
            <a:srgbClr val="D1FAE5"/>
          </a:solidFill>
          <a:ln w="63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43216" y="1289304"/>
            <a:ext cx="411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59669"/>
                </a:solidFill>
                <a:latin typeface="Calibri"/>
              </a:defRPr>
            </a:pPr>
            <a:r>
              <a:t>P2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6992" y="1280160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Calibri"/>
              </a:defRPr>
            </a:pPr>
            <a:r>
              <a:t>Ontology-Anchored Semantics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43216" y="1572768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Calibri"/>
              </a:defRPr>
            </a:pPr>
            <a:r>
              <a:t>Entity extraction and mapping grounded in formally maintained ontology. Prevents semantic drift and ensures cross-domain consistency.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97480"/>
            <a:ext cx="658368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52344"/>
            <a:ext cx="45720" cy="1307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76656" y="2788920"/>
            <a:ext cx="411480" cy="237744"/>
          </a:xfrm>
          <a:prstGeom prst="roundRect">
            <a:avLst>
              <a:gd name="adj" fmla="val 5000"/>
            </a:avLst>
          </a:prstGeom>
          <a:solidFill>
            <a:srgbClr val="EDE9FE"/>
          </a:solidFill>
          <a:ln w="63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98064"/>
            <a:ext cx="411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C3AED"/>
                </a:solidFill>
                <a:latin typeface="Calibri"/>
              </a:defRPr>
            </a:pPr>
            <a:r>
              <a:t>P3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2788920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Calibri"/>
              </a:defRPr>
            </a:pPr>
            <a:r>
              <a:t>Governed AI Integration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" y="3081528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Calibri"/>
              </a:defRPr>
            </a:pPr>
            <a:r>
              <a:t>LLM/embedding access routed through shared service adapter with token metering, prompt governance, and moderation. No direct model calls from application code.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2697480"/>
            <a:ext cx="658368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2752344"/>
            <a:ext cx="45720" cy="130759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443216" y="2788920"/>
            <a:ext cx="411480" cy="237744"/>
          </a:xfrm>
          <a:prstGeom prst="roundRect">
            <a:avLst>
              <a:gd name="adj" fmla="val 5000"/>
            </a:avLst>
          </a:prstGeom>
          <a:solidFill>
            <a:srgbClr val="FEE2E2"/>
          </a:solidFill>
          <a:ln w="63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43216" y="2798064"/>
            <a:ext cx="411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DC2626"/>
                </a:solidFill>
                <a:latin typeface="Calibri"/>
              </a:defRPr>
            </a:pPr>
            <a:r>
              <a:t>P4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36992" y="2788920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Calibri"/>
              </a:defRPr>
            </a:pPr>
            <a:r>
              <a:t>Immutable Lineage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3216" y="3081528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Calibri"/>
              </a:defRPr>
            </a:pPr>
            <a:r>
              <a:t>Every artefact carries traceable lineage from source through processing to consumption. Lineage is system-assigned, not optional metadata.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206240"/>
            <a:ext cx="658368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261104"/>
            <a:ext cx="45720" cy="130759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76656" y="4297680"/>
            <a:ext cx="411480" cy="237744"/>
          </a:xfrm>
          <a:prstGeom prst="roundRect">
            <a:avLst>
              <a:gd name="adj" fmla="val 5000"/>
            </a:avLst>
          </a:prstGeom>
          <a:solidFill>
            <a:srgbClr val="FFEDD5"/>
          </a:solidFill>
          <a:ln w="63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" y="4306824"/>
            <a:ext cx="411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45309"/>
                </a:solidFill>
                <a:latin typeface="Calibri"/>
              </a:defRPr>
            </a:pPr>
            <a:r>
              <a:t>P5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4297680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Calibri"/>
              </a:defRPr>
            </a:pPr>
            <a:r>
              <a:t>HITL as Regulatory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" y="4590288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Calibri"/>
              </a:defRPr>
            </a:pPr>
            <a:r>
              <a:t>AI-generated content must pass mandatory human review before persistence or publication. Non-negotiable regulatory requirement for banking-context re-authoring.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0" y="4206240"/>
            <a:ext cx="658368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0" y="4261104"/>
            <a:ext cx="45720" cy="1307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443216" y="4297680"/>
            <a:ext cx="411480" cy="237744"/>
          </a:xfrm>
          <a:prstGeom prst="roundRect">
            <a:avLst>
              <a:gd name="adj" fmla="val 5000"/>
            </a:avLst>
          </a:prstGeom>
          <a:solidFill>
            <a:srgbClr val="EDE9FE"/>
          </a:solidFill>
          <a:ln w="635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43216" y="4306824"/>
            <a:ext cx="411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C3AED"/>
                </a:solidFill>
                <a:latin typeface="Calibri"/>
              </a:defRPr>
            </a:pPr>
            <a:r>
              <a:t>P6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36992" y="4297680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Calibri"/>
              </a:defRPr>
            </a:pPr>
            <a:r>
              <a:t>MCP as Tool Mediation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43216" y="4590288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Calibri"/>
              </a:defRPr>
            </a:pPr>
            <a:r>
              <a:t>All agent-to-service calls mediated via MCP Client/Server. Typed tool wrappers, context propagation, auth retries, and OpenTelemetry tracing.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715000"/>
            <a:ext cx="658368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5769864"/>
            <a:ext cx="45720" cy="130759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76656" y="5806440"/>
            <a:ext cx="411480" cy="237744"/>
          </a:xfrm>
          <a:prstGeom prst="roundRect">
            <a:avLst>
              <a:gd name="adj" fmla="val 5000"/>
            </a:avLst>
          </a:prstGeom>
          <a:solidFill>
            <a:srgbClr val="ECFEFF"/>
          </a:solidFill>
          <a:ln w="635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815584"/>
            <a:ext cx="411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891B2"/>
                </a:solidFill>
                <a:latin typeface="Calibri"/>
              </a:defRPr>
            </a:pPr>
            <a:r>
              <a:t>P7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70432" y="5806440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Calibri"/>
              </a:defRPr>
            </a:pPr>
            <a:r>
              <a:t>Separation of Fabric &amp; Retrieval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6656" y="6099048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Calibri"/>
              </a:defRPr>
            </a:pPr>
            <a:r>
              <a:t>Fabric exposes governed analytical data products. Retrieval serves latency-sensitive interactive consumption. Complementary layers, not interchangeable.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15200" y="5715000"/>
            <a:ext cx="658368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315200" y="5769864"/>
            <a:ext cx="45720" cy="130759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443216" y="5806440"/>
            <a:ext cx="411480" cy="237744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 w="63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3216" y="5815584"/>
            <a:ext cx="411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563EB"/>
                </a:solidFill>
                <a:latin typeface="Calibri"/>
              </a:defRPr>
            </a:pPr>
            <a:r>
              <a:t>P8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36992" y="5806440"/>
            <a:ext cx="5852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Calibri"/>
              </a:defRPr>
            </a:pPr>
            <a:r>
              <a:t>Source-Agnostic Onboarding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3216" y="6099048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Calibri"/>
              </a:defRPr>
            </a:pPr>
            <a:r>
              <a:t>Ingestion supports any source type through self-service connector registration. Source-specific logic belongs in connectors, not downstream processing.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11827"/>
                </a:solidFill>
                <a:latin typeface="Calibri"/>
              </a:defRPr>
            </a:pPr>
            <a:r>
              <a:t>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04672"/>
            <a:ext cx="1188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Decisions and rationale for senior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658368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43584"/>
            <a:ext cx="45720" cy="1307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280160"/>
            <a:ext cx="6309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Calibri"/>
              </a:defRPr>
            </a:pPr>
            <a:r>
              <a:t>Deterministic-First Orchestration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572768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Calibri"/>
              </a:defRPr>
            </a:pPr>
            <a:r>
              <a:t>LangGraph is the default workflow engine. Stateful agents reserved for complex reasoning. Ensures reproducibility, replay, and auditability.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188720"/>
            <a:ext cx="658368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1243584"/>
            <a:ext cx="45720" cy="130759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9792" y="1280160"/>
            <a:ext cx="6309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Calibri"/>
              </a:defRPr>
            </a:pPr>
            <a:r>
              <a:t>Three Distinct Agentic Workflows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79792" y="1572768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Calibri"/>
              </a:defRPr>
            </a:pPr>
            <a:r>
              <a:t>ReAuthor, Validation, KG/Vector workflows separated by concern. Independently testable, versionable, and deployable.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15768"/>
            <a:ext cx="658368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770632"/>
            <a:ext cx="45720" cy="13075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07208"/>
            <a:ext cx="6309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Calibri"/>
              </a:defRPr>
            </a:pPr>
            <a:r>
              <a:t>MCP as Tool Mediation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099816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Calibri"/>
              </a:defRPr>
            </a:pPr>
            <a:r>
              <a:t>All agent-to-service calls mediated through MCP Client/Server. Typed wrappers, context propagation, OpenTelemetry tracing.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2715768"/>
            <a:ext cx="658368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2770632"/>
            <a:ext cx="45720" cy="130759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79792" y="2807208"/>
            <a:ext cx="6309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Calibri"/>
              </a:defRPr>
            </a:pPr>
            <a:r>
              <a:t>HITL as Mandatory Regulatory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9792" y="3099816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Calibri"/>
              </a:defRPr>
            </a:pPr>
            <a:r>
              <a:t>Human review enforced before AI content is persisted. Non-negotiable banking regulatory requirement.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42816"/>
            <a:ext cx="658368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297680"/>
            <a:ext cx="45720" cy="130759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334256"/>
            <a:ext cx="6309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Calibri"/>
              </a:defRPr>
            </a:pPr>
            <a:r>
              <a:t>Dual Persistence Strategy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626864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Calibri"/>
              </a:defRPr>
            </a:pPr>
            <a:r>
              <a:t>Cloud stores (GCS, BQ, Vector DB) for operational workloads. KG on-premise for data residency requirements.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4242816"/>
            <a:ext cx="6583680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4297680"/>
            <a:ext cx="45720" cy="130759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79792" y="4334256"/>
            <a:ext cx="6309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  <a:latin typeface="Calibri"/>
              </a:defRPr>
            </a:pPr>
            <a:r>
              <a:t>Fabric Deferred to Release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9792" y="4626864"/>
            <a:ext cx="63093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B5563"/>
                </a:solidFill>
                <a:latin typeface="Calibri"/>
              </a:defRPr>
            </a:pPr>
            <a:r>
              <a:t>Data product exposure consciously deferred. Release 1 focuses on end-to-end processing. Fabric governs products in Release 2.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6576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11827"/>
                </a:solidFill>
                <a:latin typeface="Calibri"/>
              </a:defRPr>
            </a:pPr>
            <a:r>
              <a:t>Reference Architecture Alignment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04672"/>
            <a:ext cx="1188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Calibri"/>
              </a:defRPr>
            </a:pPr>
            <a:r>
              <a:t>How Release 1 maps to the enterprise UDL reference architecture layers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2926080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35024"/>
            <a:ext cx="270662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Reference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280160"/>
            <a:ext cx="8046720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335024"/>
            <a:ext cx="7827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Codify Release 1 Implementation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521440" y="1280160"/>
            <a:ext cx="2194560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31168" y="1335024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828800"/>
            <a:ext cx="2926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270662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01 · Source Domains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1828800"/>
            <a:ext cx="80467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883664"/>
            <a:ext cx="7827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Policy &amp; Procedure (AWS) · Policy History (BQ) · Ontology Schema (Git)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521440" y="1828800"/>
            <a:ext cx="2194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31168" y="1883664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✅ Implemented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377440"/>
            <a:ext cx="292608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32304"/>
            <a:ext cx="270662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02 · Ingestion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2377440"/>
            <a:ext cx="804672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4448" y="2432304"/>
            <a:ext cx="7827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Manual upload via UI · OWL→JSON-LD conversion · Landing zone (manual — no connectors)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521440" y="2377440"/>
            <a:ext cx="21945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631168" y="2432304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⚠ Manual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926080"/>
            <a:ext cx="2926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980944"/>
            <a:ext cx="270662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03 · Preparation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0" y="2926080"/>
            <a:ext cx="80467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84448" y="2980944"/>
            <a:ext cx="7827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Preprocessing + Chunking microservices (triggered by LangGraph Runner)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521440" y="2926080"/>
            <a:ext cx="2194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31168" y="2980944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✅ Implemented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474720"/>
            <a:ext cx="292608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3529584"/>
            <a:ext cx="270662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04 · Orchestration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0" y="3474720"/>
            <a:ext cx="804672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84448" y="3529584"/>
            <a:ext cx="7827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LangGraph Runner · ReAuthor + Validation + KG/Vector workflows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521440" y="3474720"/>
            <a:ext cx="21945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631168" y="3529584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✅ Implemented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023360"/>
            <a:ext cx="2926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4078224"/>
            <a:ext cx="270662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05 · AI Integration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720" y="4023360"/>
            <a:ext cx="80467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84448" y="4078224"/>
            <a:ext cx="7827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LLM Service Adapter · Group AI Platform · MCP Client/Server gateway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521440" y="4023360"/>
            <a:ext cx="2194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631168" y="4078224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✅ Implemented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572000"/>
            <a:ext cx="292608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4626864"/>
            <a:ext cx="270662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06 · Persistence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720" y="4572000"/>
            <a:ext cx="804672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84448" y="4626864"/>
            <a:ext cx="7827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GCS · BigQuery Metadata · Vector DB · Knowledge Graph (Neo4j on-prem)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521440" y="4572000"/>
            <a:ext cx="21945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631168" y="4626864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✅ Implemented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120640"/>
            <a:ext cx="2926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175504"/>
            <a:ext cx="270662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07 · Fabric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720" y="5120640"/>
            <a:ext cx="80467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84448" y="5175504"/>
            <a:ext cx="7827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Not in scope — governed data product exposure deferred to Release 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1521440" y="5120640"/>
            <a:ext cx="2194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631168" y="5175504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⏳ Release 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669280"/>
            <a:ext cx="292608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" y="5724144"/>
            <a:ext cx="270662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08 · Consumption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720" y="5669280"/>
            <a:ext cx="804672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84448" y="5724144"/>
            <a:ext cx="7827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Spring Boot Backend · React SPA · HITL Review · KG-RAG retriever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521440" y="5669280"/>
            <a:ext cx="2194560" cy="548640"/>
          </a:xfrm>
          <a:prstGeom prst="rect">
            <a:avLst/>
          </a:prstGeom>
          <a:solidFill>
            <a:srgbClr val="F1F5F9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631168" y="5724144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✅ Implemented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" y="6217920"/>
            <a:ext cx="29260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272784"/>
            <a:ext cx="270662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09 · Cross-Cutting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720" y="6217920"/>
            <a:ext cx="80467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84448" y="6272784"/>
            <a:ext cx="7827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Auth · Observability · CI/CD · HITL Gate · Responsible AI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521440" y="6217920"/>
            <a:ext cx="2194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631168" y="6272784"/>
            <a:ext cx="197510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11827"/>
                </a:solidFill>
                <a:latin typeface="Calibri"/>
              </a:defRPr>
            </a:pPr>
            <a:r>
              <a:t>✅ Implemented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