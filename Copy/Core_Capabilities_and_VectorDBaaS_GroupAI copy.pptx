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column by column. For each: state the FROM condition (the enterprise architecture problem), the TO target (what the workstream shapes), the capabilities delivered, and the structural risk closed. Shift 1: the control win — sensitive-data gate enforced before semantic processing. Shift 2: the efficiency win — shared services and VectorDBaaS replace per-use-case builds. Shift 3: the governance win — Fabric publication closes the structured/unstructured gap. Close with the strapline: progressive shaping, not a platform build. VectorDBaaS is one priority shared service, not the whole workstream.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what VectorDBaaS is — five design decisions, one line each. The blue ownership boundary box is the key message: VectorDBaaS provides the vector service layer; Group AI retains model ownership. Right: the visual architecture. Control plane is centrally owned, now grouped into three governance clusters for readability. Data planes are federated within each data platform — CIB, WPB, etc. Vectors never leave the platform boundary. Bottom: shared enterprise services explicitly labelled as consumed dependencies, not owned capabilities. Engine choice (pgvector, Vertex AI Search, etc.) is an implementation detail behind the data-plane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AI for Tech — Unstructured Data Workstream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F172A"/>
                </a:solidFill>
              </a:defRPr>
            </a:pPr>
            <a:r>
              <a:t>What This Workstream Changes for the 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86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4748B"/>
                </a:solidFill>
              </a:defRPr>
            </a:pPr>
            <a:r>
              <a:t>Three structural shifts from fragmented use-case delivery to governed enterprise capability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520440" cy="489204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864" cy="4892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7512" y="1508760"/>
            <a:ext cx="3191256" cy="621792"/>
          </a:xfrm>
          <a:prstGeom prst="roundRect">
            <a:avLst/>
          </a:prstGeom>
          <a:solidFill>
            <a:srgbClr val="FEE2E2"/>
          </a:solidFill>
          <a:ln w="1016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63624"/>
            <a:ext cx="2971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991B1B"/>
                </a:solidFill>
              </a:defRPr>
            </a:pPr>
            <a:r>
              <a:t>FROM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28216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1" i="0">
                <a:solidFill>
                  <a:srgbClr val="991B1B"/>
                </a:solidFill>
              </a:defRPr>
            </a:pPr>
            <a:r>
              <a:t>Fragmented intake and preparation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185415"/>
            <a:ext cx="3191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2563EB"/>
                </a:solidFill>
              </a:defRPr>
            </a:pPr>
            <a: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" y="2423159"/>
            <a:ext cx="3191256" cy="658368"/>
          </a:xfrm>
          <a:prstGeom prst="roundRect">
            <a:avLst/>
          </a:prstGeom>
          <a:solidFill>
            <a:srgbClr val="BFDBFE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478023"/>
            <a:ext cx="2971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2563EB"/>
                </a:solidFill>
              </a:defRPr>
            </a:pPr>
            <a:r>
              <a:t>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42615"/>
            <a:ext cx="2971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1" i="0">
                <a:solidFill>
                  <a:srgbClr val="2563EB"/>
                </a:solidFill>
              </a:defRPr>
            </a:pPr>
            <a:r>
              <a:t>Governed onboarding and</a:t>
            </a:r>
            <a:br/>
            <a:r>
              <a:t>processing standard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72967"/>
            <a:ext cx="3063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 i="0">
                <a:solidFill>
                  <a:srgbClr val="2563EB"/>
                </a:solidFill>
              </a:defRPr>
            </a:pPr>
            <a:r>
              <a:t>WHAT THE WORKSTREAM DELIVERS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7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950" b="0" i="0">
                <a:solidFill>
                  <a:srgbClr val="0F172A"/>
                </a:solidFill>
              </a:defRPr>
            </a:pPr>
            <a:r>
              <a:t>▸  Reusable onboarding across source 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75887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950" b="0" i="0">
                <a:solidFill>
                  <a:srgbClr val="0F172A"/>
                </a:solidFill>
              </a:defRPr>
            </a:pPr>
            <a:r>
              <a:t>▸  Shared preparation and normalisation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95927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950" b="0" i="0">
                <a:solidFill>
                  <a:srgbClr val="0F172A"/>
                </a:solidFill>
              </a:defRPr>
            </a:pPr>
            <a:r>
              <a:t>▸  Enforced redaction and classification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15967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950" b="0" i="0">
                <a:solidFill>
                  <a:srgbClr val="0F172A"/>
                </a:solidFill>
              </a:defRPr>
            </a:pPr>
            <a:r>
              <a:t>▸  Policy-aware routing by sensitivity and residency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" y="5257800"/>
            <a:ext cx="3191256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12664"/>
            <a:ext cx="2971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 i="0">
                <a:solidFill>
                  <a:srgbClr val="991B1B"/>
                </a:solidFill>
              </a:defRPr>
            </a:pPr>
            <a:r>
              <a:t>RISK CLOSED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13832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50" b="0" i="1">
                <a:solidFill>
                  <a:srgbClr val="475569"/>
                </a:solidFill>
              </a:defRPr>
            </a:pPr>
            <a:r>
              <a:t>Sensitive-data leakage and weak auditability</a:t>
            </a:r>
            <a:br/>
            <a:r>
              <a:t>in AI preparation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1371600"/>
            <a:ext cx="3520440" cy="4892040"/>
          </a:xfrm>
          <a:prstGeom prst="roundRect">
            <a:avLst/>
          </a:prstGeom>
          <a:solidFill>
            <a:srgbClr val="D1FAE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1371600"/>
            <a:ext cx="54864" cy="4892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16552" y="1508760"/>
            <a:ext cx="3191256" cy="621792"/>
          </a:xfrm>
          <a:prstGeom prst="roundRect">
            <a:avLst/>
          </a:prstGeom>
          <a:solidFill>
            <a:srgbClr val="FEE2E2"/>
          </a:solidFill>
          <a:ln w="1016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1563624"/>
            <a:ext cx="2971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991B1B"/>
                </a:solidFill>
              </a:defRPr>
            </a:pPr>
            <a:r>
              <a:t>FROM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1728216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1" i="0">
                <a:solidFill>
                  <a:srgbClr val="991B1B"/>
                </a:solidFill>
              </a:defRPr>
            </a:pPr>
            <a:r>
              <a:t>Use-case-specific semantic services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6552" y="2185415"/>
            <a:ext cx="3191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059669"/>
                </a:solidFill>
              </a:defRPr>
            </a:pPr>
            <a:r>
              <a:t>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16552" y="2423159"/>
            <a:ext cx="3191256" cy="658368"/>
          </a:xfrm>
          <a:prstGeom prst="roundRect">
            <a:avLst/>
          </a:prstGeom>
          <a:solidFill>
            <a:srgbClr val="A7F3D0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2478023"/>
            <a:ext cx="2971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59669"/>
                </a:solidFill>
              </a:defRPr>
            </a:pPr>
            <a:r>
              <a:t>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2642615"/>
            <a:ext cx="2971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1" i="0">
                <a:solidFill>
                  <a:srgbClr val="059669"/>
                </a:solidFill>
              </a:defRPr>
            </a:pPr>
            <a:r>
              <a:t>Shared enterprise semantic</a:t>
            </a:r>
            <a:br/>
            <a:r>
              <a:t>and vector services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3172967"/>
            <a:ext cx="3063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 i="0">
                <a:solidFill>
                  <a:srgbClr val="059669"/>
                </a:solidFill>
              </a:defRPr>
            </a:pPr>
            <a:r>
              <a:t>WHAT THE WORKSTREAM DELIVERS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3355847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950" b="0" i="0">
                <a:solidFill>
                  <a:srgbClr val="0F172A"/>
                </a:solidFill>
              </a:defRPr>
            </a:pPr>
            <a:r>
              <a:t>▸  Shared chunking, embedding, and indexing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3675887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950" b="0" i="0">
                <a:solidFill>
                  <a:srgbClr val="0F172A"/>
                </a:solidFill>
              </a:defRPr>
            </a:pPr>
            <a:r>
              <a:t>▸  VectorDBaaS — governed vector persistence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3995927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950" b="0" i="0">
                <a:solidFill>
                  <a:srgbClr val="0F172A"/>
                </a:solidFill>
              </a:defRPr>
            </a:pPr>
            <a:r>
              <a:t>▸  Approved model consumption through Group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4315967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950" b="0" i="0">
                <a:solidFill>
                  <a:srgbClr val="0F172A"/>
                </a:solidFill>
              </a:defRPr>
            </a:pPr>
            <a:r>
              <a:t>▸  Reusable graph build patterns from reference use cases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16552" y="5257800"/>
            <a:ext cx="3191256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5312664"/>
            <a:ext cx="2971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 i="0">
                <a:solidFill>
                  <a:srgbClr val="991B1B"/>
                </a:solidFill>
              </a:defRPr>
            </a:pPr>
            <a:r>
              <a:t>RISK CLOSED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5513832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50" b="0" i="1">
                <a:solidFill>
                  <a:srgbClr val="475569"/>
                </a:solidFill>
              </a:defRPr>
            </a:pPr>
            <a:r>
              <a:t>Duplicated investment and non-reusable</a:t>
            </a:r>
            <a:br/>
            <a:r>
              <a:t>semantic capability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01000" y="1371600"/>
            <a:ext cx="3520440" cy="4892040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01000" y="1371600"/>
            <a:ext cx="54864" cy="48920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165592" y="1508760"/>
            <a:ext cx="3191256" cy="621792"/>
          </a:xfrm>
          <a:prstGeom prst="roundRect">
            <a:avLst/>
          </a:prstGeom>
          <a:solidFill>
            <a:srgbClr val="FEE2E2"/>
          </a:solidFill>
          <a:ln w="1016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20" y="1563624"/>
            <a:ext cx="2971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991B1B"/>
                </a:solidFill>
              </a:defRPr>
            </a:pPr>
            <a:r>
              <a:t>FROM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1728216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1" i="0">
                <a:solidFill>
                  <a:srgbClr val="991B1B"/>
                </a:solidFill>
              </a:defRPr>
            </a:pPr>
            <a:r>
              <a:t>Ungoverned retrieval</a:t>
            </a:r>
            <a:br/>
            <a:r>
              <a:t>and publication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5592" y="2185415"/>
            <a:ext cx="3191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0891B2"/>
                </a:solidFill>
              </a:defRPr>
            </a:pPr>
            <a:r>
              <a:t>▼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65592" y="2423159"/>
            <a:ext cx="3191256" cy="658368"/>
          </a:xfrm>
          <a:prstGeom prst="roundRect">
            <a:avLst/>
          </a:prstGeom>
          <a:solidFill>
            <a:srgbClr val="99F6E4"/>
          </a:solidFill>
          <a:ln w="1016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20" y="2478023"/>
            <a:ext cx="2971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891B2"/>
                </a:solidFill>
              </a:defRPr>
            </a:pPr>
            <a:r>
              <a:t>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2642615"/>
            <a:ext cx="2971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1" i="0">
                <a:solidFill>
                  <a:srgbClr val="0891B2"/>
                </a:solidFill>
              </a:defRPr>
            </a:pPr>
            <a:r>
              <a:t>Enterprise publication and</a:t>
            </a:r>
            <a:br/>
            <a:r>
              <a:t>retrieval with controls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3172967"/>
            <a:ext cx="3063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 i="0">
                <a:solidFill>
                  <a:srgbClr val="0891B2"/>
                </a:solidFill>
              </a:defRPr>
            </a:pPr>
            <a:r>
              <a:t>WHAT THE WORKSTREAM DELIVERS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3355847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950" b="0" i="0">
                <a:solidFill>
                  <a:srgbClr val="0F172A"/>
                </a:solidFill>
              </a:defRPr>
            </a:pPr>
            <a:r>
              <a:t>▸  Fabric publication of unstructured-derived products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3675887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950" b="0" i="0">
                <a:solidFill>
                  <a:srgbClr val="0F172A"/>
                </a:solidFill>
              </a:defRPr>
            </a:pPr>
            <a:r>
              <a:t>▸  Retrieval-time governance and entitlement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3995927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950" b="0" i="0">
                <a:solidFill>
                  <a:srgbClr val="0F172A"/>
                </a:solidFill>
              </a:defRPr>
            </a:pPr>
            <a:r>
              <a:t>▸  Dual access model — Fabric and direct retrieval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4315967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950" b="0" i="0">
                <a:solidFill>
                  <a:srgbClr val="0F172A"/>
                </a:solidFill>
              </a:defRPr>
            </a:pPr>
            <a:r>
              <a:t>▸  Enterprise metadata, lineage, and provenance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65592" y="5257800"/>
            <a:ext cx="3191256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75320" y="5312664"/>
            <a:ext cx="2971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 i="0">
                <a:solidFill>
                  <a:srgbClr val="991B1B"/>
                </a:solidFill>
              </a:defRPr>
            </a:pPr>
            <a:r>
              <a:t>RISK CLOSED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75320" y="5513832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50" b="0" i="1">
                <a:solidFill>
                  <a:srgbClr val="475569"/>
                </a:solidFill>
              </a:defRPr>
            </a:pPr>
            <a:r>
              <a:t>Control divergence between unstructured outputs</a:t>
            </a:r>
            <a:br/>
            <a:r>
              <a:t>and the enterprise data product model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6309360"/>
            <a:ext cx="11247120" cy="18288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6309360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475569"/>
                </a:solidFill>
              </a:defRPr>
            </a:pPr>
            <a:r>
              <a:t>Progressive capability shaping, not monolithic platform build.  VectorDBaaS is one priority shared service within the wider target model.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4A3B8"/>
                </a:solidFill>
              </a:defRPr>
            </a:pPr>
            <a:r>
              <a:t>CIO / CTO · AI for Tech · Unstructured Data Workstream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94A3B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</a:defRPr>
            </a:pPr>
            <a:r>
              <a:t>AI for Tech — Unstructured Data Workstream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F172A"/>
                </a:solidFill>
              </a:defRPr>
            </a:pPr>
            <a:r>
              <a:t>VectorDBaaS — Governed Enterprise Vector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86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4748B"/>
                </a:solidFill>
              </a:defRPr>
            </a:pPr>
            <a:r>
              <a:t>One governed control plane with platform-aligned federated data planes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4572000" cy="301752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F172A"/>
                </a:solidFill>
              </a:defRPr>
            </a:pPr>
            <a:r>
              <a:t>What is VectorDBaaS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1907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50" b="0" i="0">
                <a:solidFill>
                  <a:srgbClr val="475569"/>
                </a:solidFill>
              </a:defRPr>
            </a:pPr>
            <a:r>
              <a:t>A governed shared service for enterprise vector persistence and retrieval. Provides the service model — contracts, lifecycle, observability, governance — not a centralised database.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67712"/>
            <a:ext cx="4206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0F172A"/>
                </a:solidFill>
              </a:defRPr>
            </a:pPr>
            <a:r>
              <a:t>▸  Hub-and-spoke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4144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64748B"/>
                </a:solidFill>
              </a:defRPr>
            </a:pPr>
            <a:r>
              <a:t>Central standards, platform-local 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88336"/>
            <a:ext cx="4206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0F172A"/>
                </a:solidFill>
              </a:defRPr>
            </a:pPr>
            <a:r>
              <a:t>▸  Data stays local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620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64748B"/>
                </a:solidFill>
              </a:defRPr>
            </a:pPr>
            <a:r>
              <a:t>Vectors remain within each platform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4206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0F172A"/>
                </a:solidFill>
              </a:defRPr>
            </a:pPr>
            <a:r>
              <a:t>▸  Group AI model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82696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64748B"/>
                </a:solidFill>
              </a:defRPr>
            </a:pPr>
            <a:r>
              <a:t>Approved embeddings consumed via MCP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29584"/>
            <a:ext cx="4206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0F172A"/>
                </a:solidFill>
              </a:defRPr>
            </a:pPr>
            <a:r>
              <a:t>▸  Dual access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0332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64748B"/>
                </a:solidFill>
              </a:defRPr>
            </a:pPr>
            <a:r>
              <a:t>Direct retrieval and Fabric publication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50208"/>
            <a:ext cx="4206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0F172A"/>
                </a:solidFill>
              </a:defRPr>
            </a:pPr>
            <a:r>
              <a:t>▸  Evidence-led rollout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2394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64748B"/>
                </a:solidFill>
              </a:defRPr>
            </a:pPr>
            <a:r>
              <a:t>Mobilise, prove, harden, extend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434840"/>
            <a:ext cx="45720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48056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50" b="1" i="0">
                <a:solidFill>
                  <a:srgbClr val="1E40AF"/>
                </a:solidFill>
              </a:defRPr>
            </a:pPr>
            <a:r>
              <a:t>VectorDBaaS provides the governed vector service layer;</a:t>
            </a:r>
            <a:br/>
            <a:r>
              <a:t>approved embedding model ownership remains with Group AI.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0" y="1325880"/>
            <a:ext cx="6217920" cy="155448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5000" y="1417320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65F46"/>
                </a:solidFill>
              </a:defRPr>
            </a:pPr>
            <a:r>
              <a:t>CONTROL PLANE  —  CENTRALLY OWNED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170992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65F46"/>
                </a:solidFill>
              </a:defRPr>
            </a:pPr>
            <a:r>
              <a:t>Service governance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1892807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50" b="0" i="0">
                <a:solidFill>
                  <a:srgbClr val="475569"/>
                </a:solidFill>
              </a:defRPr>
            </a:pPr>
            <a:r>
              <a:t>Registry, contracts, policy distribution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170992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65F46"/>
                </a:solidFill>
              </a:defRPr>
            </a:pPr>
            <a:r>
              <a:t>Model &amp; lifecycle 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1892807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50" b="0" i="0">
                <a:solidFill>
                  <a:srgbClr val="475569"/>
                </a:solidFill>
              </a:defRPr>
            </a:pPr>
            <a:r>
              <a:t>Embedding registry, index lifecycle, retrieval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170992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65F46"/>
                </a:solidFill>
              </a:defRPr>
            </a:pPr>
            <a:r>
              <a:t>Control &amp; operations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1892807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50" b="0" i="0">
                <a:solidFill>
                  <a:srgbClr val="475569"/>
                </a:solidFill>
              </a:defRPr>
            </a:pPr>
            <a:r>
              <a:t>Metadata publication, DLP gate, observability, FinOps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37960" y="2880360"/>
            <a:ext cx="0" cy="365760"/>
          </a:xfrm>
          <a:prstGeom prst="line">
            <a:avLst/>
          </a:prstGeom>
          <a:ln w="15240">
            <a:solidFill>
              <a:srgbClr val="64748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595360" y="2880360"/>
            <a:ext cx="0" cy="365760"/>
          </a:xfrm>
          <a:prstGeom prst="line">
            <a:avLst/>
          </a:prstGeom>
          <a:ln w="15240">
            <a:solidFill>
              <a:srgbClr val="64748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652760" y="2880360"/>
            <a:ext cx="0" cy="365760"/>
          </a:xfrm>
          <a:prstGeom prst="line">
            <a:avLst/>
          </a:prstGeom>
          <a:ln w="15240">
            <a:solidFill>
              <a:srgbClr val="64748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949440" y="2907791"/>
            <a:ext cx="3291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</a:defRPr>
            </a:pPr>
            <a:r>
              <a:t>standards · contracts · policies  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0" y="3246120"/>
            <a:ext cx="1920240" cy="2240280"/>
          </a:xfrm>
          <a:prstGeom prst="roundRect">
            <a:avLst/>
          </a:prstGeom>
          <a:solidFill>
            <a:srgbClr val="FCF1DD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0" y="331927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7A5417"/>
                </a:solidFill>
              </a:defRPr>
            </a:pPr>
            <a:r>
              <a:t>Data Plane 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3502152"/>
            <a:ext cx="1737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</a:defRPr>
            </a:pPr>
            <a:r>
              <a:t>CIB Platform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59552" y="3703320"/>
            <a:ext cx="17739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9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23560" y="37307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0F172A"/>
                </a:solidFill>
              </a:defRPr>
            </a:pPr>
            <a:r>
              <a:t>Vector engine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59552" y="4005072"/>
            <a:ext cx="17739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9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23560" y="403250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0F172A"/>
                </a:solidFill>
              </a:defRPr>
            </a:pPr>
            <a:r>
              <a:t>Embedding execution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59552" y="4306824"/>
            <a:ext cx="17739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9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23560" y="433425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0F172A"/>
                </a:solidFill>
              </a:defRPr>
            </a:pPr>
            <a:r>
              <a:t>Retrieval API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559552" y="4608576"/>
            <a:ext cx="17739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9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23560" y="46360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0F172A"/>
                </a:solidFill>
              </a:defRPr>
            </a:pPr>
            <a:r>
              <a:t>Access &amp; policy enforcement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59552" y="4910328"/>
            <a:ext cx="17739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9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23560" y="49377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0F172A"/>
                </a:solidFill>
              </a:defRPr>
            </a:pPr>
            <a:r>
              <a:t>Cache &amp; session store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5285232"/>
            <a:ext cx="1737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1">
                <a:solidFill>
                  <a:srgbClr val="7A5417"/>
                </a:solidFill>
              </a:defRPr>
            </a:pPr>
            <a:r>
              <a:t>vectors never leave this plane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43800" y="3246120"/>
            <a:ext cx="1920240" cy="2240280"/>
          </a:xfrm>
          <a:prstGeom prst="roundRect">
            <a:avLst/>
          </a:prstGeom>
          <a:solidFill>
            <a:srgbClr val="FCF1DD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35240" y="331927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7A5417"/>
                </a:solidFill>
              </a:defRPr>
            </a:pPr>
            <a:r>
              <a:t>Data Plane 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502152"/>
            <a:ext cx="1737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</a:defRPr>
            </a:pPr>
            <a:r>
              <a:t>WPB Platform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616952" y="3703320"/>
            <a:ext cx="17739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9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80960" y="37307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0F172A"/>
                </a:solidFill>
              </a:defRPr>
            </a:pPr>
            <a:r>
              <a:t>Vector engine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616952" y="4005072"/>
            <a:ext cx="17739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9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80960" y="403250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0F172A"/>
                </a:solidFill>
              </a:defRPr>
            </a:pPr>
            <a:r>
              <a:t>Embedding execution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616952" y="4306824"/>
            <a:ext cx="17739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9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80960" y="433425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0F172A"/>
                </a:solidFill>
              </a:defRPr>
            </a:pPr>
            <a:r>
              <a:t>Retrieval API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616952" y="4608576"/>
            <a:ext cx="17739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9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80960" y="46360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0F172A"/>
                </a:solidFill>
              </a:defRPr>
            </a:pPr>
            <a:r>
              <a:t>Access &amp; policy enforcement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616952" y="4910328"/>
            <a:ext cx="17739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9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80960" y="49377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0F172A"/>
                </a:solidFill>
              </a:defRPr>
            </a:pPr>
            <a:r>
              <a:t>Cache &amp; session store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5285232"/>
            <a:ext cx="1737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1">
                <a:solidFill>
                  <a:srgbClr val="7A5417"/>
                </a:solidFill>
              </a:defRPr>
            </a:pPr>
            <a:r>
              <a:t>vectors never leave this plane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601200" y="3246120"/>
            <a:ext cx="1920240" cy="2240280"/>
          </a:xfrm>
          <a:prstGeom prst="roundRect">
            <a:avLst/>
          </a:prstGeom>
          <a:solidFill>
            <a:srgbClr val="FCF1DD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92640" y="331927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7A5417"/>
                </a:solidFill>
              </a:defRPr>
            </a:pPr>
            <a:r>
              <a:t>Data Plane 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92640" y="3502152"/>
            <a:ext cx="1737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</a:defRPr>
            </a:pPr>
            <a:r>
              <a:t>Platform 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674352" y="3703320"/>
            <a:ext cx="17739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9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38360" y="37307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0F172A"/>
                </a:solidFill>
              </a:defRPr>
            </a:pPr>
            <a:r>
              <a:t>Vector engine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674352" y="4005072"/>
            <a:ext cx="17739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9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738360" y="403250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0F172A"/>
                </a:solidFill>
              </a:defRPr>
            </a:pPr>
            <a:r>
              <a:t>Embedding execution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674352" y="4306824"/>
            <a:ext cx="17739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9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38360" y="433425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0F172A"/>
                </a:solidFill>
              </a:defRPr>
            </a:pPr>
            <a:r>
              <a:t>Retrieval API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674352" y="4608576"/>
            <a:ext cx="17739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9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738360" y="46360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0F172A"/>
                </a:solidFill>
              </a:defRPr>
            </a:pPr>
            <a:r>
              <a:t>Access &amp; policy enforcement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674352" y="4910328"/>
            <a:ext cx="177393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9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738360" y="49377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0F172A"/>
                </a:solidFill>
              </a:defRPr>
            </a:pPr>
            <a:r>
              <a:t>Cache &amp; session store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92640" y="5285232"/>
            <a:ext cx="1737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1">
                <a:solidFill>
                  <a:srgbClr val="7A5417"/>
                </a:solidFill>
              </a:defRPr>
            </a:pPr>
            <a:r>
              <a:t>vectors never leave this plane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486400" y="5650992"/>
            <a:ext cx="6217920" cy="47548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715000" y="5678424"/>
            <a:ext cx="5760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7C3AED"/>
                </a:solidFill>
              </a:defRPr>
            </a:pPr>
            <a:r>
              <a:t>ENTERPRISE SERVICES CONSUMED BY VectorDBaaS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715000" y="5879592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Group AI Embeddings (via MCP)  ·  Enterprise Catalogue  ·  Fabric  ·  Enterprise IAM  ·  DLP / Content Safety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6217920"/>
            <a:ext cx="11247120" cy="256032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0080" y="6236207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475569"/>
                </a:solidFill>
              </a:defRPr>
            </a:pPr>
            <a:r>
              <a:t>Cross-cutting governance:  IAM  ·  DLP + policy  ·  lineage  ·  audit  ·  encryption  ·  residency  ·  model risk  ·  FinOps  ·  responsible AI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4A3B8"/>
                </a:solidFill>
              </a:defRPr>
            </a:pPr>
            <a:r>
              <a:t>CIO / CTO · AI for Tech · Unstructured Data Workstream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94A3B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