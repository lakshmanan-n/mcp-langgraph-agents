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column by column. For each: state the FROM condition (the enterprise architecture problem), the TO target (what the workstream shapes), the capabilities delivered, and the structural risk closed. Shift 1: the control win — sensitive-data gate enforced before semantic processing. Shift 2: the efficiency win — shared services and VectorDBaaS replace per-use-case builds. Shift 3: the governance win — Fabric publication closes the structured/unstructured gap. Close with the strapline: progressive shaping, not a platform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what VectorDBaaS is — five design decisions, one line each. The blue ownership boundary box is the key message: VectorDBaaS provides the vector service layer; Group AI retains model ownership. Right: the visual architecture. Control plane is centrally owned, grouped into three governance clusters for readability. Data planes are federated within each data platform — CIB, WPB, etc. Vectors never leave the platform boundary. Bottom: shared enterprise services explicitly labelled as consumed dependencies, not owned capabilities. Engine choice (pgvector, Vertex AI Search, etc.) is an implementation detail behind the data-plane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CC0E5"/>
                </a:solidFill>
              </a:defRPr>
            </a:pPr>
            <a:r>
              <a:t>AI for Tech — Unstructured Data Workstream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300" b="1">
                <a:solidFill>
                  <a:srgbClr val="1B2A3A"/>
                </a:solidFill>
              </a:defRPr>
            </a:pPr>
            <a:r>
              <a:t>What This Workstream Changes for the Bank</a:t>
            </a:r>
          </a:p>
          <a:p>
            <a:pPr>
              <a:spcBef>
                <a:spcPts val="400"/>
              </a:spcBef>
              <a:defRPr sz="1400">
                <a:solidFill>
                  <a:srgbClr val="2563EB"/>
                </a:solidFill>
              </a:defRPr>
            </a:pPr>
            <a:r>
              <a:t>Three structural shifts from fragmented use-case delivery to governed enterprise capability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566160" cy="48463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291840" cy="749808"/>
          </a:xfrm>
          <a:prstGeom prst="roundRect">
            <a:avLst/>
          </a:prstGeom>
          <a:solidFill>
            <a:srgbClr val="FDEDE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45720" cy="7498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73352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B91C1C"/>
                </a:solidFill>
              </a:defRPr>
            </a:pPr>
            <a:r>
              <a:t>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37943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300" b="1" i="0">
                <a:solidFill>
                  <a:srgbClr val="B91C1C"/>
                </a:solidFill>
              </a:defRPr>
            </a:pPr>
            <a:r>
              <a:t>Fragmented intake</a:t>
            </a:r>
            <a:br/>
            <a:r>
              <a:t>and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0487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40AF"/>
                </a:solidFill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60904"/>
            <a:ext cx="3291840" cy="7498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60904"/>
            <a:ext cx="45720" cy="7498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34056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E40AF"/>
                </a:solidFill>
              </a:defRPr>
            </a:pPr>
            <a:r>
              <a:t>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9864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300" b="1" i="0">
                <a:solidFill>
                  <a:srgbClr val="1E40AF"/>
                </a:solidFill>
              </a:defRPr>
            </a:pPr>
            <a:r>
              <a:t>Governed onboarding</a:t>
            </a:r>
            <a:br/>
            <a:r>
              <a:t>and processing 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29584"/>
            <a:ext cx="3200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1E40AF"/>
                </a:solidFill>
              </a:defRPr>
            </a:pPr>
            <a:r>
              <a:t>WHAT THE WORKSTREAM DELIVERS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 i="0">
                <a:solidFill>
                  <a:srgbClr val="1B2A3A"/>
                </a:solidFill>
              </a:defRPr>
            </a:pPr>
            <a:r>
              <a:t>•  Reusable onboarding across source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5993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 i="0">
                <a:solidFill>
                  <a:srgbClr val="1B2A3A"/>
                </a:solidFill>
              </a:defRPr>
            </a:pPr>
            <a:r>
              <a:t>•  Shared preparation and normalisation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708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 i="0">
                <a:solidFill>
                  <a:srgbClr val="1B2A3A"/>
                </a:solidFill>
              </a:defRPr>
            </a:pPr>
            <a:r>
              <a:t>•  Enforced redaction and classification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817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 i="0">
                <a:solidFill>
                  <a:srgbClr val="1B2A3A"/>
                </a:solidFill>
              </a:defRPr>
            </a:pPr>
            <a:r>
              <a:t>•  Policy-aware routing by sensitivity and residency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49240"/>
            <a:ext cx="329184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349240"/>
            <a:ext cx="36576" cy="7498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5422392"/>
            <a:ext cx="3017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B91C1C"/>
                </a:solidFill>
              </a:defRPr>
            </a:pPr>
            <a:r>
              <a:t>RISK CLOSED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5605272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1">
                <a:solidFill>
                  <a:srgbClr val="4A5868"/>
                </a:solidFill>
              </a:defRPr>
            </a:pPr>
            <a:r>
              <a:t>Sensitive-data leakage and weak</a:t>
            </a:r>
            <a:br/>
            <a:r>
              <a:t>auditability in AI preparation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1417320"/>
            <a:ext cx="3566160" cy="48463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89120" y="1600200"/>
            <a:ext cx="3291840" cy="749808"/>
          </a:xfrm>
          <a:prstGeom prst="roundRect">
            <a:avLst/>
          </a:prstGeom>
          <a:solidFill>
            <a:srgbClr val="FDEDE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1600200"/>
            <a:ext cx="45720" cy="7498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1673352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B91C1C"/>
                </a:solidFill>
              </a:defRPr>
            </a:pPr>
            <a:r>
              <a:t>FROM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837943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300" b="1" i="0">
                <a:solidFill>
                  <a:srgbClr val="B91C1C"/>
                </a:solidFill>
              </a:defRPr>
            </a:pPr>
            <a:r>
              <a:t>Use-case-specific</a:t>
            </a:r>
            <a:br/>
            <a:r>
              <a:t>semantic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40487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5803D"/>
                </a:solidFill>
              </a:defRPr>
            </a:pPr>
            <a:r>
              <a:t>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2660904"/>
            <a:ext cx="3291840" cy="749808"/>
          </a:xfrm>
          <a:prstGeom prst="roundRect">
            <a:avLst/>
          </a:prstGeom>
          <a:solidFill>
            <a:srgbClr val="E6F7E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2660904"/>
            <a:ext cx="45720" cy="7498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2734056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5803D"/>
                </a:solidFill>
              </a:defRPr>
            </a:pPr>
            <a:r>
              <a:t>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89864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300" b="1" i="0">
                <a:solidFill>
                  <a:srgbClr val="15803D"/>
                </a:solidFill>
              </a:defRPr>
            </a:pPr>
            <a:r>
              <a:t>Shared enterprise semantic</a:t>
            </a:r>
            <a:br/>
            <a:r>
              <a:t>and vector services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529584"/>
            <a:ext cx="3200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15803D"/>
                </a:solidFill>
              </a:defRPr>
            </a:pPr>
            <a:r>
              <a:t>WHAT THE WORKSTREAM DELIVERS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37490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 i="0">
                <a:solidFill>
                  <a:srgbClr val="1B2A3A"/>
                </a:solidFill>
              </a:defRPr>
            </a:pPr>
            <a:r>
              <a:t>•  Shared chunking, embedding, and indexing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05993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 i="0">
                <a:solidFill>
                  <a:srgbClr val="1B2A3A"/>
                </a:solidFill>
              </a:defRPr>
            </a:pPr>
            <a:r>
              <a:t>•  VectorDBaaS — governed vector persistence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3708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 i="0">
                <a:solidFill>
                  <a:srgbClr val="1B2A3A"/>
                </a:solidFill>
              </a:defRPr>
            </a:pPr>
            <a:r>
              <a:t>•  Approved model consumption through Group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6817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 i="0">
                <a:solidFill>
                  <a:srgbClr val="1B2A3A"/>
                </a:solidFill>
              </a:defRPr>
            </a:pPr>
            <a:r>
              <a:t>•  Reusable graph build patterns from proven use cases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0" y="5349240"/>
            <a:ext cx="329184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89120" y="5349240"/>
            <a:ext cx="36576" cy="7498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44568" y="5422392"/>
            <a:ext cx="3017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B91C1C"/>
                </a:solidFill>
              </a:defRPr>
            </a:pPr>
            <a:r>
              <a:t>RISK CLOSED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4568" y="5605272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1">
                <a:solidFill>
                  <a:srgbClr val="4A5868"/>
                </a:solidFill>
              </a:defRPr>
            </a:pPr>
            <a:r>
              <a:t>Duplicated investment and</a:t>
            </a:r>
            <a:br/>
            <a:r>
              <a:t>non-reusable semantic capability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01000" y="1417320"/>
            <a:ext cx="3566160" cy="48463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138160" y="1600200"/>
            <a:ext cx="3291840" cy="749808"/>
          </a:xfrm>
          <a:prstGeom prst="roundRect">
            <a:avLst/>
          </a:prstGeom>
          <a:solidFill>
            <a:srgbClr val="FDEDE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38160" y="1600200"/>
            <a:ext cx="45720" cy="7498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1673352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B91C1C"/>
                </a:solidFill>
              </a:defRPr>
            </a:pPr>
            <a:r>
              <a:t>FROM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1837943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300" b="1" i="0">
                <a:solidFill>
                  <a:srgbClr val="B91C1C"/>
                </a:solidFill>
              </a:defRPr>
            </a:pPr>
            <a:r>
              <a:t>Ungoverned retrieval</a:t>
            </a:r>
            <a:br/>
            <a:r>
              <a:t>and publication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240487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0D6E81"/>
                </a:solidFill>
              </a:defRPr>
            </a:pPr>
            <a:r>
              <a:t>▼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2660904"/>
            <a:ext cx="3291840" cy="749808"/>
          </a:xfrm>
          <a:prstGeom prst="roundRect">
            <a:avLst/>
          </a:prstGeom>
          <a:solidFill>
            <a:srgbClr val="E0F7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38160" y="2660904"/>
            <a:ext cx="45720" cy="749808"/>
          </a:xfrm>
          <a:prstGeom prst="rect">
            <a:avLst/>
          </a:prstGeom>
          <a:solidFill>
            <a:srgbClr val="0D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2734056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D6E81"/>
                </a:solidFill>
              </a:defRPr>
            </a:pPr>
            <a:r>
              <a:t>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289864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300" b="1" i="0">
                <a:solidFill>
                  <a:srgbClr val="0D6E81"/>
                </a:solidFill>
              </a:defRPr>
            </a:pPr>
            <a:r>
              <a:t>Enterprise publication</a:t>
            </a:r>
            <a:br/>
            <a:r>
              <a:t>and retrieval with controls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79" y="3529584"/>
            <a:ext cx="3200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0D6E81"/>
                </a:solidFill>
              </a:defRPr>
            </a:pPr>
            <a:r>
              <a:t>WHAT THE WORKSTREAM DELIVERS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79" y="37490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 i="0">
                <a:solidFill>
                  <a:srgbClr val="1B2A3A"/>
                </a:solidFill>
              </a:defRPr>
            </a:pPr>
            <a:r>
              <a:t>•  Fabric publication of unstructured-derived products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3879" y="405993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 i="0">
                <a:solidFill>
                  <a:srgbClr val="1B2A3A"/>
                </a:solidFill>
              </a:defRPr>
            </a:pPr>
            <a:r>
              <a:t>•  Retrieval-time governance and entitlement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79" y="43708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 i="0">
                <a:solidFill>
                  <a:srgbClr val="1B2A3A"/>
                </a:solidFill>
              </a:defRPr>
            </a:pPr>
            <a:r>
              <a:t>•  Dual access model — Fabric and direct retrieval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3879" y="46817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 i="0">
                <a:solidFill>
                  <a:srgbClr val="1B2A3A"/>
                </a:solidFill>
              </a:defRPr>
            </a:pPr>
            <a:r>
              <a:t>•  Enterprise metadata, lineage, and provenance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38160" y="5349240"/>
            <a:ext cx="329184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38160" y="5349240"/>
            <a:ext cx="36576" cy="7498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93608" y="5422392"/>
            <a:ext cx="3017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B91C1C"/>
                </a:solidFill>
              </a:defRPr>
            </a:pPr>
            <a:r>
              <a:t>RISK CLOSED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93608" y="5605272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1">
                <a:solidFill>
                  <a:srgbClr val="4A5868"/>
                </a:solidFill>
              </a:defRPr>
            </a:pPr>
            <a:r>
              <a:t>Control divergence between unstructured</a:t>
            </a:r>
            <a:br/>
            <a:r>
              <a:t>outputs and the enterprise data product model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2920" y="6291072"/>
            <a:ext cx="11201400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291072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1">
                <a:solidFill>
                  <a:srgbClr val="4A5868"/>
                </a:solidFill>
              </a:defRPr>
            </a:pPr>
            <a:r>
              <a:t>Progressive capability shaping, not monolithic platform build.  VectorDBaaS is one priority shared service within the wider target model.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02920" y="656539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CIO / CTO  ·  AI for Tech  ·  Unstructured Data Workstream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30000" y="656539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CC0E5"/>
                </a:solidFill>
              </a:defRPr>
            </a:pPr>
            <a:r>
              <a:t>AI for Tech — Unstructured Data Workstream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300" b="1">
                <a:solidFill>
                  <a:srgbClr val="1B2A3A"/>
                </a:solidFill>
              </a:defRPr>
            </a:pPr>
            <a:r>
              <a:t>VectorDBaaS — Governed Enterprise Vector Service</a:t>
            </a:r>
          </a:p>
          <a:p>
            <a:pPr>
              <a:spcBef>
                <a:spcPts val="400"/>
              </a:spcBef>
              <a:defRPr sz="1400">
                <a:solidFill>
                  <a:srgbClr val="2563EB"/>
                </a:solidFill>
              </a:defRPr>
            </a:pPr>
            <a:r>
              <a:t>One governed control plane with platform-aligned federated data planes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4663440" cy="27432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B2A3A"/>
                </a:solidFill>
              </a:defRPr>
            </a:pPr>
            <a:r>
              <a:t>What is VectorDBaaS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100" b="0" i="0">
                <a:solidFill>
                  <a:srgbClr val="4A5868"/>
                </a:solidFill>
              </a:defRPr>
            </a:pPr>
            <a:r>
              <a:t>A governed shared service for enterprise vector persistence and retrieval. Provides the service model — contracts, lifecycle, observability, governance — not a centralised database.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206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1B2A3A"/>
                </a:solidFill>
              </a:defRPr>
            </a:pPr>
            <a:r>
              <a:t>▸  Hub-and-spoke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51176"/>
            <a:ext cx="3886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B6878"/>
                </a:solidFill>
              </a:defRPr>
            </a:pPr>
            <a:r>
              <a:t>Central standards, platform-local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70632"/>
            <a:ext cx="4206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1B2A3A"/>
                </a:solidFill>
              </a:defRPr>
            </a:pPr>
            <a:r>
              <a:t>▸  Data stays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44368"/>
            <a:ext cx="3886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B6878"/>
                </a:solidFill>
              </a:defRPr>
            </a:pPr>
            <a:r>
              <a:t>Vectors remain within each platform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63824"/>
            <a:ext cx="4206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1B2A3A"/>
                </a:solidFill>
              </a:defRPr>
            </a:pPr>
            <a:r>
              <a:t>▸  Group AI model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37560"/>
            <a:ext cx="3886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B6878"/>
                </a:solidFill>
              </a:defRPr>
            </a:pPr>
            <a:r>
              <a:t>Approved embeddings consumed via 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57016"/>
            <a:ext cx="4206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1B2A3A"/>
                </a:solidFill>
              </a:defRPr>
            </a:pPr>
            <a:r>
              <a:t>▸  Dual access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30752"/>
            <a:ext cx="3886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B6878"/>
                </a:solidFill>
              </a:defRPr>
            </a:pPr>
            <a:r>
              <a:t>Direct retrieval and Fabric publication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50208"/>
            <a:ext cx="4206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1B2A3A"/>
                </a:solidFill>
              </a:defRPr>
            </a:pPr>
            <a:r>
              <a:t>▸  Evidence-led rollout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23944"/>
            <a:ext cx="3886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B6878"/>
                </a:solidFill>
              </a:defRPr>
            </a:pPr>
            <a:r>
              <a:t>Mobilise, prove, harden, extend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51960"/>
            <a:ext cx="4663440" cy="384048"/>
          </a:xfrm>
          <a:prstGeom prst="roundRect">
            <a:avLst/>
          </a:prstGeom>
          <a:solidFill>
            <a:srgbClr val="E8F0FE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51960"/>
            <a:ext cx="45720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297680"/>
            <a:ext cx="42519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1" i="0">
                <a:solidFill>
                  <a:srgbClr val="1E40AF"/>
                </a:solidFill>
              </a:defRPr>
            </a:pPr>
            <a:r>
              <a:t>VectorDBaaS provides the governed vector service layer; approved embedding model ownership remains with Group AI.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1417320"/>
            <a:ext cx="6217920" cy="1417320"/>
          </a:xfrm>
          <a:prstGeom prst="roundRect">
            <a:avLst/>
          </a:prstGeom>
          <a:solidFill>
            <a:srgbClr val="E6F7EE"/>
          </a:solidFill>
          <a:ln w="1524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1508760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5803D"/>
                </a:solidFill>
              </a:defRPr>
            </a:pPr>
            <a:r>
              <a:t>CONTROL PLANE  —  CENTRALLY OWNED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1764792"/>
            <a:ext cx="1874519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801368"/>
            <a:ext cx="1691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 i="0">
                <a:solidFill>
                  <a:srgbClr val="15803D"/>
                </a:solidFill>
              </a:defRPr>
            </a:pPr>
            <a:r>
              <a:t>Service 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96596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800" b="0" i="0">
                <a:solidFill>
                  <a:srgbClr val="5B6878"/>
                </a:solidFill>
              </a:defRPr>
            </a:pPr>
            <a:r>
              <a:t>Registry, contracts,</a:t>
            </a:r>
            <a:br/>
            <a:r>
              <a:t>policy distribution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1764792"/>
            <a:ext cx="1874519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1801368"/>
            <a:ext cx="1691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 i="0">
                <a:solidFill>
                  <a:srgbClr val="15803D"/>
                </a:solidFill>
              </a:defRPr>
            </a:pPr>
            <a:r>
              <a:t>Model &amp; lifecycle 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196596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800" b="0" i="0">
                <a:solidFill>
                  <a:srgbClr val="5B6878"/>
                </a:solidFill>
              </a:defRPr>
            </a:pPr>
            <a:r>
              <a:t>Embedding registry, index</a:t>
            </a:r>
            <a:br/>
            <a:r>
              <a:t>lifecycle, retrieval quality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1764792"/>
            <a:ext cx="1874519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1801368"/>
            <a:ext cx="1691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 i="0">
                <a:solidFill>
                  <a:srgbClr val="15803D"/>
                </a:solidFill>
              </a:defRPr>
            </a:pPr>
            <a:r>
              <a:t>Control &amp;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196596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800" b="0" i="0">
                <a:solidFill>
                  <a:srgbClr val="5B6878"/>
                </a:solidFill>
              </a:defRPr>
            </a:pPr>
            <a:r>
              <a:t>Metadata publication, DLP</a:t>
            </a:r>
            <a:br/>
            <a:r>
              <a:t>gate, observability, FinOps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0" y="2834640"/>
            <a:ext cx="0" cy="365760"/>
          </a:xfrm>
          <a:prstGeom prst="line">
            <a:avLst/>
          </a:prstGeom>
          <a:ln w="12700">
            <a:solidFill>
              <a:srgbClr val="CBD5E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595360" y="2834640"/>
            <a:ext cx="0" cy="365760"/>
          </a:xfrm>
          <a:prstGeom prst="line">
            <a:avLst/>
          </a:prstGeom>
          <a:ln w="12700">
            <a:solidFill>
              <a:srgbClr val="CBD5E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607040" y="2834640"/>
            <a:ext cx="0" cy="365760"/>
          </a:xfrm>
          <a:prstGeom prst="line">
            <a:avLst/>
          </a:prstGeom>
          <a:ln w="12700">
            <a:solidFill>
              <a:srgbClr val="CBD5E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15200" y="2880360"/>
            <a:ext cx="2560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0">
                <a:solidFill>
                  <a:srgbClr val="94A3B8"/>
                </a:solidFill>
              </a:defRPr>
            </a:pPr>
            <a:r>
              <a:t>standards · contracts · policies  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3200400"/>
            <a:ext cx="1920240" cy="2286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926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59552" y="3273552"/>
            <a:ext cx="1773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92630F"/>
                </a:solidFill>
              </a:defRPr>
            </a:pPr>
            <a:r>
              <a:t>Data Plane 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59552" y="3456432"/>
            <a:ext cx="17739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878"/>
                </a:solidFill>
              </a:defRPr>
            </a:pPr>
            <a:r>
              <a:t>CIB Platform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59552" y="3657600"/>
            <a:ext cx="1773936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23560" y="369417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1B2A3A"/>
                </a:solidFill>
              </a:defRPr>
            </a:pPr>
            <a:r>
              <a:t>Vector engine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59552" y="3959352"/>
            <a:ext cx="1773936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60" y="39959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1B2A3A"/>
                </a:solidFill>
              </a:defRPr>
            </a:pPr>
            <a:r>
              <a:t>Embedding execution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59552" y="4261104"/>
            <a:ext cx="1773936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23560" y="42976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1B2A3A"/>
                </a:solidFill>
              </a:defRPr>
            </a:pPr>
            <a:r>
              <a:t>Retrieval API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59552" y="4562856"/>
            <a:ext cx="1773936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23560" y="45994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1B2A3A"/>
                </a:solidFill>
              </a:defRPr>
            </a:pPr>
            <a:r>
              <a:t>Access &amp; policy enforcement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59552" y="4864608"/>
            <a:ext cx="1773936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60" y="490118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1B2A3A"/>
                </a:solidFill>
              </a:defRPr>
            </a:pPr>
            <a:r>
              <a:t>Cache &amp; session store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59552" y="5285232"/>
            <a:ext cx="17739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92630F"/>
                </a:solidFill>
              </a:defRPr>
            </a:pPr>
            <a:r>
              <a:t>vectors never leave this plane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43800" y="3200400"/>
            <a:ext cx="1920240" cy="2286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926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16952" y="3273552"/>
            <a:ext cx="1773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92630F"/>
                </a:solidFill>
              </a:defRPr>
            </a:pPr>
            <a:r>
              <a:t>Data Plane 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6952" y="3456432"/>
            <a:ext cx="17739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878"/>
                </a:solidFill>
              </a:defRPr>
            </a:pPr>
            <a:r>
              <a:t>WPB Platform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16952" y="3657600"/>
            <a:ext cx="1773936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0960" y="369417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1B2A3A"/>
                </a:solidFill>
              </a:defRPr>
            </a:pPr>
            <a:r>
              <a:t>Vector engine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16952" y="3959352"/>
            <a:ext cx="1773936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80960" y="39959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1B2A3A"/>
                </a:solidFill>
              </a:defRPr>
            </a:pPr>
            <a:r>
              <a:t>Embedding execution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16952" y="4261104"/>
            <a:ext cx="1773936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0" y="42976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1B2A3A"/>
                </a:solidFill>
              </a:defRPr>
            </a:pPr>
            <a:r>
              <a:t>Retrieval API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16952" y="4562856"/>
            <a:ext cx="1773936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80960" y="45994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1B2A3A"/>
                </a:solidFill>
              </a:defRPr>
            </a:pPr>
            <a:r>
              <a:t>Access &amp; policy enforcement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616952" y="4864608"/>
            <a:ext cx="1773936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80960" y="490118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1B2A3A"/>
                </a:solidFill>
              </a:defRPr>
            </a:pPr>
            <a:r>
              <a:t>Cache &amp; session store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16952" y="5285232"/>
            <a:ext cx="17739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92630F"/>
                </a:solidFill>
              </a:defRPr>
            </a:pPr>
            <a:r>
              <a:t>vectors never leave this plane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01200" y="3200400"/>
            <a:ext cx="1920240" cy="2286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926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74352" y="3273552"/>
            <a:ext cx="1773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92630F"/>
                </a:solidFill>
              </a:defRPr>
            </a:pPr>
            <a:r>
              <a:t>Data Plane 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74352" y="3456432"/>
            <a:ext cx="17739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878"/>
                </a:solidFill>
              </a:defRPr>
            </a:pPr>
            <a:r>
              <a:t>Platform 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74352" y="3657600"/>
            <a:ext cx="1773936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38360" y="369417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1B2A3A"/>
                </a:solidFill>
              </a:defRPr>
            </a:pPr>
            <a:r>
              <a:t>Vector engine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74352" y="3959352"/>
            <a:ext cx="1773936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738360" y="39959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1B2A3A"/>
                </a:solidFill>
              </a:defRPr>
            </a:pPr>
            <a:r>
              <a:t>Embedding execution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74352" y="4261104"/>
            <a:ext cx="1773936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38360" y="42976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1B2A3A"/>
                </a:solidFill>
              </a:defRPr>
            </a:pPr>
            <a:r>
              <a:t>Retrieval API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674352" y="4562856"/>
            <a:ext cx="1773936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38360" y="45994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1B2A3A"/>
                </a:solidFill>
              </a:defRPr>
            </a:pPr>
            <a:r>
              <a:t>Access &amp; policy enforcement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674352" y="4864608"/>
            <a:ext cx="1773936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38360" y="490118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1B2A3A"/>
                </a:solidFill>
              </a:defRPr>
            </a:pPr>
            <a:r>
              <a:t>Cache &amp; session store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74352" y="5285232"/>
            <a:ext cx="17739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92630F"/>
                </a:solidFill>
              </a:defRPr>
            </a:pPr>
            <a:r>
              <a:t>vectors never leave this plane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0" y="5623560"/>
            <a:ext cx="6217920" cy="457200"/>
          </a:xfrm>
          <a:prstGeom prst="roundRect">
            <a:avLst/>
          </a:prstGeom>
          <a:solidFill>
            <a:srgbClr val="F0EBFA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15000" y="5660136"/>
            <a:ext cx="5760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6D28D9"/>
                </a:solidFill>
              </a:defRPr>
            </a:pPr>
            <a:r>
              <a:t>ENTERPRISE SERVICES CONSUMED BY VectorDBaaS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15000" y="5843016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A5868"/>
                </a:solidFill>
              </a:defRPr>
            </a:pPr>
            <a:r>
              <a:t>Group AI Embeddings (via MCP)  ·  Enterprise Catalogue  ·  Fabric  ·  Enterprise IAM  ·  DLP / Content Safety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02920" y="6172200"/>
            <a:ext cx="1120140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" y="6190488"/>
            <a:ext cx="10927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4A5868"/>
                </a:solidFill>
              </a:defRPr>
            </a:pPr>
            <a:r>
              <a:t>Cross-cutting governance:  IAM  ·  DLP + policy  ·  lineage  ·  audit  ·  encryption  ·  residency  ·  model risk  ·  FinOps  ·  responsible AI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02920" y="656539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CIO / CTO  ·  AI for Tech  ·  Unstructured Data Workstream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430000" y="656539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