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CORPORATE &amp; INVESTMENT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  <a:latin typeface="Calibri"/>
              </a:defRPr>
            </a:pPr>
            <a:r>
              <a:t>Unstructured Data Lake</a:t>
            </a:r>
            <a:br/>
            <a:r>
              <a:t>Architecture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3246120"/>
            <a:ext cx="11887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Codify the Bank: Transforming Policy &amp; Procedure</a:t>
            </a:r>
            <a:br/>
            <a:r>
              <a:t>Document Lifecycle with AI-Powered Knowledge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CTO Architecture Review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Business Conceptual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Strategic vision for P&amp;P document lifecycle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01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 Insert: bus-concept-architecture.jpeg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PLATFORM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Unstructured Data Processing —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7-layer platform-agnostic blueprint across Data, Intelligence and Service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 Insert: Referevce architecture v2.jpg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DESIGN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Calibri"/>
              </a:defRPr>
            </a:pPr>
            <a:r>
              <a:t>Architecture Principles &amp; Key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10 governing principles + 4 critical architecture decision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43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Source-agnostic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Any format, any system — unified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3368" y="1280160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2801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243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Modality-aware processing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630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Document, audio, image — right pipeline per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19072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1810512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8105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177393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Canonical content before AI 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99339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Normalise then process — never raw into LLMs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19072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3368" y="1810512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8105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77393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Shared controls across full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9339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Security, lineage and audit at every stage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249424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2340864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3408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3042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Polyglot persistence with clear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25237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Right store for right workload — graph, vector, blob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249424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3368" y="2340864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3408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3042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Governed AI interaction via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5237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No direct model calls — all through managed gateway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779776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2871216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8712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283464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Deterministic + agentic execution modes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05409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DAGs for infra, LangGraph for agent orchestration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2779776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3368" y="2871216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28712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83464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Retrieval is governed and auditable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05409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Entitlement filters — zero unfiltered access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310128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6928" y="340156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4015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33649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Federated deployment expected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35844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Hybrid, multi-cloud, on-prem optionality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3310128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73368" y="340156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34015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33649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Responsible AI at every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5844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Bias, explainability, safety — built in not bolted 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3977639"/>
            <a:ext cx="508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ADR-001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Decouple ingestion from processing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Async event-driven handoff via Pub/Sub. Independent scaling and fault isolation.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3756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37560" y="3977639"/>
            <a:ext cx="508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ADR-002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AI accessed only via MCP gateway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No direct model calls. All LLM/embedding requests go through governed MCP server.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3977639"/>
            <a:ext cx="5080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Calibri"/>
              </a:defRPr>
            </a:pPr>
            <a:r>
              <a:t>ADR-003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All retrieval passes through entitlement filter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Zero bypass policy. Every query validates access rights at runtime.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9828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98280" y="3977639"/>
            <a:ext cx="5080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3544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Calibri"/>
              </a:defRPr>
            </a:pPr>
            <a:r>
              <a:t>ADR-004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Redaction pre-embedding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PII never reaches the vector store. Redaction happens before embedding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USE CASE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Codify the Bank — Aligned to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P&amp;P document lifecycle mapped to the 7-layer reference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04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 Insert: Codify_UseCase_Aligned.jpg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Calibri"/>
              </a:defRPr>
            </a:pPr>
            <a:r>
              <a:t>Codify — Key Design Choices &amp; 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Critical engineering decisions driving the Codify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7033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🧠  Agentic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LangGraph for stateful agent workflows — retries, branching, parallelism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Cloud Composer for batch DAG scheduling — separation of concerns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ReAuthor → Validate → HITL → KG Build as composable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7033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52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🔌  MCP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5819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Model Context Protocol decouples agents from infrastructure tools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Typed tool wrappers ensure schema validation on every LLM call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Full OpenTelemetry tracing through MCP gateway for audit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Single adapter SDK manages auth, rate limiting, model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52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⛔  Human-in-the-Loop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5819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Mandatory SME approval before AI output enters KG or Vector stores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Rejection loops back to ReAuthor — iterative refinement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Addresses regulatory requirement for human oversight of AI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718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37033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815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📊  Ontology-Governed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107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OWL ontology (Git PR-governed) constrains all entity extraction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Cross-document linkage enables structural policy traversal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Neo4j on-premise for data sovereignty (UK data center requirement)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9718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971800"/>
            <a:ext cx="370332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0815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✅  Multi-Lane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107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A/B/C lane evaluation: Added, Changed, Unchanged content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Precision + Recall scoring per lane with LLM-as-Judge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Automated confidence thresholds — only high-confidence to HITL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9718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971800"/>
            <a:ext cx="3703320" cy="381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0815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2400E"/>
                </a:solidFill>
                <a:latin typeface="Calibri"/>
              </a:defRPr>
            </a:pPr>
            <a:r>
              <a:t>🔍  Hybrid KG-RAG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107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Vector search (semantic) + Graph traversal (structural) + Reranking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Enables queries like: 'Show all escalation paths affecting UK retail'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• Vertex AI Vector Search (GCP) + Neo4j graph queries combined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37760"/>
            <a:ext cx="3703320" cy="36576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0109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59669"/>
                </a:solidFill>
                <a:latin typeface="Calibri"/>
              </a:defRPr>
            </a:pPr>
            <a:r>
              <a:t>R1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0109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ReAuthor + Validation + HITL + KG Build + KG-RAG · ~3,500 P&amp;P docs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937760"/>
            <a:ext cx="3703320" cy="36576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50109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97706"/>
                </a:solidFill>
                <a:latin typeface="Calibri"/>
              </a:defRPr>
            </a:pPr>
            <a:r>
              <a:t>R2 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50109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Multi-jurisdictional expansion · RegChange Mgmt · Auto-lineage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937760"/>
            <a:ext cx="3703320" cy="36576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50109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0109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GCP europe-west2 · On-prem Neo4j UK DC · GKE dual-NIC · Shared VPC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11827"/>
                </a:solidFill>
                <a:latin typeface="Calibri"/>
              </a:defRPr>
            </a:pPr>
            <a:r>
              <a:t>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3832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Detailed technical architecture flows for Release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02336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02336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INFRASTRUCTURE 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Release 1 — Detailed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Full ingestion → processing → agentic workflow → MCP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65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 Insert: Technical Architecture_Release1.jpg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Physical Infrastructure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GCP / On-Premise connectivity · VPC peering · GKE ingress · Load balancers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65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8F9FB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 Insert: physicall infra.jpg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